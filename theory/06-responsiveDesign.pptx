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70" r:id="rId3"/>
    <p:sldId id="272" r:id="rId4"/>
    <p:sldId id="271" r:id="rId5"/>
    <p:sldId id="273" r:id="rId6"/>
    <p:sldId id="276" r:id="rId7"/>
    <p:sldId id="277" r:id="rId8"/>
    <p:sldId id="278" r:id="rId9"/>
    <p:sldId id="279" r:id="rId10"/>
    <p:sldId id="280" r:id="rId11"/>
    <p:sldId id="274" r:id="rId12"/>
    <p:sldId id="281" r:id="rId13"/>
    <p:sldId id="282" r:id="rId14"/>
    <p:sldId id="275" r:id="rId15"/>
    <p:sldId id="283" r:id="rId16"/>
    <p:sldId id="284" r:id="rId17"/>
    <p:sldId id="260" r:id="rId18"/>
    <p:sldId id="261" r:id="rId19"/>
    <p:sldId id="262" r:id="rId20"/>
    <p:sldId id="290" r:id="rId21"/>
    <p:sldId id="263" r:id="rId22"/>
    <p:sldId id="286" r:id="rId23"/>
    <p:sldId id="287" r:id="rId24"/>
    <p:sldId id="288" r:id="rId25"/>
    <p:sldId id="267" r:id="rId26"/>
    <p:sldId id="289" r:id="rId27"/>
  </p:sldIdLst>
  <p:sldSz cx="9144000" cy="6858000" type="screen4x3"/>
  <p:notesSz cx="7010400" cy="92964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fie Beerens" initials="SB" lastIdx="1" clrIdx="0">
    <p:extLst>
      <p:ext uri="{19B8F6BF-5375-455C-9EA6-DF929625EA0E}">
        <p15:presenceInfo xmlns:p15="http://schemas.microsoft.com/office/powerpoint/2012/main" userId="Sofie Beeren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4B2B4B"/>
    <a:srgbClr val="00A0AE"/>
    <a:srgbClr val="EC4B2F"/>
    <a:srgbClr val="E1E7E7"/>
    <a:srgbClr val="50C6DD"/>
    <a:srgbClr val="D1CAD2"/>
    <a:srgbClr val="B7A9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4807" autoAdjust="0"/>
  </p:normalViewPr>
  <p:slideViewPr>
    <p:cSldViewPr showGuides="1">
      <p:cViewPr varScale="1">
        <p:scale>
          <a:sx n="83" d="100"/>
          <a:sy n="83" d="100"/>
        </p:scale>
        <p:origin x="92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0" d="100"/>
          <a:sy n="80" d="100"/>
        </p:scale>
        <p:origin x="-2022" y="-90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F1A4A96-82D9-489B-915B-218BDB102403}" type="datetimeFigureOut">
              <a:rPr lang="nl-BE" smtClean="0"/>
              <a:pPr/>
              <a:t>3/03/2021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D17EFB8-940B-4475-A4F4-BBE959E16336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13630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1925427-6E8A-463A-9752-7D22F5CAF14A}" type="datetimeFigureOut">
              <a:rPr lang="nl-BE" smtClean="0"/>
              <a:pPr/>
              <a:t>3/03/2021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9ED9555-764A-4B78-873A-3D7406AAEA2B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45871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= moving content or rearranging blocks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87873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4546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Basic">
    <p:bg bwMode="gray">
      <p:bgPr>
        <a:solidFill>
          <a:srgbClr val="00A0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5958000"/>
            <a:ext cx="9144000" cy="90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000" rIns="0" bIns="18000" rtlCol="0" anchor="ctr"/>
          <a:lstStyle/>
          <a:p>
            <a:pPr algn="ctr"/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084000"/>
            <a:ext cx="1980000" cy="432000"/>
          </a:xfrm>
          <a:prstGeom prst="rect">
            <a:avLst/>
          </a:prstGeom>
          <a:solidFill>
            <a:srgbClr val="EC4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357192"/>
            <a:ext cx="9144000" cy="1800000"/>
          </a:xfrm>
          <a:noFill/>
        </p:spPr>
        <p:txBody>
          <a:bodyPr wrap="square" lIns="720000" tIns="180000" rIns="720000" bIns="540000">
            <a:noAutofit/>
          </a:bodyPr>
          <a:lstStyle>
            <a:lvl1pPr marL="0" indent="0" algn="ctr">
              <a:buNone/>
              <a:defRPr sz="32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smtClean="0"/>
              <a:t>Klik om de ondertitelstijl van het model te bewerken</a:t>
            </a:r>
            <a:endParaRPr lang="nl-BE" dirty="0"/>
          </a:p>
        </p:txBody>
      </p:sp>
      <p:sp>
        <p:nvSpPr>
          <p:cNvPr id="154" name="Title 153"/>
          <p:cNvSpPr>
            <a:spLocks noGrp="1"/>
          </p:cNvSpPr>
          <p:nvPr>
            <p:ph type="title"/>
          </p:nvPr>
        </p:nvSpPr>
        <p:spPr>
          <a:xfrm>
            <a:off x="0" y="1556992"/>
            <a:ext cx="9144000" cy="1800000"/>
          </a:xfrm>
          <a:noFill/>
        </p:spPr>
        <p:txBody>
          <a:bodyPr lIns="720000" tIns="540000" rIns="720000" bIns="180000" anchor="b" anchorCtr="0">
            <a:noAutofit/>
          </a:bodyPr>
          <a:lstStyle>
            <a:lvl1pPr algn="ctr">
              <a:lnSpc>
                <a:spcPct val="90000"/>
              </a:lnSpc>
              <a:defRPr sz="3800" cap="all" baseline="0">
                <a:solidFill>
                  <a:schemeClr val="tx1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nl-BE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solidFill>
            <a:srgbClr val="EC4B2F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BE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solidFill>
            <a:srgbClr val="00A0AE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pic>
        <p:nvPicPr>
          <p:cNvPr id="10" name="Picture 9" descr="TM_logo_vignet_ppt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60000" y="360000"/>
            <a:ext cx="2157984" cy="1155192"/>
          </a:xfrm>
          <a:prstGeom prst="rect">
            <a:avLst/>
          </a:prstGeom>
        </p:spPr>
      </p:pic>
      <p:sp>
        <p:nvSpPr>
          <p:cNvPr id="14" name="Date Placeholder 13"/>
          <p:cNvSpPr>
            <a:spLocks noGrp="1"/>
          </p:cNvSpPr>
          <p:nvPr>
            <p:ph type="dt" sz="half" idx="13"/>
          </p:nvPr>
        </p:nvSpPr>
        <p:spPr>
          <a:xfrm>
            <a:off x="755576" y="6570000"/>
            <a:ext cx="990706" cy="200055"/>
          </a:xfrm>
          <a:solidFill>
            <a:schemeClr val="tx1"/>
          </a:solidFill>
        </p:spPr>
        <p:txBody>
          <a:bodyPr/>
          <a:lstStyle>
            <a:lvl1pPr>
              <a:defRPr sz="1300">
                <a:solidFill>
                  <a:srgbClr val="00A0AE"/>
                </a:solidFill>
              </a:defRPr>
            </a:lvl1pPr>
          </a:lstStyle>
          <a:p>
            <a:pPr algn="l"/>
            <a:endParaRPr lang="nl-BE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0" y="5661248"/>
            <a:ext cx="9144000" cy="288032"/>
          </a:xfrm>
          <a:prstGeom prst="rect">
            <a:avLst/>
          </a:prstGeom>
          <a:solidFill>
            <a:srgbClr val="00A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image_preview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632000" y="6192000"/>
            <a:ext cx="1136842" cy="4320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428000"/>
          </a:xfrm>
        </p:spPr>
        <p:txBody>
          <a:bodyPr bIns="144000"/>
          <a:lstStyle>
            <a:lvl1pPr marL="323850" indent="-323850">
              <a:spcBef>
                <a:spcPts val="400"/>
              </a:spcBef>
              <a:spcAft>
                <a:spcPts val="400"/>
              </a:spcAft>
              <a:buClrTx/>
              <a:defRPr/>
            </a:lvl1pPr>
            <a:lvl2pPr marL="723900" indent="-368300">
              <a:spcBef>
                <a:spcPts val="400"/>
              </a:spcBef>
              <a:spcAft>
                <a:spcPts val="400"/>
              </a:spcAft>
              <a:buClrTx/>
              <a:defRPr sz="2500"/>
            </a:lvl2pPr>
            <a:lvl3pPr marL="982663" indent="-258763">
              <a:spcBef>
                <a:spcPts val="400"/>
              </a:spcBef>
              <a:spcAft>
                <a:spcPts val="400"/>
              </a:spcAft>
              <a:buClrTx/>
              <a:defRPr sz="2300"/>
            </a:lvl3pPr>
            <a:lvl4pPr marL="1255713" indent="-273050">
              <a:spcBef>
                <a:spcPts val="400"/>
              </a:spcBef>
              <a:spcAft>
                <a:spcPts val="400"/>
              </a:spcAft>
              <a:buClrTx/>
              <a:defRPr sz="2000"/>
            </a:lvl4pPr>
            <a:lvl5pPr marL="1609725" indent="-258763">
              <a:spcBef>
                <a:spcPts val="600"/>
              </a:spcBef>
              <a:spcAft>
                <a:spcPts val="600"/>
              </a:spcAft>
              <a:defRPr sz="1700"/>
            </a:lvl5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>
                <a:solidFill>
                  <a:srgbClr val="00A0AE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nl-BE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 smtClean="0"/>
              <a:t>GUI design</a:t>
            </a:r>
            <a:endParaRPr lang="nl-BE" dirty="0"/>
          </a:p>
        </p:txBody>
      </p:sp>
      <p:pic>
        <p:nvPicPr>
          <p:cNvPr id="12" name="Picture 11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l"/>
            <a:endParaRPr lang="nl-B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34000"/>
          </a:xfrm>
        </p:spPr>
        <p:txBody>
          <a:bodyPr bIns="144000" numCol="2" spcCol="360000" anchor="ctr" anchorCtr="0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/>
          <a:p>
            <a:r>
              <a:rPr lang="nl-NL" smtClean="0"/>
              <a:t>Klik om de stijl te bewerken</a:t>
            </a:r>
            <a:endParaRPr lang="nl-BE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11" name="Picture 10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|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Klik om de stijl te bewerken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52000"/>
            <a:ext cx="4428000" cy="1097992"/>
          </a:xfrm>
        </p:spPr>
        <p:txBody>
          <a:bodyPr lIns="252000" tIns="252000" rIns="0" bIns="0" anchor="t" anchorCtr="0">
            <a:no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0" y="2285992"/>
            <a:ext cx="4428000" cy="3600000"/>
          </a:xfrm>
        </p:spPr>
        <p:txBody>
          <a:bodyPr lIns="252000" tIns="0" rIns="0"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6032" y="1152000"/>
            <a:ext cx="4428000" cy="1097992"/>
          </a:xfrm>
        </p:spPr>
        <p:txBody>
          <a:bodyPr lIns="0" tIns="252000" rIns="252000" bIns="0" anchor="t" anchorCtr="0">
            <a:norm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6032" y="2285992"/>
            <a:ext cx="4428000" cy="3600000"/>
          </a:xfrm>
        </p:spPr>
        <p:txBody>
          <a:bodyPr lIns="0" tIns="0" rIns="252000"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4B2B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14" name="Picture 13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1 Pictur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7620" y="1152000"/>
            <a:ext cx="5072098" cy="4734000"/>
          </a:xfrm>
        </p:spPr>
        <p:txBody>
          <a:bodyPr lIns="0" rIns="0" bIns="144000"/>
          <a:lstStyle>
            <a:lvl2pPr algn="l">
              <a:defRPr/>
            </a:lvl2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>
                <a:solidFill>
                  <a:srgbClr val="50C6DD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nl-BE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4B2B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87"/>
          <p:cNvSpPr>
            <a:spLocks noGrp="1"/>
          </p:cNvSpPr>
          <p:nvPr>
            <p:ph type="pic" sz="quarter" idx="10"/>
          </p:nvPr>
        </p:nvSpPr>
        <p:spPr>
          <a:xfrm>
            <a:off x="180000" y="1152000"/>
            <a:ext cx="3428992" cy="4734000"/>
          </a:xfrm>
        </p:spPr>
        <p:txBody>
          <a:bodyPr>
            <a:normAutofit/>
          </a:bodyPr>
          <a:lstStyle>
            <a:lvl1pPr>
              <a:buNone/>
              <a:defRPr sz="1000"/>
            </a:lvl1pPr>
          </a:lstStyle>
          <a:p>
            <a:r>
              <a:rPr lang="nl-NL" smtClean="0"/>
              <a:t>Klik op het pictogram als u een afbeelding wilt toevoegen</a:t>
            </a:r>
            <a:endParaRPr lang="nl-BE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12" name="Picture 11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9144000" cy="5929313"/>
          </a:xfrm>
        </p:spPr>
        <p:txBody>
          <a:bodyPr/>
          <a:lstStyle>
            <a:lvl1pPr>
              <a:buClrTx/>
              <a:defRPr>
                <a:solidFill>
                  <a:srgbClr val="000000"/>
                </a:solidFill>
              </a:defRPr>
            </a:lvl1pPr>
            <a:lvl2pPr>
              <a:buClrTx/>
              <a:defRPr>
                <a:solidFill>
                  <a:srgbClr val="000000"/>
                </a:solidFill>
              </a:defRPr>
            </a:lvl2pPr>
            <a:lvl3pPr>
              <a:buClrTx/>
              <a:defRPr>
                <a:solidFill>
                  <a:srgbClr val="000000"/>
                </a:solidFill>
              </a:defRPr>
            </a:lvl3pPr>
            <a:lvl4pPr>
              <a:buClrTx/>
              <a:defRPr>
                <a:solidFill>
                  <a:srgbClr val="000000"/>
                </a:solidFill>
              </a:defRPr>
            </a:lvl4pPr>
            <a:lvl5pPr>
              <a:buClrTx/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1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929313"/>
          </a:xfrm>
        </p:spPr>
        <p:txBody>
          <a:bodyPr/>
          <a:lstStyle/>
          <a:p>
            <a:r>
              <a:rPr lang="nl-NL" smtClean="0"/>
              <a:t>Klik op het pictogram als u een afbeelding wilt toevoegen</a:t>
            </a:r>
            <a:endParaRPr lang="nl-BE"/>
          </a:p>
        </p:txBody>
      </p:sp>
      <p:pic>
        <p:nvPicPr>
          <p:cNvPr id="9" name="Picture 8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58024"/>
            <a:ext cx="9144000" cy="900000"/>
          </a:xfrm>
          <a:prstGeom prst="rect">
            <a:avLst/>
          </a:prstGeom>
          <a:solidFill>
            <a:srgbClr val="EC4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000" rIns="0" bIns="18000" rtlCol="0" anchor="ctr"/>
          <a:lstStyle/>
          <a:p>
            <a:pPr algn="ctr"/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0" y="6084000"/>
            <a:ext cx="1980000" cy="4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5576" y="6084000"/>
            <a:ext cx="4032424" cy="432000"/>
          </a:xfrm>
          <a:prstGeom prst="rect">
            <a:avLst/>
          </a:prstGeom>
          <a:solidFill>
            <a:schemeClr val="bg1"/>
          </a:solidFill>
        </p:spPr>
        <p:txBody>
          <a:bodyPr wrap="square" lIns="144000" tIns="0" rIns="144000" bIns="0" anchor="ctr" anchorCtr="0">
            <a:noAutofit/>
          </a:bodyPr>
          <a:lstStyle>
            <a:lvl1pPr algn="l">
              <a:lnSpc>
                <a:spcPct val="90000"/>
              </a:lnSpc>
              <a:defRPr sz="1500">
                <a:solidFill>
                  <a:srgbClr val="00A0AE"/>
                </a:solidFill>
                <a:latin typeface="Trebuchet MS" pitchFamily="34" charset="0"/>
              </a:defRPr>
            </a:lvl1pPr>
          </a:lstStyle>
          <a:p>
            <a:endParaRPr lang="nl-BE" dirty="0"/>
          </a:p>
        </p:txBody>
      </p:sp>
      <p:sp>
        <p:nvSpPr>
          <p:cNvPr id="86" name="Slide Number Placeholder 85"/>
          <p:cNvSpPr>
            <a:spLocks noGrp="1"/>
          </p:cNvSpPr>
          <p:nvPr>
            <p:ph type="sldNum" sz="quarter" idx="4"/>
          </p:nvPr>
        </p:nvSpPr>
        <p:spPr>
          <a:xfrm>
            <a:off x="360000" y="6084000"/>
            <a:ext cx="360000" cy="667148"/>
          </a:xfrm>
          <a:prstGeom prst="rect">
            <a:avLst/>
          </a:prstGeom>
          <a:solidFill>
            <a:srgbClr val="00A0AE"/>
          </a:solidFill>
        </p:spPr>
        <p:txBody>
          <a:bodyPr vert="horz" wrap="none" lIns="0" tIns="108000" rIns="0" bIns="0" rtlCol="0" anchor="ctr" anchorCtr="0">
            <a:noAutofit/>
          </a:bodyPr>
          <a:lstStyle>
            <a:lvl1pPr algn="ctr">
              <a:defRPr sz="2000" b="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2984"/>
          </a:xfrm>
          <a:prstGeom prst="rect">
            <a:avLst/>
          </a:prstGeom>
          <a:ln w="0">
            <a:noFill/>
          </a:ln>
        </p:spPr>
        <p:txBody>
          <a:bodyPr vert="horz" lIns="360000" tIns="180000" rIns="360000" bIns="144000" rtlCol="0" anchor="ctr">
            <a:noAutofit/>
          </a:bodyPr>
          <a:lstStyle/>
          <a:p>
            <a:r>
              <a:rPr lang="nl-NL" smtClean="0"/>
              <a:t>Klik om de stijl te bewerken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52000"/>
            <a:ext cx="9144000" cy="4428000"/>
          </a:xfrm>
          <a:prstGeom prst="rect">
            <a:avLst/>
          </a:prstGeom>
        </p:spPr>
        <p:txBody>
          <a:bodyPr vert="horz" lIns="432000" tIns="252000" rIns="432000" bIns="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80" name="Date Placeholder 3"/>
          <p:cNvSpPr>
            <a:spLocks noGrp="1"/>
          </p:cNvSpPr>
          <p:nvPr>
            <p:ph type="dt" sz="half" idx="2"/>
          </p:nvPr>
        </p:nvSpPr>
        <p:spPr>
          <a:xfrm>
            <a:off x="755576" y="6570000"/>
            <a:ext cx="990706" cy="200055"/>
          </a:xfrm>
          <a:prstGeom prst="rect">
            <a:avLst/>
          </a:prstGeom>
          <a:solidFill>
            <a:srgbClr val="EC4B2F"/>
          </a:solidFill>
        </p:spPr>
        <p:txBody>
          <a:bodyPr wrap="none" lIns="108000" tIns="0" rIns="0" bIns="0" anchor="b" anchorCtr="0">
            <a:spAutoFit/>
          </a:bodyPr>
          <a:lstStyle>
            <a:lvl1pPr algn="r">
              <a:defRPr sz="130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pPr algn="l"/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78" r:id="rId3"/>
    <p:sldLayoutId id="2147483653" r:id="rId4"/>
    <p:sldLayoutId id="2147483679" r:id="rId5"/>
    <p:sldLayoutId id="2147483688" r:id="rId6"/>
    <p:sldLayoutId id="2147483687" r:id="rId7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 cap="all" baseline="0">
          <a:solidFill>
            <a:srgbClr val="EC4B2F"/>
          </a:solidFill>
          <a:latin typeface="Trebuchet MS" pitchFamily="34" charset="0"/>
          <a:ea typeface="+mj-ea"/>
          <a:cs typeface="+mj-cs"/>
        </a:defRPr>
      </a:lvl1pPr>
    </p:titleStyle>
    <p:bodyStyle>
      <a:lvl1pPr marL="355600" indent="-35560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SzPct val="90000"/>
        <a:buFont typeface="Verdana" pitchFamily="34" charset="0"/>
        <a:buChar char="•"/>
        <a:defRPr sz="30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1pPr>
      <a:lvl2pPr marL="723900" indent="-36830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−"/>
        <a:defRPr sz="27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2pPr>
      <a:lvl3pPr marL="982663" indent="-258763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•"/>
        <a:defRPr sz="24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3pPr>
      <a:lvl4pPr marL="1255713" indent="-27305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»"/>
        <a:defRPr sz="21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4pPr>
      <a:lvl5pPr marL="1609725" indent="-258763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tx1"/>
        </a:buClr>
        <a:buFont typeface="Arial" pitchFamily="34" charset="0"/>
        <a:buNone/>
        <a:defRPr sz="20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/tryit.asp?filename=trycss3_media_queries2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tryit.asp?filename=tryresponsive_mediaquery_orientation" TargetMode="External"/><Relationship Id="rId2" Type="http://schemas.openxmlformats.org/officeDocument/2006/relationships/hyperlink" Target="examples/mediaQueries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/tryit.asp?filename=tryresponsive_style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/tryit.asp?filename=tryresponsive_col-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w3schools.com/bootstrap4/tryit.asp?filename=trybs_gs_container2&amp;stacked=h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bootstrap/index.htm" TargetMode="External"/><Relationship Id="rId2" Type="http://schemas.openxmlformats.org/officeDocument/2006/relationships/hyperlink" Target="https://getbootstrap.com/docs/4.0/getting-started/introduc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bootstrap/default.asp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tryit.asp?filename=tryresponsive_w3css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Bootstrap – media queries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Responsive design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 smtClean="0"/>
              <a:t>GUI design – Sofie Beerens</a:t>
            </a:r>
            <a:endParaRPr lang="nl-B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</a:t>
            </a:fld>
            <a:endParaRPr lang="nl-B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7280"/>
          </a:xfrm>
        </p:spPr>
        <p:txBody>
          <a:bodyPr>
            <a:normAutofit/>
          </a:bodyPr>
          <a:lstStyle/>
          <a:p>
            <a:r>
              <a:rPr lang="en-US" dirty="0"/>
              <a:t>display the </a:t>
            </a:r>
            <a:r>
              <a:rPr lang="en-US" b="1" dirty="0"/>
              <a:t>same</a:t>
            </a:r>
            <a:r>
              <a:rPr lang="en-US" dirty="0"/>
              <a:t> content and functionality on screens of different sizes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what?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 descr="Gerelateerde afbeeldi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636912"/>
            <a:ext cx="5671185" cy="2886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112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6300192" cy="4428000"/>
          </a:xfrm>
        </p:spPr>
        <p:txBody>
          <a:bodyPr/>
          <a:lstStyle/>
          <a:p>
            <a:r>
              <a:rPr lang="en-US" dirty="0" smtClean="0"/>
              <a:t>web page designed for </a:t>
            </a:r>
            <a:r>
              <a:rPr lang="en-US" dirty="0"/>
              <a:t>computer </a:t>
            </a:r>
            <a:r>
              <a:rPr lang="en-US" dirty="0" smtClean="0"/>
              <a:t>screen is scaled </a:t>
            </a:r>
            <a:r>
              <a:rPr lang="en-US" dirty="0"/>
              <a:t>down </a:t>
            </a:r>
            <a:r>
              <a:rPr lang="en-US" dirty="0" smtClean="0"/>
              <a:t>to make sure the </a:t>
            </a:r>
            <a:r>
              <a:rPr lang="en-US" dirty="0"/>
              <a:t>entire web page </a:t>
            </a:r>
            <a:r>
              <a:rPr lang="en-US" dirty="0" smtClean="0"/>
              <a:t>fits the </a:t>
            </a:r>
            <a:r>
              <a:rPr lang="en-US" dirty="0"/>
              <a:t>screen</a:t>
            </a:r>
            <a:r>
              <a:rPr lang="en-US" dirty="0" smtClean="0"/>
              <a:t>.</a:t>
            </a:r>
          </a:p>
          <a:p>
            <a:endParaRPr lang="nl-BE" dirty="0"/>
          </a:p>
          <a:p>
            <a:pPr marL="0" indent="0">
              <a:buNone/>
            </a:pPr>
            <a:r>
              <a:rPr lang="nl-BE" dirty="0" smtClean="0"/>
              <a:t>=&gt; Control of viewport </a:t>
            </a:r>
            <a:r>
              <a:rPr lang="nl-BE" dirty="0" err="1" smtClean="0"/>
              <a:t>needed</a:t>
            </a:r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Default browser reaction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1228405"/>
            <a:ext cx="2753704" cy="463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403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</a:t>
            </a:r>
            <a:r>
              <a:rPr lang="en-US" dirty="0"/>
              <a:t>user's visible area of a web </a:t>
            </a:r>
            <a:r>
              <a:rPr lang="en-US" dirty="0" smtClean="0"/>
              <a:t>page</a:t>
            </a:r>
          </a:p>
          <a:p>
            <a:r>
              <a:rPr lang="nl-BE" dirty="0" smtClean="0"/>
              <a:t>Set </a:t>
            </a:r>
            <a:r>
              <a:rPr lang="nl-BE" dirty="0" err="1" smtClean="0"/>
              <a:t>the</a:t>
            </a:r>
            <a:r>
              <a:rPr lang="nl-BE" dirty="0" smtClean="0"/>
              <a:t> viewport:</a:t>
            </a:r>
          </a:p>
          <a:p>
            <a:endParaRPr lang="nl-BE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width=device-width: 	sets </a:t>
            </a:r>
            <a:r>
              <a:rPr lang="en-US" dirty="0"/>
              <a:t>the width of the page to </a:t>
            </a:r>
            <a:r>
              <a:rPr lang="en-US" dirty="0" smtClean="0"/>
              <a:t>					follow </a:t>
            </a:r>
            <a:r>
              <a:rPr lang="en-US" dirty="0"/>
              <a:t>the screen-width of the </a:t>
            </a:r>
            <a:r>
              <a:rPr lang="en-US" dirty="0" smtClean="0"/>
              <a:t>					device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initial-scale=1.0:	sets </a:t>
            </a:r>
            <a:r>
              <a:rPr lang="en-US" dirty="0"/>
              <a:t>the initial zoom level when </a:t>
            </a:r>
            <a:r>
              <a:rPr lang="en-US" dirty="0" smtClean="0"/>
              <a:t>					the </a:t>
            </a:r>
            <a:r>
              <a:rPr lang="en-US" dirty="0"/>
              <a:t>page is first loaded by the </a:t>
            </a:r>
            <a:r>
              <a:rPr lang="en-US" dirty="0" smtClean="0"/>
              <a:t>					browser</a:t>
            </a:r>
            <a:endParaRPr lang="nl-BE" dirty="0" smtClean="0"/>
          </a:p>
          <a:p>
            <a:pPr lvl="1"/>
            <a:endParaRPr lang="nl-BE" dirty="0" smtClean="0"/>
          </a:p>
          <a:p>
            <a:pPr lvl="1"/>
            <a:endParaRPr lang="nl-BE" dirty="0" smtClean="0"/>
          </a:p>
          <a:p>
            <a:endParaRPr lang="nl-BE" dirty="0"/>
          </a:p>
          <a:p>
            <a:pPr lvl="1"/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viewport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sp>
        <p:nvSpPr>
          <p:cNvPr id="6" name="Rechthoek 5"/>
          <p:cNvSpPr/>
          <p:nvPr/>
        </p:nvSpPr>
        <p:spPr>
          <a:xfrm>
            <a:off x="89756" y="2492896"/>
            <a:ext cx="89644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meta</a:t>
            </a:r>
            <a:r>
              <a:rPr lang="en-US" dirty="0">
                <a:solidFill>
                  <a:srgbClr val="FF0000"/>
                </a:solidFill>
              </a:rPr>
              <a:t> name</a:t>
            </a:r>
            <a:r>
              <a:rPr lang="en-US" dirty="0">
                <a:solidFill>
                  <a:srgbClr val="0000CD"/>
                </a:solidFill>
              </a:rPr>
              <a:t>="viewport"</a:t>
            </a:r>
            <a:r>
              <a:rPr lang="en-US" dirty="0">
                <a:solidFill>
                  <a:srgbClr val="FF0000"/>
                </a:solidFill>
              </a:rPr>
              <a:t> content</a:t>
            </a:r>
            <a:r>
              <a:rPr lang="en-US" dirty="0">
                <a:solidFill>
                  <a:srgbClr val="0000CD"/>
                </a:solidFill>
              </a:rPr>
              <a:t>="width=device-width, initial-scale=1.0"&gt;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5674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 No viewport		      viewport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5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Tijdelijke aanduiding voor inhoud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1196752"/>
            <a:ext cx="2777968" cy="4680000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459" y="1196752"/>
            <a:ext cx="2752941" cy="4680000"/>
          </a:xfrm>
          <a:prstGeom prst="rect">
            <a:avLst/>
          </a:prstGeom>
        </p:spPr>
      </p:pic>
      <p:sp>
        <p:nvSpPr>
          <p:cNvPr id="8" name="Pijl-rechts 7"/>
          <p:cNvSpPr/>
          <p:nvPr/>
        </p:nvSpPr>
        <p:spPr>
          <a:xfrm>
            <a:off x="3923928" y="3284984"/>
            <a:ext cx="1008112" cy="251768"/>
          </a:xfrm>
          <a:prstGeom prst="rightArrow">
            <a:avLst/>
          </a:prstGeom>
          <a:solidFill>
            <a:srgbClr val="00A0AE"/>
          </a:solidFill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80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 smtClean="0"/>
          </a:p>
          <a:p>
            <a:endParaRPr lang="en-US" noProof="0" dirty="0" smtClean="0"/>
          </a:p>
          <a:p>
            <a:endParaRPr lang="en-US" noProof="0" dirty="0" smtClean="0"/>
          </a:p>
          <a:p>
            <a:endParaRPr lang="en-US" noProof="0" dirty="0" smtClean="0"/>
          </a:p>
          <a:p>
            <a:pPr marL="355600" lvl="1" indent="0">
              <a:buNone/>
            </a:pP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Css</a:t>
            </a:r>
            <a:r>
              <a:rPr lang="en-US" noProof="0" dirty="0" smtClean="0"/>
              <a:t> media Queries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6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sp>
        <p:nvSpPr>
          <p:cNvPr id="7" name="Tijdelijke aanduiding voor inhoud 1"/>
          <p:cNvSpPr txBox="1">
            <a:spLocks/>
          </p:cNvSpPr>
          <p:nvPr/>
        </p:nvSpPr>
        <p:spPr>
          <a:xfrm>
            <a:off x="152400" y="1304400"/>
            <a:ext cx="9144000" cy="4428000"/>
          </a:xfrm>
          <a:prstGeom prst="rect">
            <a:avLst/>
          </a:prstGeom>
        </p:spPr>
        <p:txBody>
          <a:bodyPr vert="horz" lIns="432000" tIns="252000" rIns="43200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allows to check for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width </a:t>
            </a:r>
            <a:r>
              <a:rPr lang="en-US" dirty="0"/>
              <a:t>and height of </a:t>
            </a:r>
            <a:r>
              <a:rPr lang="en-US" dirty="0" smtClean="0"/>
              <a:t>viewport</a:t>
            </a:r>
          </a:p>
          <a:p>
            <a:pPr lvl="1"/>
            <a:r>
              <a:rPr lang="en-US" dirty="0" smtClean="0"/>
              <a:t>width </a:t>
            </a:r>
            <a:r>
              <a:rPr lang="en-US" dirty="0"/>
              <a:t>and height of </a:t>
            </a:r>
            <a:r>
              <a:rPr lang="en-US" dirty="0" smtClean="0"/>
              <a:t>device</a:t>
            </a:r>
          </a:p>
          <a:p>
            <a:pPr lvl="1"/>
            <a:r>
              <a:rPr lang="en-US" dirty="0" smtClean="0"/>
              <a:t>orientation </a:t>
            </a:r>
            <a:r>
              <a:rPr lang="en-US" dirty="0"/>
              <a:t>(landscape or portrait mode</a:t>
            </a:r>
            <a:r>
              <a:rPr lang="en-US" dirty="0" smtClean="0"/>
              <a:t>?)</a:t>
            </a:r>
          </a:p>
          <a:p>
            <a:pPr lvl="1"/>
            <a:r>
              <a:rPr lang="en-US" dirty="0" smtClean="0"/>
              <a:t>Resolution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Browser support:</a:t>
            </a:r>
            <a:endParaRPr lang="en-US" dirty="0"/>
          </a:p>
          <a:p>
            <a:endParaRPr lang="nl-BE" dirty="0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06268"/>
            <a:ext cx="9144000" cy="75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 smtClean="0"/>
          </a:p>
          <a:p>
            <a:endParaRPr lang="en-US" noProof="0" dirty="0" smtClean="0"/>
          </a:p>
          <a:p>
            <a:endParaRPr lang="en-US" noProof="0" dirty="0" smtClean="0"/>
          </a:p>
          <a:p>
            <a:endParaRPr lang="en-US" noProof="0" dirty="0" smtClean="0"/>
          </a:p>
          <a:p>
            <a:pPr marL="355600" lvl="1" indent="0">
              <a:buNone/>
            </a:pP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Css</a:t>
            </a:r>
            <a:r>
              <a:rPr lang="en-US" noProof="0" dirty="0" smtClean="0"/>
              <a:t> media Queries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7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sp>
        <p:nvSpPr>
          <p:cNvPr id="7" name="Tijdelijke aanduiding voor inhoud 1"/>
          <p:cNvSpPr txBox="1">
            <a:spLocks/>
          </p:cNvSpPr>
          <p:nvPr/>
        </p:nvSpPr>
        <p:spPr>
          <a:xfrm>
            <a:off x="152400" y="1304400"/>
            <a:ext cx="9144000" cy="4428000"/>
          </a:xfrm>
          <a:prstGeom prst="rect">
            <a:avLst/>
          </a:prstGeom>
        </p:spPr>
        <p:txBody>
          <a:bodyPr vert="horz" lIns="432000" tIns="252000" rIns="43200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syntax:</a:t>
            </a:r>
            <a:endParaRPr lang="en-US" dirty="0"/>
          </a:p>
          <a:p>
            <a:pPr marL="35560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@media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not|only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 err="1">
                <a:latin typeface="Consolas" panose="020B0609020204030204" pitchFamily="49" charset="0"/>
                <a:cs typeface="Consolas" panose="020B0609020204030204" pitchFamily="49" charset="0"/>
              </a:rPr>
              <a:t>mediatype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expressions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    CSS-Code;</a:t>
            </a:r>
            <a:b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55600" lvl="1" indent="0">
              <a:buNone/>
            </a:pPr>
            <a:endParaRPr lang="en-US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smtClean="0"/>
              <a:t>or in </a:t>
            </a:r>
            <a:r>
              <a:rPr lang="en-US" dirty="0" err="1" smtClean="0"/>
              <a:t>css</a:t>
            </a:r>
            <a:r>
              <a:rPr lang="en-US" dirty="0" smtClean="0"/>
              <a:t> link:</a:t>
            </a:r>
            <a:endParaRPr lang="en-US" dirty="0"/>
          </a:p>
          <a:p>
            <a:endParaRPr lang="nl-BE" dirty="0"/>
          </a:p>
        </p:txBody>
      </p:sp>
      <p:sp>
        <p:nvSpPr>
          <p:cNvPr id="9" name="Rechthoek 8"/>
          <p:cNvSpPr/>
          <p:nvPr/>
        </p:nvSpPr>
        <p:spPr>
          <a:xfrm>
            <a:off x="863856" y="4221088"/>
            <a:ext cx="81006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2400" dirty="0">
                <a:solidFill>
                  <a:srgbClr val="0000C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nl-BE" sz="2400" dirty="0">
                <a:solidFill>
                  <a:srgbClr val="A52A2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link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rel</a:t>
            </a:r>
            <a:r>
              <a:rPr lang="nl-BE" sz="2400" dirty="0">
                <a:solidFill>
                  <a:srgbClr val="0000C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nl-BE" sz="2400" dirty="0" err="1">
                <a:solidFill>
                  <a:srgbClr val="0000C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stylesheet</a:t>
            </a:r>
            <a:r>
              <a:rPr lang="nl-BE" sz="2400" dirty="0">
                <a:solidFill>
                  <a:srgbClr val="0000C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nl-BE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media</a:t>
            </a:r>
            <a:r>
              <a:rPr lang="nl-BE" sz="2400" dirty="0">
                <a:solidFill>
                  <a:srgbClr val="0000C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nl-BE" sz="2400" i="1" dirty="0">
                <a:solidFill>
                  <a:srgbClr val="0000C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mediatype</a:t>
            </a:r>
            <a:r>
              <a:rPr lang="nl-BE" sz="2400" dirty="0">
                <a:solidFill>
                  <a:srgbClr val="0000C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BE" sz="2400" dirty="0" err="1">
                <a:solidFill>
                  <a:srgbClr val="0000C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and|not|only</a:t>
            </a:r>
            <a:r>
              <a:rPr lang="nl-BE" sz="2400" dirty="0">
                <a:solidFill>
                  <a:srgbClr val="0000C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BE" sz="2400" dirty="0" smtClean="0">
                <a:solidFill>
                  <a:srgbClr val="0000C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nl-BE" sz="2400" i="1" dirty="0" err="1" smtClean="0">
                <a:solidFill>
                  <a:srgbClr val="0000C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expressions</a:t>
            </a:r>
            <a:r>
              <a:rPr lang="nl-BE" sz="2400" dirty="0" smtClean="0">
                <a:solidFill>
                  <a:srgbClr val="0000C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)"</a:t>
            </a:r>
            <a:r>
              <a:rPr lang="nl-BE" sz="24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BE" sz="24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nl-BE" sz="2400" dirty="0" smtClean="0">
                <a:solidFill>
                  <a:srgbClr val="0000C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nl-BE" sz="2400" i="1" dirty="0" smtClean="0">
                <a:solidFill>
                  <a:srgbClr val="0000C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style.css</a:t>
            </a:r>
            <a:r>
              <a:rPr lang="nl-BE" sz="2400" dirty="0">
                <a:solidFill>
                  <a:srgbClr val="0000C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endParaRPr lang="nl-BE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698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 smtClean="0"/>
          </a:p>
          <a:p>
            <a:endParaRPr lang="en-US" noProof="0" dirty="0" smtClean="0"/>
          </a:p>
          <a:p>
            <a:endParaRPr lang="en-US" noProof="0" dirty="0" smtClean="0"/>
          </a:p>
          <a:p>
            <a:endParaRPr lang="en-US" noProof="0" dirty="0" smtClean="0"/>
          </a:p>
          <a:p>
            <a:pPr marL="355600" lvl="1" indent="0">
              <a:buNone/>
            </a:pP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Css</a:t>
            </a:r>
            <a:r>
              <a:rPr lang="nl-BE" dirty="0"/>
              <a:t> media </a:t>
            </a:r>
            <a:r>
              <a:rPr lang="nl-BE" dirty="0" err="1"/>
              <a:t>queries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8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sp>
        <p:nvSpPr>
          <p:cNvPr id="7" name="Tijdelijke aanduiding voor inhoud 1"/>
          <p:cNvSpPr txBox="1">
            <a:spLocks/>
          </p:cNvSpPr>
          <p:nvPr/>
        </p:nvSpPr>
        <p:spPr>
          <a:xfrm>
            <a:off x="144464" y="1217836"/>
            <a:ext cx="9144000" cy="4428000"/>
          </a:xfrm>
          <a:prstGeom prst="rect">
            <a:avLst/>
          </a:prstGeom>
        </p:spPr>
        <p:txBody>
          <a:bodyPr vert="horz" lIns="432000" tIns="252000" rIns="43200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Media types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>
                <a:hlinkClick r:id="rId2"/>
              </a:rPr>
              <a:t>example</a:t>
            </a:r>
            <a:r>
              <a:rPr lang="en-US" dirty="0" smtClean="0"/>
              <a:t>:</a:t>
            </a:r>
            <a:endParaRPr lang="en-US" dirty="0"/>
          </a:p>
          <a:p>
            <a:endParaRPr lang="nl-BE" dirty="0"/>
          </a:p>
        </p:txBody>
      </p:sp>
      <p:sp>
        <p:nvSpPr>
          <p:cNvPr id="9" name="Rechthoek 8"/>
          <p:cNvSpPr/>
          <p:nvPr/>
        </p:nvSpPr>
        <p:spPr>
          <a:xfrm>
            <a:off x="899592" y="4628890"/>
            <a:ext cx="80648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2000" dirty="0">
                <a:solidFill>
                  <a:srgbClr val="A52A2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@media screen </a:t>
            </a:r>
            <a:r>
              <a:rPr lang="nl-BE" sz="2000" dirty="0" err="1">
                <a:solidFill>
                  <a:srgbClr val="A52A2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nl-BE" sz="2000" dirty="0">
                <a:solidFill>
                  <a:srgbClr val="A52A2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(min-</a:t>
            </a:r>
            <a:r>
              <a:rPr lang="nl-BE" sz="2000" dirty="0" err="1">
                <a:solidFill>
                  <a:srgbClr val="A52A2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width</a:t>
            </a:r>
            <a:r>
              <a:rPr lang="nl-BE" sz="2000" dirty="0">
                <a:solidFill>
                  <a:srgbClr val="A52A2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480px) </a:t>
            </a:r>
            <a:r>
              <a:rPr lang="nl-BE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nl-BE" sz="2000" dirty="0">
                <a:solidFill>
                  <a:srgbClr val="A52A2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nl-BE" sz="2000" dirty="0">
                <a:solidFill>
                  <a:srgbClr val="A52A2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nl-BE" sz="2000" dirty="0">
                <a:solidFill>
                  <a:srgbClr val="A52A2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 #</a:t>
            </a:r>
            <a:r>
              <a:rPr lang="nl-BE" sz="2000" dirty="0" err="1">
                <a:solidFill>
                  <a:srgbClr val="A52A2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leftsidebar</a:t>
            </a:r>
            <a:r>
              <a:rPr lang="nl-BE" sz="2000" dirty="0">
                <a:solidFill>
                  <a:srgbClr val="A52A2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BE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nl-BE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width</a:t>
            </a:r>
            <a:r>
              <a:rPr lang="nl-BE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nl-BE" sz="2000" dirty="0">
                <a:solidFill>
                  <a:srgbClr val="0000C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200px</a:t>
            </a:r>
            <a:r>
              <a:rPr lang="nl-BE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nl-BE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BE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nl-BE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nl-BE" sz="2000" dirty="0">
                <a:solidFill>
                  <a:srgbClr val="0000C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BE" sz="2000" dirty="0" err="1">
                <a:solidFill>
                  <a:srgbClr val="0000C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left</a:t>
            </a:r>
            <a:r>
              <a:rPr lang="nl-BE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;}</a:t>
            </a:r>
            <a:r>
              <a:rPr lang="nl-BE" sz="2000" dirty="0">
                <a:solidFill>
                  <a:srgbClr val="A52A2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nl-BE" sz="2000" dirty="0">
                <a:solidFill>
                  <a:srgbClr val="A52A2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nl-BE" sz="2000" dirty="0">
                <a:solidFill>
                  <a:srgbClr val="A52A2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 #main </a:t>
            </a:r>
            <a:r>
              <a:rPr lang="nl-BE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nl-BE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margin-left</a:t>
            </a:r>
            <a:r>
              <a:rPr lang="nl-BE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nl-BE" sz="2000" dirty="0">
                <a:solidFill>
                  <a:srgbClr val="0000C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216px</a:t>
            </a:r>
            <a:r>
              <a:rPr lang="nl-BE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;}</a:t>
            </a:r>
            <a:r>
              <a:rPr lang="nl-BE" sz="2000" dirty="0">
                <a:solidFill>
                  <a:srgbClr val="A52A2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nl-BE" sz="2000" dirty="0">
                <a:solidFill>
                  <a:srgbClr val="A52A2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nl-BE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nl-BE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0" name="Tabel 9"/>
          <p:cNvGraphicFramePr>
            <a:graphicFrameLocks noGrp="1"/>
          </p:cNvGraphicFramePr>
          <p:nvPr>
            <p:extLst/>
          </p:nvPr>
        </p:nvGraphicFramePr>
        <p:xfrm>
          <a:off x="540000" y="1988840"/>
          <a:ext cx="8352928" cy="1828800"/>
        </p:xfrm>
        <a:graphic>
          <a:graphicData uri="http://schemas.openxmlformats.org/drawingml/2006/table">
            <a:tbl>
              <a:tblPr/>
              <a:tblGrid>
                <a:gridCol w="1471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1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nl-BE" dirty="0">
                          <a:solidFill>
                            <a:schemeClr val="bg1"/>
                          </a:solidFill>
                          <a:effectLst/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dirty="0" err="1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nl-BE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l-BE" dirty="0" err="1">
                          <a:solidFill>
                            <a:srgbClr val="000000"/>
                          </a:solidFill>
                        </a:rPr>
                        <a:t>all</a:t>
                      </a:r>
                      <a:endParaRPr lang="nl-BE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Used for all media type devices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l-BE" dirty="0">
                          <a:solidFill>
                            <a:srgbClr val="000000"/>
                          </a:solidFill>
                        </a:rPr>
                        <a:t>print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nl-BE" dirty="0" err="1">
                          <a:solidFill>
                            <a:srgbClr val="000000"/>
                          </a:solidFill>
                        </a:rPr>
                        <a:t>Used</a:t>
                      </a:r>
                      <a:r>
                        <a:rPr lang="nl-BE" dirty="0">
                          <a:solidFill>
                            <a:srgbClr val="000000"/>
                          </a:solidFill>
                        </a:rPr>
                        <a:t> for printers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l-BE">
                          <a:solidFill>
                            <a:srgbClr val="000000"/>
                          </a:solidFill>
                        </a:rPr>
                        <a:t>screen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Used for computer screens, tablets, smart-phones etc.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l-BE" dirty="0">
                          <a:solidFill>
                            <a:srgbClr val="000000"/>
                          </a:solidFill>
                        </a:rPr>
                        <a:t>speech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Used for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screenreaders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that "reads" the page out loud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742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509248"/>
          </a:xfrm>
        </p:spPr>
        <p:txBody>
          <a:bodyPr>
            <a:normAutofit fontScale="70000" lnSpcReduction="20000"/>
          </a:bodyPr>
          <a:lstStyle/>
          <a:p>
            <a:r>
              <a:rPr lang="nl-BE" dirty="0" smtClean="0"/>
              <a:t>Mobile first:</a:t>
            </a:r>
          </a:p>
          <a:p>
            <a:pPr lvl="1"/>
            <a:r>
              <a:rPr lang="nl-BE" dirty="0" smtClean="0"/>
              <a:t>default CSS for mobile screen</a:t>
            </a:r>
          </a:p>
          <a:p>
            <a:pPr lvl="1"/>
            <a:r>
              <a:rPr lang="nl-BE" dirty="0" err="1" smtClean="0"/>
              <a:t>Add</a:t>
            </a:r>
            <a:r>
              <a:rPr lang="nl-BE" dirty="0" smtClean="0"/>
              <a:t> media </a:t>
            </a:r>
            <a:r>
              <a:rPr lang="nl-BE" dirty="0" err="1" smtClean="0"/>
              <a:t>queries</a:t>
            </a:r>
            <a:r>
              <a:rPr lang="nl-BE" dirty="0" smtClean="0"/>
              <a:t> for </a:t>
            </a:r>
            <a:r>
              <a:rPr lang="nl-BE" dirty="0" err="1" smtClean="0"/>
              <a:t>larger</a:t>
            </a:r>
            <a:r>
              <a:rPr lang="nl-BE" dirty="0" smtClean="0"/>
              <a:t> </a:t>
            </a:r>
            <a:r>
              <a:rPr lang="nl-BE" dirty="0" err="1" smtClean="0"/>
              <a:t>screens</a:t>
            </a:r>
            <a:endParaRPr lang="nl-BE" dirty="0" smtClean="0"/>
          </a:p>
          <a:p>
            <a:pPr lvl="1"/>
            <a:endParaRPr lang="nl-BE" dirty="0" smtClean="0"/>
          </a:p>
          <a:p>
            <a:r>
              <a:rPr lang="nl-BE" dirty="0" err="1" smtClean="0"/>
              <a:t>Typical</a:t>
            </a:r>
            <a:r>
              <a:rPr lang="nl-BE" dirty="0" smtClean="0"/>
              <a:t> device </a:t>
            </a:r>
            <a:r>
              <a:rPr lang="nl-BE" dirty="0" smtClean="0">
                <a:hlinkClick r:id="rId2" action="ppaction://hlinkfile"/>
              </a:rPr>
              <a:t>breakpoints</a:t>
            </a:r>
            <a:r>
              <a:rPr lang="nl-BE" dirty="0" smtClean="0"/>
              <a:t>:</a:t>
            </a:r>
          </a:p>
          <a:p>
            <a:pPr lvl="1"/>
            <a:r>
              <a:rPr lang="nl-BE" dirty="0" smtClean="0"/>
              <a:t>Different breakpoints </a:t>
            </a:r>
            <a:r>
              <a:rPr lang="nl-BE" dirty="0" err="1" smtClean="0"/>
              <a:t>needed</a:t>
            </a:r>
            <a:r>
              <a:rPr lang="nl-BE" dirty="0" smtClean="0"/>
              <a:t> for different devices</a:t>
            </a:r>
          </a:p>
          <a:p>
            <a:pPr lvl="1"/>
            <a:r>
              <a:rPr lang="nl-BE" dirty="0" err="1" smtClean="0"/>
              <a:t>Define</a:t>
            </a:r>
            <a:r>
              <a:rPr lang="nl-BE" dirty="0" smtClean="0"/>
              <a:t> </a:t>
            </a:r>
            <a:r>
              <a:rPr lang="nl-BE" dirty="0" err="1" smtClean="0"/>
              <a:t>around</a:t>
            </a:r>
            <a:r>
              <a:rPr lang="nl-BE" dirty="0" smtClean="0"/>
              <a:t> 5 </a:t>
            </a:r>
            <a:r>
              <a:rPr lang="nl-BE" dirty="0" err="1" smtClean="0"/>
              <a:t>groups</a:t>
            </a:r>
            <a:endParaRPr lang="nl-BE" dirty="0" smtClean="0"/>
          </a:p>
          <a:p>
            <a:pPr lvl="2"/>
            <a:r>
              <a:rPr lang="nl-BE" dirty="0" smtClean="0"/>
              <a:t>&lt; 600px 		</a:t>
            </a:r>
            <a:r>
              <a:rPr lang="nl-BE" dirty="0" err="1" smtClean="0"/>
              <a:t>phones</a:t>
            </a:r>
            <a:endParaRPr lang="nl-BE" dirty="0" smtClean="0"/>
          </a:p>
          <a:p>
            <a:pPr lvl="2"/>
            <a:r>
              <a:rPr lang="nl-BE" dirty="0" smtClean="0"/>
              <a:t>600px -&gt; 768px	</a:t>
            </a:r>
            <a:r>
              <a:rPr lang="nl-BE" dirty="0" err="1" smtClean="0"/>
              <a:t>portrait</a:t>
            </a:r>
            <a:r>
              <a:rPr lang="nl-BE" dirty="0" smtClean="0"/>
              <a:t> tablets and large </a:t>
            </a:r>
            <a:r>
              <a:rPr lang="nl-BE" dirty="0" err="1" smtClean="0"/>
              <a:t>phones</a:t>
            </a:r>
            <a:endParaRPr lang="nl-BE" dirty="0" smtClean="0"/>
          </a:p>
          <a:p>
            <a:pPr lvl="2"/>
            <a:r>
              <a:rPr lang="nl-BE" dirty="0" smtClean="0"/>
              <a:t>768px -&gt; 992px	landscape tablets</a:t>
            </a:r>
          </a:p>
          <a:p>
            <a:pPr lvl="2"/>
            <a:r>
              <a:rPr lang="nl-BE" dirty="0" smtClean="0"/>
              <a:t>992px -&gt; 1200px	desktop/laptop screen</a:t>
            </a:r>
          </a:p>
          <a:p>
            <a:pPr lvl="2"/>
            <a:r>
              <a:rPr lang="nl-BE" dirty="0" smtClean="0"/>
              <a:t>&gt; 1200px		large laptop and desktop screen</a:t>
            </a:r>
          </a:p>
          <a:p>
            <a:endParaRPr lang="nl-BE" dirty="0" smtClean="0"/>
          </a:p>
          <a:p>
            <a:r>
              <a:rPr lang="nl-BE" dirty="0" err="1" smtClean="0"/>
              <a:t>Orientation</a:t>
            </a:r>
            <a:endParaRPr lang="nl-BE" dirty="0" smtClean="0"/>
          </a:p>
          <a:p>
            <a:endParaRPr lang="nl-BE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Css</a:t>
            </a:r>
            <a:r>
              <a:rPr lang="nl-BE" dirty="0" smtClean="0"/>
              <a:t> media </a:t>
            </a:r>
            <a:r>
              <a:rPr lang="nl-BE" dirty="0" err="1" smtClean="0"/>
              <a:t>queries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9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sp>
        <p:nvSpPr>
          <p:cNvPr id="6" name="Rechthoek 5">
            <a:hlinkClick r:id="rId3"/>
          </p:cNvPr>
          <p:cNvSpPr/>
          <p:nvPr/>
        </p:nvSpPr>
        <p:spPr>
          <a:xfrm>
            <a:off x="611560" y="5476582"/>
            <a:ext cx="69564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52A2A"/>
                </a:solidFill>
              </a:rPr>
              <a:t>@media only screen and (orientation: landscape) </a:t>
            </a:r>
            <a:r>
              <a:rPr lang="en-US" dirty="0" smtClean="0">
                <a:solidFill>
                  <a:srgbClr val="000000"/>
                </a:solidFill>
              </a:rPr>
              <a:t>{ </a:t>
            </a:r>
            <a:r>
              <a:rPr lang="en-US" dirty="0" smtClean="0">
                <a:solidFill>
                  <a:srgbClr val="A52A2A"/>
                </a:solidFill>
              </a:rPr>
              <a:t>… </a:t>
            </a:r>
            <a:r>
              <a:rPr lang="en-US" dirty="0" smtClean="0">
                <a:solidFill>
                  <a:srgbClr val="000000"/>
                </a:solidFill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407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smtClean="0"/>
              <a:t>Pro:</a:t>
            </a:r>
          </a:p>
          <a:p>
            <a:pPr lvl="1"/>
            <a:r>
              <a:rPr lang="nl-BE" dirty="0" err="1" smtClean="0"/>
              <a:t>Very</a:t>
            </a:r>
            <a:r>
              <a:rPr lang="nl-BE" dirty="0" smtClean="0"/>
              <a:t> fine control over layout for </a:t>
            </a:r>
            <a:r>
              <a:rPr lang="nl-BE" dirty="0" err="1" smtClean="0"/>
              <a:t>all</a:t>
            </a:r>
            <a:r>
              <a:rPr lang="nl-BE" dirty="0" smtClean="0"/>
              <a:t> </a:t>
            </a:r>
            <a:r>
              <a:rPr lang="nl-BE" dirty="0" err="1" smtClean="0"/>
              <a:t>possible</a:t>
            </a:r>
            <a:r>
              <a:rPr lang="nl-BE" dirty="0" smtClean="0"/>
              <a:t> screen </a:t>
            </a:r>
            <a:r>
              <a:rPr lang="nl-BE" dirty="0" err="1" smtClean="0"/>
              <a:t>sizes</a:t>
            </a:r>
            <a:r>
              <a:rPr lang="nl-BE" dirty="0" smtClean="0"/>
              <a:t> and </a:t>
            </a:r>
            <a:r>
              <a:rPr lang="nl-BE" dirty="0" err="1" smtClean="0"/>
              <a:t>orientations</a:t>
            </a:r>
            <a:endParaRPr lang="nl-BE" dirty="0" smtClean="0"/>
          </a:p>
          <a:p>
            <a:pPr lvl="1"/>
            <a:endParaRPr lang="nl-BE" dirty="0"/>
          </a:p>
          <a:p>
            <a:r>
              <a:rPr lang="nl-BE" dirty="0" smtClean="0"/>
              <a:t>Con:</a:t>
            </a:r>
          </a:p>
          <a:p>
            <a:pPr lvl="1"/>
            <a:r>
              <a:rPr lang="nl-BE" dirty="0" err="1" smtClean="0"/>
              <a:t>Very</a:t>
            </a:r>
            <a:r>
              <a:rPr lang="nl-BE" dirty="0" smtClean="0"/>
              <a:t> </a:t>
            </a:r>
            <a:r>
              <a:rPr lang="nl-BE" dirty="0" err="1" smtClean="0"/>
              <a:t>labour</a:t>
            </a:r>
            <a:r>
              <a:rPr lang="nl-BE" dirty="0" smtClean="0"/>
              <a:t> intensive </a:t>
            </a:r>
            <a:r>
              <a:rPr lang="nl-BE" dirty="0" err="1" smtClean="0"/>
              <a:t>if</a:t>
            </a:r>
            <a:r>
              <a:rPr lang="nl-BE" dirty="0" smtClean="0"/>
              <a:t> </a:t>
            </a:r>
            <a:r>
              <a:rPr lang="nl-BE" dirty="0" err="1" smtClean="0"/>
              <a:t>you</a:t>
            </a:r>
            <a:r>
              <a:rPr lang="nl-BE" dirty="0" smtClean="0"/>
              <a:t> have </a:t>
            </a:r>
            <a:r>
              <a:rPr lang="nl-BE" dirty="0" err="1" smtClean="0"/>
              <a:t>to</a:t>
            </a:r>
            <a:r>
              <a:rPr lang="nl-BE" dirty="0" smtClean="0"/>
              <a:t> </a:t>
            </a:r>
            <a:r>
              <a:rPr lang="nl-BE" dirty="0" err="1" smtClean="0"/>
              <a:t>redefine</a:t>
            </a:r>
            <a:r>
              <a:rPr lang="nl-BE" dirty="0" smtClean="0"/>
              <a:t> </a:t>
            </a:r>
            <a:r>
              <a:rPr lang="nl-BE" dirty="0" err="1" smtClean="0"/>
              <a:t>the</a:t>
            </a:r>
            <a:r>
              <a:rPr lang="nl-BE" dirty="0" smtClean="0"/>
              <a:t> full screen layout for </a:t>
            </a:r>
            <a:r>
              <a:rPr lang="nl-BE" dirty="0" err="1" smtClean="0"/>
              <a:t>every</a:t>
            </a:r>
            <a:r>
              <a:rPr lang="nl-BE" dirty="0" smtClean="0"/>
              <a:t> </a:t>
            </a:r>
            <a:r>
              <a:rPr lang="nl-BE" dirty="0" err="1" smtClean="0"/>
              <a:t>possible</a:t>
            </a:r>
            <a:r>
              <a:rPr lang="nl-BE" dirty="0" smtClean="0"/>
              <a:t> screen </a:t>
            </a:r>
            <a:r>
              <a:rPr lang="nl-BE" dirty="0" err="1" smtClean="0"/>
              <a:t>size</a:t>
            </a:r>
            <a:endParaRPr lang="nl-BE" dirty="0" smtClean="0"/>
          </a:p>
          <a:p>
            <a:pPr marL="355600" lvl="1" indent="0">
              <a:buNone/>
            </a:pPr>
            <a:endParaRPr lang="nl-BE" dirty="0" smtClean="0"/>
          </a:p>
          <a:p>
            <a:pPr marL="0" indent="0">
              <a:buNone/>
            </a:pPr>
            <a:r>
              <a:rPr lang="nl-BE" dirty="0" smtClean="0"/>
              <a:t>=&gt; </a:t>
            </a:r>
            <a:r>
              <a:rPr lang="nl-BE" dirty="0" err="1" smtClean="0"/>
              <a:t>Grid</a:t>
            </a:r>
            <a:r>
              <a:rPr lang="nl-BE" dirty="0" smtClean="0"/>
              <a:t> </a:t>
            </a:r>
            <a:r>
              <a:rPr lang="nl-BE" dirty="0" err="1" smtClean="0"/>
              <a:t>based</a:t>
            </a:r>
            <a:r>
              <a:rPr lang="nl-BE" dirty="0" smtClean="0"/>
              <a:t> layout</a:t>
            </a:r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CSS Media </a:t>
            </a:r>
            <a:r>
              <a:rPr lang="nl-BE" dirty="0" err="1" smtClean="0"/>
              <a:t>queries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10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275328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932000"/>
          </a:xfrm>
        </p:spPr>
        <p:txBody>
          <a:bodyPr>
            <a:normAutofit fontScale="77500" lnSpcReduction="20000"/>
          </a:bodyPr>
          <a:lstStyle/>
          <a:p>
            <a:r>
              <a:rPr lang="nl-BE" dirty="0" err="1" smtClean="0"/>
              <a:t>Easier</a:t>
            </a:r>
            <a:r>
              <a:rPr lang="nl-BE" dirty="0" smtClean="0"/>
              <a:t> </a:t>
            </a:r>
            <a:r>
              <a:rPr lang="nl-BE" dirty="0" err="1" smtClean="0"/>
              <a:t>to</a:t>
            </a:r>
            <a:r>
              <a:rPr lang="nl-BE" dirty="0" smtClean="0"/>
              <a:t> </a:t>
            </a:r>
            <a:r>
              <a:rPr lang="nl-BE" dirty="0" err="1" smtClean="0"/>
              <a:t>place</a:t>
            </a:r>
            <a:r>
              <a:rPr lang="nl-BE" dirty="0" smtClean="0"/>
              <a:t> </a:t>
            </a:r>
            <a:r>
              <a:rPr lang="nl-BE" dirty="0" err="1" smtClean="0"/>
              <a:t>elements</a:t>
            </a:r>
            <a:r>
              <a:rPr lang="nl-BE" dirty="0" smtClean="0"/>
              <a:t> on </a:t>
            </a:r>
            <a:r>
              <a:rPr lang="nl-BE" dirty="0" err="1" smtClean="0"/>
              <a:t>the</a:t>
            </a:r>
            <a:r>
              <a:rPr lang="nl-BE" dirty="0" smtClean="0"/>
              <a:t> page</a:t>
            </a:r>
          </a:p>
          <a:p>
            <a:endParaRPr lang="nl-BE" dirty="0"/>
          </a:p>
          <a:p>
            <a:endParaRPr lang="nl-BE" dirty="0" smtClean="0"/>
          </a:p>
          <a:p>
            <a:endParaRPr lang="nl-BE" dirty="0"/>
          </a:p>
          <a:p>
            <a:endParaRPr lang="nl-BE" dirty="0" smtClean="0"/>
          </a:p>
          <a:p>
            <a:endParaRPr lang="nl-BE" dirty="0"/>
          </a:p>
          <a:p>
            <a:endParaRPr lang="nl-BE" dirty="0" smtClean="0"/>
          </a:p>
          <a:p>
            <a:endParaRPr lang="nl-BE" dirty="0"/>
          </a:p>
          <a:p>
            <a:endParaRPr lang="nl-BE" sz="5200" dirty="0" smtClean="0"/>
          </a:p>
          <a:p>
            <a:r>
              <a:rPr lang="nl-BE" dirty="0" smtClean="0"/>
              <a:t>Responsive </a:t>
            </a:r>
            <a:r>
              <a:rPr lang="nl-BE" dirty="0" err="1" smtClean="0"/>
              <a:t>grid</a:t>
            </a:r>
            <a:r>
              <a:rPr lang="nl-BE" dirty="0" smtClean="0"/>
              <a:t>-view:</a:t>
            </a:r>
          </a:p>
          <a:p>
            <a:pPr lvl="1"/>
            <a:r>
              <a:rPr lang="nl-BE" dirty="0" smtClean="0"/>
              <a:t>12 columns</a:t>
            </a:r>
          </a:p>
          <a:p>
            <a:pPr lvl="1"/>
            <a:r>
              <a:rPr lang="nl-BE" dirty="0" err="1"/>
              <a:t>t</a:t>
            </a:r>
            <a:r>
              <a:rPr lang="nl-BE" dirty="0" err="1" smtClean="0"/>
              <a:t>otal</a:t>
            </a:r>
            <a:r>
              <a:rPr lang="nl-BE" dirty="0" smtClean="0"/>
              <a:t> </a:t>
            </a:r>
            <a:r>
              <a:rPr lang="nl-BE" dirty="0" err="1" smtClean="0"/>
              <a:t>width</a:t>
            </a:r>
            <a:r>
              <a:rPr lang="nl-BE" dirty="0" smtClean="0"/>
              <a:t> of 100%</a:t>
            </a:r>
          </a:p>
          <a:p>
            <a:pPr lvl="1"/>
            <a:r>
              <a:rPr lang="nl-BE" dirty="0"/>
              <a:t>c</a:t>
            </a:r>
            <a:r>
              <a:rPr lang="nl-BE" dirty="0" smtClean="0"/>
              <a:t>olumns </a:t>
            </a:r>
            <a:r>
              <a:rPr lang="nl-BE" dirty="0" err="1" smtClean="0"/>
              <a:t>resize</a:t>
            </a:r>
            <a:r>
              <a:rPr lang="nl-BE" dirty="0" smtClean="0"/>
              <a:t> </a:t>
            </a:r>
            <a:r>
              <a:rPr lang="nl-BE" dirty="0" err="1" smtClean="0"/>
              <a:t>with</a:t>
            </a:r>
            <a:r>
              <a:rPr lang="nl-BE" dirty="0" smtClean="0"/>
              <a:t> page </a:t>
            </a:r>
            <a:r>
              <a:rPr lang="nl-BE" dirty="0" err="1" smtClean="0"/>
              <a:t>width</a:t>
            </a:r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Grid</a:t>
            </a:r>
            <a:r>
              <a:rPr lang="nl-BE" dirty="0" smtClean="0"/>
              <a:t> </a:t>
            </a:r>
            <a:r>
              <a:rPr lang="nl-BE" dirty="0" err="1" smtClean="0"/>
              <a:t>based</a:t>
            </a:r>
            <a:r>
              <a:rPr lang="nl-BE" dirty="0" smtClean="0"/>
              <a:t> layout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11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72816"/>
            <a:ext cx="7992888" cy="281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57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BE" dirty="0" smtClean="0"/>
              <a:t>box-</a:t>
            </a:r>
            <a:r>
              <a:rPr lang="nl-BE" dirty="0" err="1" smtClean="0"/>
              <a:t>sizing</a:t>
            </a:r>
            <a:r>
              <a:rPr lang="nl-BE" dirty="0" smtClean="0"/>
              <a:t> property </a:t>
            </a:r>
            <a:r>
              <a:rPr lang="nl-BE" dirty="0" err="1" smtClean="0"/>
              <a:t>to</a:t>
            </a:r>
            <a:r>
              <a:rPr lang="nl-BE" dirty="0" smtClean="0"/>
              <a:t> border-box for </a:t>
            </a:r>
            <a:r>
              <a:rPr lang="nl-BE" dirty="0" err="1" smtClean="0"/>
              <a:t>all</a:t>
            </a:r>
            <a:r>
              <a:rPr lang="nl-BE" dirty="0" smtClean="0"/>
              <a:t> HTML </a:t>
            </a:r>
            <a:r>
              <a:rPr lang="nl-BE" dirty="0" err="1" smtClean="0"/>
              <a:t>elements</a:t>
            </a:r>
            <a:r>
              <a:rPr lang="nl-BE" dirty="0" smtClean="0"/>
              <a:t> =&gt; padding and border </a:t>
            </a:r>
            <a:r>
              <a:rPr lang="nl-BE" dirty="0" err="1" smtClean="0"/>
              <a:t>included</a:t>
            </a:r>
            <a:r>
              <a:rPr lang="nl-BE" dirty="0" smtClean="0"/>
              <a:t> in </a:t>
            </a:r>
            <a:r>
              <a:rPr lang="nl-BE" dirty="0" err="1" smtClean="0"/>
              <a:t>width</a:t>
            </a:r>
            <a:r>
              <a:rPr lang="nl-BE" dirty="0" smtClean="0"/>
              <a:t> and </a:t>
            </a:r>
            <a:r>
              <a:rPr lang="nl-BE" dirty="0" err="1" smtClean="0"/>
              <a:t>heigth</a:t>
            </a:r>
            <a:r>
              <a:rPr lang="nl-BE" dirty="0" smtClean="0"/>
              <a:t> of element</a:t>
            </a:r>
          </a:p>
          <a:p>
            <a:endParaRPr lang="nl-BE" dirty="0"/>
          </a:p>
          <a:p>
            <a:endParaRPr lang="nl-BE" dirty="0" smtClean="0"/>
          </a:p>
          <a:p>
            <a:endParaRPr lang="nl-BE" dirty="0"/>
          </a:p>
          <a:p>
            <a:endParaRPr lang="nl-BE" dirty="0" smtClean="0"/>
          </a:p>
          <a:p>
            <a:r>
              <a:rPr lang="nl-BE" dirty="0" err="1" smtClean="0"/>
              <a:t>Define</a:t>
            </a:r>
            <a:r>
              <a:rPr lang="nl-BE" dirty="0" smtClean="0"/>
              <a:t> classes for </a:t>
            </a:r>
            <a:r>
              <a:rPr lang="nl-BE" dirty="0" err="1" smtClean="0"/>
              <a:t>all</a:t>
            </a:r>
            <a:r>
              <a:rPr lang="nl-BE" dirty="0" smtClean="0"/>
              <a:t> </a:t>
            </a:r>
            <a:r>
              <a:rPr lang="nl-BE" dirty="0" err="1" smtClean="0"/>
              <a:t>possible</a:t>
            </a:r>
            <a:r>
              <a:rPr lang="nl-BE" dirty="0" smtClean="0"/>
              <a:t> </a:t>
            </a:r>
            <a:br>
              <a:rPr lang="nl-BE" dirty="0" smtClean="0"/>
            </a:br>
            <a:r>
              <a:rPr lang="nl-BE" dirty="0" smtClean="0"/>
              <a:t>col </a:t>
            </a:r>
            <a:r>
              <a:rPr lang="nl-BE" dirty="0" err="1" smtClean="0"/>
              <a:t>widths</a:t>
            </a:r>
            <a:r>
              <a:rPr lang="nl-BE" dirty="0" smtClean="0"/>
              <a:t>:</a:t>
            </a:r>
          </a:p>
          <a:p>
            <a:pPr marL="355600" lvl="1" indent="0">
              <a:buNone/>
            </a:pPr>
            <a:r>
              <a:rPr lang="nl-BE" dirty="0" smtClean="0"/>
              <a:t>(</a:t>
            </a:r>
            <a:r>
              <a:rPr lang="nl-BE" dirty="0" err="1" smtClean="0"/>
              <a:t>one</a:t>
            </a:r>
            <a:r>
              <a:rPr lang="nl-BE" dirty="0" smtClean="0"/>
              <a:t> col: 100% / 12 = 8.33%)</a:t>
            </a:r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Responsive </a:t>
            </a:r>
            <a:r>
              <a:rPr lang="nl-BE" dirty="0" err="1" smtClean="0"/>
              <a:t>grid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12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sp>
        <p:nvSpPr>
          <p:cNvPr id="6" name="Rechthoek 5"/>
          <p:cNvSpPr/>
          <p:nvPr/>
        </p:nvSpPr>
        <p:spPr>
          <a:xfrm>
            <a:off x="721247" y="2636912"/>
            <a:ext cx="3635976" cy="923330"/>
          </a:xfrm>
          <a:prstGeom prst="rect">
            <a:avLst/>
          </a:prstGeom>
          <a:ln>
            <a:solidFill>
              <a:srgbClr val="00A0AE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52A2A"/>
                </a:solidFill>
              </a:rPr>
              <a:t>*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  </a:t>
            </a:r>
            <a:r>
              <a:rPr lang="en-US" dirty="0" smtClean="0">
                <a:solidFill>
                  <a:srgbClr val="FF0000"/>
                </a:solidFill>
              </a:rPr>
              <a:t>    box-sizing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border-box</a:t>
            </a:r>
            <a:r>
              <a:rPr lang="en-US" dirty="0">
                <a:solidFill>
                  <a:srgbClr val="000000"/>
                </a:solidFill>
              </a:rPr>
              <a:t>;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}</a:t>
            </a:r>
            <a:endParaRPr lang="en-US" dirty="0"/>
          </a:p>
        </p:txBody>
      </p:sp>
      <p:sp>
        <p:nvSpPr>
          <p:cNvPr id="7" name="Rechthoek 6"/>
          <p:cNvSpPr/>
          <p:nvPr/>
        </p:nvSpPr>
        <p:spPr>
          <a:xfrm>
            <a:off x="5652120" y="3306826"/>
            <a:ext cx="3312368" cy="3416320"/>
          </a:xfrm>
          <a:prstGeom prst="rect">
            <a:avLst/>
          </a:prstGeom>
          <a:solidFill>
            <a:schemeClr val="bg1"/>
          </a:solidFill>
          <a:ln>
            <a:solidFill>
              <a:srgbClr val="00A0AE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52A2A"/>
                </a:solidFill>
              </a:rPr>
              <a:t>.col-1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8.33%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.col-2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16.66%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.col-3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25%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.col-4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33.33%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.col-5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41.66%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.col-6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50%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.col-7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58.33%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.col-8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66.66%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.col-9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75%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.col-10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83.33%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.col-11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91.66%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.col-12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100%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508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7280"/>
          </a:xfrm>
        </p:spPr>
        <p:txBody>
          <a:bodyPr>
            <a:normAutofit fontScale="70000" lnSpcReduction="20000"/>
          </a:bodyPr>
          <a:lstStyle/>
          <a:p>
            <a:r>
              <a:rPr lang="nl-BE" dirty="0" err="1" smtClean="0"/>
              <a:t>To</a:t>
            </a:r>
            <a:r>
              <a:rPr lang="nl-BE" dirty="0" smtClean="0"/>
              <a:t> </a:t>
            </a:r>
            <a:r>
              <a:rPr lang="nl-BE" dirty="0" err="1" smtClean="0"/>
              <a:t>place</a:t>
            </a:r>
            <a:r>
              <a:rPr lang="nl-BE" dirty="0" smtClean="0"/>
              <a:t> cols next </a:t>
            </a:r>
            <a:r>
              <a:rPr lang="nl-BE" dirty="0" err="1" smtClean="0"/>
              <a:t>to</a:t>
            </a:r>
            <a:r>
              <a:rPr lang="nl-BE" dirty="0" smtClean="0"/>
              <a:t> </a:t>
            </a:r>
            <a:r>
              <a:rPr lang="nl-BE" dirty="0" err="1" smtClean="0"/>
              <a:t>each</a:t>
            </a:r>
            <a:r>
              <a:rPr lang="nl-BE" dirty="0" smtClean="0"/>
              <a:t> </a:t>
            </a:r>
            <a:r>
              <a:rPr lang="nl-BE" dirty="0" err="1" smtClean="0"/>
              <a:t>other</a:t>
            </a:r>
            <a:r>
              <a:rPr lang="nl-BE" dirty="0" smtClean="0"/>
              <a:t> =&gt; </a:t>
            </a:r>
            <a:r>
              <a:rPr lang="nl-BE" dirty="0" err="1" smtClean="0"/>
              <a:t>float</a:t>
            </a:r>
            <a:endParaRPr lang="nl-BE" dirty="0"/>
          </a:p>
          <a:p>
            <a:endParaRPr lang="nl-BE" dirty="0"/>
          </a:p>
          <a:p>
            <a:endParaRPr lang="nl-BE" dirty="0" smtClean="0"/>
          </a:p>
          <a:p>
            <a:endParaRPr lang="nl-BE" dirty="0"/>
          </a:p>
          <a:p>
            <a:endParaRPr lang="nl-BE" dirty="0" smtClean="0"/>
          </a:p>
          <a:p>
            <a:endParaRPr lang="nl-BE" dirty="0" smtClean="0"/>
          </a:p>
          <a:p>
            <a:r>
              <a:rPr lang="nl-BE" dirty="0" smtClean="0"/>
              <a:t>All cols </a:t>
            </a:r>
            <a:r>
              <a:rPr lang="nl-BE" dirty="0" err="1" smtClean="0"/>
              <a:t>float</a:t>
            </a:r>
            <a:r>
              <a:rPr lang="nl-BE" dirty="0" smtClean="0"/>
              <a:t> =&gt; do </a:t>
            </a:r>
            <a:r>
              <a:rPr lang="nl-BE" dirty="0" err="1" smtClean="0"/>
              <a:t>not</a:t>
            </a:r>
            <a:r>
              <a:rPr lang="nl-BE" dirty="0" smtClean="0"/>
              <a:t> </a:t>
            </a:r>
            <a:r>
              <a:rPr lang="nl-BE" dirty="0" err="1" smtClean="0"/>
              <a:t>define</a:t>
            </a:r>
            <a:r>
              <a:rPr lang="nl-BE" dirty="0" smtClean="0"/>
              <a:t> </a:t>
            </a:r>
            <a:r>
              <a:rPr lang="nl-BE" dirty="0" err="1" smtClean="0"/>
              <a:t>the</a:t>
            </a:r>
            <a:r>
              <a:rPr lang="nl-BE" dirty="0" smtClean="0"/>
              <a:t> </a:t>
            </a:r>
            <a:r>
              <a:rPr lang="nl-BE" dirty="0" err="1" smtClean="0"/>
              <a:t>height</a:t>
            </a:r>
            <a:r>
              <a:rPr lang="nl-BE" dirty="0" smtClean="0"/>
              <a:t> of </a:t>
            </a:r>
            <a:r>
              <a:rPr lang="nl-BE" dirty="0" err="1" smtClean="0"/>
              <a:t>the</a:t>
            </a:r>
            <a:r>
              <a:rPr lang="nl-BE" dirty="0" smtClean="0"/>
              <a:t> </a:t>
            </a:r>
            <a:r>
              <a:rPr lang="nl-BE" dirty="0" err="1" smtClean="0"/>
              <a:t>row</a:t>
            </a:r>
            <a:r>
              <a:rPr lang="nl-BE" dirty="0" smtClean="0"/>
              <a:t> </a:t>
            </a:r>
            <a:r>
              <a:rPr lang="nl-BE" dirty="0" err="1" smtClean="0"/>
              <a:t>anymore</a:t>
            </a:r>
            <a:r>
              <a:rPr lang="nl-BE" dirty="0" smtClean="0"/>
              <a:t> =&gt; </a:t>
            </a:r>
            <a:r>
              <a:rPr lang="nl-BE" dirty="0" err="1" smtClean="0"/>
              <a:t>add</a:t>
            </a:r>
            <a:r>
              <a:rPr lang="nl-BE" dirty="0" smtClean="0"/>
              <a:t> ::</a:t>
            </a:r>
            <a:r>
              <a:rPr lang="nl-BE" dirty="0" err="1" smtClean="0"/>
              <a:t>after</a:t>
            </a:r>
            <a:endParaRPr lang="nl-BE" dirty="0" smtClean="0"/>
          </a:p>
          <a:p>
            <a:endParaRPr lang="nl-BE" dirty="0" smtClean="0"/>
          </a:p>
          <a:p>
            <a:endParaRPr lang="nl-BE" dirty="0"/>
          </a:p>
          <a:p>
            <a:endParaRPr lang="nl-BE" dirty="0" smtClean="0"/>
          </a:p>
          <a:p>
            <a:endParaRPr lang="nl-BE" dirty="0"/>
          </a:p>
          <a:p>
            <a:endParaRPr lang="nl-BE" dirty="0" smtClean="0"/>
          </a:p>
          <a:p>
            <a:r>
              <a:rPr lang="nl-BE" dirty="0" smtClean="0">
                <a:hlinkClick r:id="rId2"/>
              </a:rPr>
              <a:t>example</a:t>
            </a:r>
            <a:endParaRPr lang="nl-BE" dirty="0" smtClean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Responsive </a:t>
            </a:r>
            <a:r>
              <a:rPr lang="nl-BE" dirty="0" err="1" smtClean="0"/>
              <a:t>grid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13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sp>
        <p:nvSpPr>
          <p:cNvPr id="8" name="Rechthoek 7"/>
          <p:cNvSpPr/>
          <p:nvPr/>
        </p:nvSpPr>
        <p:spPr>
          <a:xfrm>
            <a:off x="745800" y="1772816"/>
            <a:ext cx="2987904" cy="1200329"/>
          </a:xfrm>
          <a:prstGeom prst="rect">
            <a:avLst/>
          </a:prstGeom>
          <a:ln>
            <a:solidFill>
              <a:srgbClr val="00A0AE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52A2A"/>
                </a:solidFill>
              </a:rPr>
              <a:t>[class*="col-"]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  </a:t>
            </a:r>
            <a:r>
              <a:rPr lang="en-US" dirty="0" smtClean="0">
                <a:solidFill>
                  <a:srgbClr val="FF0000"/>
                </a:solidFill>
              </a:rPr>
              <a:t>  float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left</a:t>
            </a:r>
            <a:r>
              <a:rPr lang="en-US" dirty="0">
                <a:solidFill>
                  <a:srgbClr val="000000"/>
                </a:solidFill>
              </a:rPr>
              <a:t>;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  </a:t>
            </a:r>
            <a:r>
              <a:rPr lang="en-US" dirty="0" smtClean="0">
                <a:solidFill>
                  <a:srgbClr val="FF0000"/>
                </a:solidFill>
              </a:rPr>
              <a:t>  padding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15px</a:t>
            </a:r>
            <a:r>
              <a:rPr lang="en-US" dirty="0" smtClean="0">
                <a:solidFill>
                  <a:srgbClr val="000000"/>
                </a:solidFill>
              </a:rPr>
              <a:t>;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}</a:t>
            </a:r>
            <a:endParaRPr lang="en-US" dirty="0"/>
          </a:p>
        </p:txBody>
      </p:sp>
      <p:sp>
        <p:nvSpPr>
          <p:cNvPr id="9" name="Rechthoek 8"/>
          <p:cNvSpPr/>
          <p:nvPr/>
        </p:nvSpPr>
        <p:spPr>
          <a:xfrm>
            <a:off x="730463" y="3895888"/>
            <a:ext cx="2988000" cy="1477328"/>
          </a:xfrm>
          <a:prstGeom prst="rect">
            <a:avLst/>
          </a:prstGeom>
          <a:ln>
            <a:solidFill>
              <a:srgbClr val="00A0AE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52A2A"/>
                </a:solidFill>
              </a:rPr>
              <a:t>.row::after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  </a:t>
            </a:r>
            <a:r>
              <a:rPr lang="en-US" dirty="0" smtClean="0">
                <a:solidFill>
                  <a:srgbClr val="FF0000"/>
                </a:solidFill>
              </a:rPr>
              <a:t>  content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""</a:t>
            </a:r>
            <a:r>
              <a:rPr lang="en-US" dirty="0">
                <a:solidFill>
                  <a:srgbClr val="000000"/>
                </a:solidFill>
              </a:rPr>
              <a:t>;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  </a:t>
            </a:r>
            <a:r>
              <a:rPr lang="en-US" dirty="0" smtClean="0">
                <a:solidFill>
                  <a:srgbClr val="FF0000"/>
                </a:solidFill>
              </a:rPr>
              <a:t>  clear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both</a:t>
            </a:r>
            <a:r>
              <a:rPr lang="en-US" dirty="0">
                <a:solidFill>
                  <a:srgbClr val="000000"/>
                </a:solidFill>
              </a:rPr>
              <a:t>;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  </a:t>
            </a:r>
            <a:r>
              <a:rPr lang="en-US" dirty="0" smtClean="0">
                <a:solidFill>
                  <a:srgbClr val="FF0000"/>
                </a:solidFill>
              </a:rPr>
              <a:t>  display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</a:t>
            </a:r>
            <a:r>
              <a:rPr lang="en-US" dirty="0" smtClean="0">
                <a:solidFill>
                  <a:srgbClr val="0000CD"/>
                </a:solidFill>
              </a:rPr>
              <a:t>block</a:t>
            </a:r>
            <a:r>
              <a:rPr lang="en-US" dirty="0" smtClean="0">
                <a:solidFill>
                  <a:srgbClr val="000000"/>
                </a:solidFill>
              </a:rPr>
              <a:t>;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}</a:t>
            </a:r>
            <a:endParaRPr lang="en-US" dirty="0"/>
          </a:p>
        </p:txBody>
      </p:sp>
      <p:sp>
        <p:nvSpPr>
          <p:cNvPr id="10" name="Rechthoek 9"/>
          <p:cNvSpPr/>
          <p:nvPr/>
        </p:nvSpPr>
        <p:spPr>
          <a:xfrm>
            <a:off x="3995936" y="3895888"/>
            <a:ext cx="4572000" cy="1477328"/>
          </a:xfrm>
          <a:prstGeom prst="rect">
            <a:avLst/>
          </a:prstGeom>
          <a:ln>
            <a:solidFill>
              <a:srgbClr val="00A0AE"/>
            </a:solidFill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div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>
                <a:solidFill>
                  <a:srgbClr val="0000CD"/>
                </a:solidFill>
              </a:rPr>
              <a:t>="row"&gt;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 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div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>
                <a:solidFill>
                  <a:srgbClr val="0000CD"/>
                </a:solidFill>
              </a:rPr>
              <a:t>="col-3"&gt;</a:t>
            </a:r>
            <a:r>
              <a:rPr lang="en-US" dirty="0"/>
              <a:t>...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/div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>
                <a:solidFill>
                  <a:srgbClr val="0000CD"/>
                </a:solidFill>
              </a:rPr>
              <a:t> </a:t>
            </a:r>
            <a:r>
              <a:rPr lang="en-US" dirty="0" smtClean="0">
                <a:solidFill>
                  <a:srgbClr val="0000CD"/>
                </a:solidFill>
              </a:rPr>
              <a:t>   &lt;</a:t>
            </a:r>
            <a:r>
              <a:rPr lang="en-US" dirty="0">
                <a:solidFill>
                  <a:srgbClr val="A52A2A"/>
                </a:solidFill>
              </a:rPr>
              <a:t>div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>
                <a:solidFill>
                  <a:srgbClr val="0000CD"/>
                </a:solidFill>
              </a:rPr>
              <a:t>="col-9"&gt;</a:t>
            </a:r>
            <a:r>
              <a:rPr lang="en-US" dirty="0"/>
              <a:t>...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/div</a:t>
            </a:r>
            <a:r>
              <a:rPr lang="en-US" dirty="0" smtClean="0">
                <a:solidFill>
                  <a:srgbClr val="0000CD"/>
                </a:solidFill>
              </a:rPr>
              <a:t>&gt;</a:t>
            </a:r>
            <a:br>
              <a:rPr lang="en-US" dirty="0" smtClean="0">
                <a:solidFill>
                  <a:srgbClr val="0000CD"/>
                </a:solidFill>
              </a:rPr>
            </a:br>
            <a:r>
              <a:rPr lang="en-US" dirty="0" smtClean="0">
                <a:solidFill>
                  <a:srgbClr val="0000CD"/>
                </a:solidFill>
              </a:rPr>
              <a:t>    </a:t>
            </a:r>
            <a:r>
              <a:rPr lang="en-US" dirty="0" smtClean="0">
                <a:solidFill>
                  <a:srgbClr val="00B050"/>
                </a:solidFill>
              </a:rPr>
              <a:t>&lt;!– always add up to 12 cols --&gt;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/div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0028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Mobile first </a:t>
            </a:r>
          </a:p>
          <a:p>
            <a:pPr lvl="1"/>
            <a:r>
              <a:rPr lang="en-US" dirty="0" smtClean="0"/>
              <a:t>default layout = layout for extra small devices</a:t>
            </a:r>
          </a:p>
          <a:p>
            <a:pPr lvl="1"/>
            <a:r>
              <a:rPr lang="en-US" dirty="0" smtClean="0"/>
              <a:t>col width of 100% for all col classes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Combine </a:t>
            </a:r>
            <a:r>
              <a:rPr lang="nl-BE" dirty="0" err="1" smtClean="0"/>
              <a:t>with</a:t>
            </a:r>
            <a:r>
              <a:rPr lang="nl-BE" dirty="0" smtClean="0"/>
              <a:t> media </a:t>
            </a:r>
            <a:r>
              <a:rPr lang="nl-BE" dirty="0" err="1" smtClean="0"/>
              <a:t>queries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14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sp>
        <p:nvSpPr>
          <p:cNvPr id="6" name="Rechthoek 5"/>
          <p:cNvSpPr/>
          <p:nvPr/>
        </p:nvSpPr>
        <p:spPr>
          <a:xfrm>
            <a:off x="747943" y="2852936"/>
            <a:ext cx="2411840" cy="923330"/>
          </a:xfrm>
          <a:prstGeom prst="rect">
            <a:avLst/>
          </a:prstGeom>
          <a:ln>
            <a:solidFill>
              <a:srgbClr val="00A0AE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52A2A"/>
                </a:solidFill>
              </a:rPr>
              <a:t>[class*="col-"]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  </a:t>
            </a:r>
            <a:r>
              <a:rPr lang="en-US" dirty="0" smtClean="0">
                <a:solidFill>
                  <a:srgbClr val="FF0000"/>
                </a:solidFill>
              </a:rPr>
              <a:t>  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100%</a:t>
            </a:r>
            <a:r>
              <a:rPr lang="en-US" dirty="0">
                <a:solidFill>
                  <a:srgbClr val="000000"/>
                </a:solidFill>
              </a:rPr>
              <a:t>;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677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col classes for all 12 col widths for every breakpoint:</a:t>
            </a:r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Combine </a:t>
            </a:r>
            <a:r>
              <a:rPr lang="nl-BE" dirty="0" err="1" smtClean="0"/>
              <a:t>with</a:t>
            </a:r>
            <a:r>
              <a:rPr lang="nl-BE" dirty="0" smtClean="0"/>
              <a:t> media </a:t>
            </a:r>
            <a:r>
              <a:rPr lang="nl-BE" dirty="0" err="1" smtClean="0"/>
              <a:t>queries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15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sp>
        <p:nvSpPr>
          <p:cNvPr id="7" name="Rechthoek 6"/>
          <p:cNvSpPr/>
          <p:nvPr/>
        </p:nvSpPr>
        <p:spPr>
          <a:xfrm>
            <a:off x="899592" y="2226833"/>
            <a:ext cx="3923984" cy="4524315"/>
          </a:xfrm>
          <a:prstGeom prst="rect">
            <a:avLst/>
          </a:prstGeom>
          <a:solidFill>
            <a:schemeClr val="bg1"/>
          </a:solidFill>
          <a:ln>
            <a:solidFill>
              <a:srgbClr val="00A0AE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52A2A"/>
                </a:solidFill>
              </a:rPr>
              <a:t>@media only screen and (min-width: 600px)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</a:t>
            </a:r>
            <a:r>
              <a:rPr lang="en-US" dirty="0">
                <a:solidFill>
                  <a:srgbClr val="008000"/>
                </a:solidFill>
              </a:rPr>
              <a:t>/* For tablets: */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 .col-s-1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8.33%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 .col-s-2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16.66%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.col-s-3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25%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.col-s-4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33.33%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.col-s-5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41.66%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.col-s-6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50%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.col-s-7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58.33%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.col-s-8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66.66%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.col-s-9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75%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.col-s-10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83.33%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.col-s-11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91.66%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.col-s-12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100%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}</a:t>
            </a:r>
            <a:endParaRPr lang="en-US" dirty="0"/>
          </a:p>
        </p:txBody>
      </p:sp>
      <p:sp>
        <p:nvSpPr>
          <p:cNvPr id="8" name="Rechthoek 7"/>
          <p:cNvSpPr/>
          <p:nvPr/>
        </p:nvSpPr>
        <p:spPr>
          <a:xfrm>
            <a:off x="4978156" y="2226833"/>
            <a:ext cx="3990210" cy="4524315"/>
          </a:xfrm>
          <a:prstGeom prst="rect">
            <a:avLst/>
          </a:prstGeom>
          <a:solidFill>
            <a:schemeClr val="bg1"/>
          </a:solidFill>
          <a:ln>
            <a:solidFill>
              <a:srgbClr val="00A0AE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52A2A"/>
                </a:solidFill>
              </a:rPr>
              <a:t>@media only screen and (min-width: 768px)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</a:t>
            </a:r>
            <a:r>
              <a:rPr lang="en-US" dirty="0">
                <a:solidFill>
                  <a:srgbClr val="008000"/>
                </a:solidFill>
              </a:rPr>
              <a:t>/* For desktop: */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.col-1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8.33%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.col-2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16.66%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.col-3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25%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.col-4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33.33%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.col-5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41.66%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.col-6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50%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.col-7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58.33%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.col-8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66.66%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.col-9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75%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.col-10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83.33%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.col-11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91.66%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A52A2A"/>
                </a:solidFill>
              </a:rPr>
              <a:t>  .col-12 </a:t>
            </a:r>
            <a:r>
              <a:rPr lang="en-US" dirty="0">
                <a:solidFill>
                  <a:srgbClr val="000000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</a:rPr>
              <a:t>width</a:t>
            </a:r>
            <a:r>
              <a:rPr lang="en-US" dirty="0">
                <a:solidFill>
                  <a:srgbClr val="000000"/>
                </a:solidFill>
              </a:rPr>
              <a:t>:</a:t>
            </a:r>
            <a:r>
              <a:rPr lang="en-US" dirty="0">
                <a:solidFill>
                  <a:srgbClr val="0000CD"/>
                </a:solidFill>
              </a:rPr>
              <a:t> 100%</a:t>
            </a:r>
            <a:r>
              <a:rPr lang="en-US" dirty="0">
                <a:solidFill>
                  <a:srgbClr val="000000"/>
                </a:solidFill>
              </a:rPr>
              <a:t>;}</a:t>
            </a:r>
            <a:r>
              <a:rPr lang="en-US" dirty="0">
                <a:solidFill>
                  <a:srgbClr val="A52A2A"/>
                </a:solidFill>
              </a:rPr>
              <a:t/>
            </a:r>
            <a:br>
              <a:rPr lang="en-US" dirty="0">
                <a:solidFill>
                  <a:srgbClr val="A52A2A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328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Combine classes in HTML:</a:t>
            </a:r>
          </a:p>
          <a:p>
            <a:endParaRPr lang="nl-BE" dirty="0"/>
          </a:p>
          <a:p>
            <a:endParaRPr lang="nl-BE" dirty="0" smtClean="0"/>
          </a:p>
          <a:p>
            <a:endParaRPr lang="nl-BE" dirty="0"/>
          </a:p>
          <a:p>
            <a:endParaRPr lang="nl-BE" dirty="0" smtClean="0"/>
          </a:p>
          <a:p>
            <a:r>
              <a:rPr lang="nl-BE" dirty="0" smtClean="0">
                <a:hlinkClick r:id="rId2"/>
              </a:rPr>
              <a:t>example</a:t>
            </a:r>
            <a:endParaRPr lang="nl-BE" dirty="0" smtClean="0"/>
          </a:p>
          <a:p>
            <a:r>
              <a:rPr lang="nl-BE" dirty="0" smtClean="0"/>
              <a:t>Basis for responsive CSS </a:t>
            </a:r>
            <a:r>
              <a:rPr lang="nl-BE" dirty="0" err="1" smtClean="0"/>
              <a:t>frameworks</a:t>
            </a:r>
            <a:endParaRPr lang="nl-BE" dirty="0" smtClean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Combine </a:t>
            </a:r>
            <a:r>
              <a:rPr lang="nl-BE" dirty="0" err="1" smtClean="0"/>
              <a:t>with</a:t>
            </a:r>
            <a:r>
              <a:rPr lang="nl-BE" dirty="0" smtClean="0"/>
              <a:t> media </a:t>
            </a:r>
            <a:r>
              <a:rPr lang="nl-BE" dirty="0" err="1" smtClean="0"/>
              <a:t>queries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16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sp>
        <p:nvSpPr>
          <p:cNvPr id="6" name="Rechthoek 5"/>
          <p:cNvSpPr/>
          <p:nvPr/>
        </p:nvSpPr>
        <p:spPr>
          <a:xfrm>
            <a:off x="778171" y="1988840"/>
            <a:ext cx="4792706" cy="1477328"/>
          </a:xfrm>
          <a:prstGeom prst="rect">
            <a:avLst/>
          </a:prstGeom>
          <a:ln>
            <a:solidFill>
              <a:srgbClr val="00A0AE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div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>
                <a:solidFill>
                  <a:srgbClr val="0000CD"/>
                </a:solidFill>
              </a:rPr>
              <a:t>="row"&gt;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div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>
                <a:solidFill>
                  <a:srgbClr val="0000CD"/>
                </a:solidFill>
              </a:rPr>
              <a:t>="col-3 col-s-3"&gt;</a:t>
            </a:r>
            <a:r>
              <a:rPr lang="en-US" dirty="0"/>
              <a:t>...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/div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div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>
                <a:solidFill>
                  <a:srgbClr val="0000CD"/>
                </a:solidFill>
              </a:rPr>
              <a:t>="col-6 col-s-9"&gt;</a:t>
            </a:r>
            <a:r>
              <a:rPr lang="en-US" dirty="0"/>
              <a:t>...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/div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div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>
                <a:solidFill>
                  <a:srgbClr val="0000CD"/>
                </a:solidFill>
              </a:rPr>
              <a:t>="col-3 col-s-12"&gt;</a:t>
            </a:r>
            <a:r>
              <a:rPr lang="en-US" dirty="0"/>
              <a:t>...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/div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/div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2476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Framework: bootstrap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17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sp>
        <p:nvSpPr>
          <p:cNvPr id="6" name="Tijdelijke aanduiding voor inhoud 5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728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Originally developed within Twitter under the name "Twitter Blueprint</a:t>
            </a:r>
            <a:r>
              <a:rPr lang="en-US" dirty="0" smtClean="0"/>
              <a:t>"</a:t>
            </a:r>
            <a:r>
              <a:rPr lang="nl-BE" dirty="0" smtClean="0"/>
              <a:t>.</a:t>
            </a:r>
          </a:p>
          <a:p>
            <a:pPr>
              <a:lnSpc>
                <a:spcPct val="110000"/>
              </a:lnSpc>
            </a:pPr>
            <a:r>
              <a:rPr lang="en-US" dirty="0"/>
              <a:t>Released as open source project on August 19, </a:t>
            </a:r>
            <a:r>
              <a:rPr lang="en-US" dirty="0" smtClean="0"/>
              <a:t>2011</a:t>
            </a:r>
            <a:endParaRPr lang="nl-BE" dirty="0" smtClean="0"/>
          </a:p>
          <a:p>
            <a:pPr>
              <a:lnSpc>
                <a:spcPct val="110000"/>
              </a:lnSpc>
            </a:pPr>
            <a:r>
              <a:rPr lang="en-US" dirty="0"/>
              <a:t>Bootstrap 2: </a:t>
            </a:r>
            <a:r>
              <a:rPr lang="en-US" dirty="0" smtClean="0"/>
              <a:t>	Released </a:t>
            </a:r>
            <a:r>
              <a:rPr lang="en-US" dirty="0"/>
              <a:t>on 31 January </a:t>
            </a:r>
            <a:r>
              <a:rPr lang="en-US" dirty="0" smtClean="0"/>
              <a:t>2012</a:t>
            </a:r>
            <a:endParaRPr lang="nl-BE" dirty="0" smtClean="0"/>
          </a:p>
          <a:p>
            <a:pPr>
              <a:lnSpc>
                <a:spcPct val="110000"/>
              </a:lnSpc>
            </a:pPr>
            <a:r>
              <a:rPr lang="en-US" dirty="0"/>
              <a:t>Bootstrap 3: </a:t>
            </a:r>
            <a:r>
              <a:rPr lang="en-US" dirty="0" smtClean="0"/>
              <a:t>	(</a:t>
            </a:r>
            <a:r>
              <a:rPr lang="en-US" dirty="0"/>
              <a:t>better for mobile devices)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     	released </a:t>
            </a:r>
            <a:r>
              <a:rPr lang="en-US" dirty="0"/>
              <a:t>on 19 August</a:t>
            </a:r>
            <a:r>
              <a:rPr lang="nl-BE" dirty="0" smtClean="0"/>
              <a:t>2013</a:t>
            </a:r>
          </a:p>
          <a:p>
            <a:pPr>
              <a:lnSpc>
                <a:spcPct val="110000"/>
              </a:lnSpc>
            </a:pPr>
            <a:r>
              <a:rPr lang="nl-BE" dirty="0" smtClean="0"/>
              <a:t>Bootstrap 4:  	</a:t>
            </a:r>
            <a:r>
              <a:rPr lang="en-US" dirty="0" smtClean="0"/>
              <a:t>Completely </a:t>
            </a:r>
            <a:r>
              <a:rPr lang="en-US" dirty="0"/>
              <a:t>new framework! 		     </a:t>
            </a:r>
            <a:r>
              <a:rPr lang="en-US" dirty="0" smtClean="0"/>
              <a:t>		     	Not </a:t>
            </a:r>
            <a:r>
              <a:rPr lang="en-US" dirty="0"/>
              <a:t>compatible with older versions! 	              </a:t>
            </a:r>
            <a:r>
              <a:rPr lang="en-US" dirty="0" smtClean="0"/>
              <a:t>			Not </a:t>
            </a:r>
            <a:r>
              <a:rPr lang="en-US" dirty="0"/>
              <a:t>for IE9 or lower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	Released </a:t>
            </a:r>
            <a:r>
              <a:rPr lang="en-US" dirty="0"/>
              <a:t>in December 2017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17255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75" t="14939" r="17322" b="5387"/>
          <a:stretch/>
        </p:blipFill>
        <p:spPr>
          <a:xfrm>
            <a:off x="179512" y="1844824"/>
            <a:ext cx="8806513" cy="2736304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Installation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18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sp>
        <p:nvSpPr>
          <p:cNvPr id="7" name="Tijdelijke aanduiding voor inhoud 5"/>
          <p:cNvSpPr txBox="1">
            <a:spLocks/>
          </p:cNvSpPr>
          <p:nvPr/>
        </p:nvSpPr>
        <p:spPr>
          <a:xfrm>
            <a:off x="0" y="1152000"/>
            <a:ext cx="9144000" cy="4797280"/>
          </a:xfrm>
          <a:prstGeom prst="rect">
            <a:avLst/>
          </a:prstGeom>
        </p:spPr>
        <p:txBody>
          <a:bodyPr vert="horz" lIns="432000" tIns="252000" rIns="43200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nl-BE" dirty="0" smtClean="0"/>
              <a:t>CDN:</a:t>
            </a:r>
          </a:p>
          <a:p>
            <a:pPr>
              <a:lnSpc>
                <a:spcPct val="110000"/>
              </a:lnSpc>
            </a:pPr>
            <a:endParaRPr lang="nl-BE" dirty="0"/>
          </a:p>
          <a:p>
            <a:pPr>
              <a:lnSpc>
                <a:spcPct val="110000"/>
              </a:lnSpc>
            </a:pPr>
            <a:endParaRPr lang="nl-BE" dirty="0" smtClean="0"/>
          </a:p>
          <a:p>
            <a:pPr>
              <a:lnSpc>
                <a:spcPct val="110000"/>
              </a:lnSpc>
            </a:pPr>
            <a:endParaRPr lang="nl-BE" dirty="0"/>
          </a:p>
          <a:p>
            <a:pPr>
              <a:lnSpc>
                <a:spcPct val="110000"/>
              </a:lnSpc>
            </a:pPr>
            <a:endParaRPr lang="nl-BE" dirty="0" smtClean="0"/>
          </a:p>
          <a:p>
            <a:pPr>
              <a:lnSpc>
                <a:spcPct val="110000"/>
              </a:lnSpc>
            </a:pPr>
            <a:endParaRPr lang="nl-BE" dirty="0"/>
          </a:p>
          <a:p>
            <a:pPr>
              <a:lnSpc>
                <a:spcPct val="110000"/>
              </a:lnSpc>
            </a:pPr>
            <a:r>
              <a:rPr lang="nl-BE" dirty="0" smtClean="0"/>
              <a:t>Download: </a:t>
            </a:r>
            <a:r>
              <a:rPr lang="nl-BE" dirty="0">
                <a:hlinkClick r:id="rId3"/>
              </a:rPr>
              <a:t>https://getbootstrap.com/</a:t>
            </a:r>
            <a:r>
              <a:rPr lang="nl-BE" dirty="0" smtClean="0"/>
              <a:t> 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611186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smtClean="0"/>
              <a:t>In </a:t>
            </a:r>
            <a:r>
              <a:rPr lang="nl-BE" dirty="0" err="1" smtClean="0"/>
              <a:t>head</a:t>
            </a:r>
            <a:r>
              <a:rPr lang="nl-BE" dirty="0" smtClean="0"/>
              <a:t>:</a:t>
            </a:r>
          </a:p>
          <a:p>
            <a:endParaRPr lang="nl-BE" dirty="0"/>
          </a:p>
          <a:p>
            <a:endParaRPr lang="nl-BE" dirty="0" smtClean="0"/>
          </a:p>
          <a:p>
            <a:r>
              <a:rPr lang="nl-BE" dirty="0" smtClean="0"/>
              <a:t>In body:</a:t>
            </a:r>
          </a:p>
          <a:p>
            <a:pPr marL="355600" lvl="1" indent="0">
              <a:buNone/>
            </a:pPr>
            <a:r>
              <a:rPr lang="nl-BE" dirty="0" err="1" smtClean="0"/>
              <a:t>Use</a:t>
            </a:r>
            <a:r>
              <a:rPr lang="nl-BE" dirty="0" smtClean="0"/>
              <a:t> container </a:t>
            </a:r>
            <a:r>
              <a:rPr lang="nl-BE" dirty="0" err="1" smtClean="0"/>
              <a:t>wrapper</a:t>
            </a:r>
            <a:r>
              <a:rPr lang="nl-BE" dirty="0" smtClean="0"/>
              <a:t> </a:t>
            </a:r>
            <a:r>
              <a:rPr lang="nl-BE" dirty="0" err="1" smtClean="0"/>
              <a:t>with</a:t>
            </a:r>
            <a:r>
              <a:rPr lang="nl-BE" dirty="0" smtClean="0"/>
              <a:t> class:</a:t>
            </a:r>
          </a:p>
          <a:p>
            <a:pPr marL="723900" lvl="2" indent="0">
              <a:buNone/>
            </a:pPr>
            <a:r>
              <a:rPr lang="nl-BE" dirty="0" smtClean="0"/>
              <a:t>.container : responsive container </a:t>
            </a:r>
            <a:r>
              <a:rPr lang="nl-BE" dirty="0" err="1" smtClean="0"/>
              <a:t>with</a:t>
            </a:r>
            <a:r>
              <a:rPr lang="nl-BE" dirty="0" smtClean="0"/>
              <a:t> </a:t>
            </a:r>
            <a:r>
              <a:rPr lang="nl-BE" dirty="0" err="1" smtClean="0"/>
              <a:t>fixed</a:t>
            </a:r>
            <a:r>
              <a:rPr lang="nl-BE" dirty="0" smtClean="0"/>
              <a:t> </a:t>
            </a:r>
            <a:r>
              <a:rPr lang="nl-BE" dirty="0" err="1" smtClean="0"/>
              <a:t>width</a:t>
            </a:r>
            <a:endParaRPr lang="nl-BE" dirty="0" smtClean="0"/>
          </a:p>
          <a:p>
            <a:pPr marL="723900" lvl="2" indent="0">
              <a:buNone/>
            </a:pPr>
            <a:r>
              <a:rPr lang="nl-BE" dirty="0" smtClean="0"/>
              <a:t>.container-</a:t>
            </a:r>
            <a:r>
              <a:rPr lang="nl-BE" dirty="0" err="1" smtClean="0"/>
              <a:t>fluid</a:t>
            </a:r>
            <a:r>
              <a:rPr lang="nl-BE" dirty="0" smtClean="0"/>
              <a:t>: full </a:t>
            </a:r>
            <a:r>
              <a:rPr lang="nl-BE" dirty="0" err="1" smtClean="0"/>
              <a:t>width</a:t>
            </a:r>
            <a:r>
              <a:rPr lang="nl-BE" dirty="0" smtClean="0"/>
              <a:t> container</a:t>
            </a:r>
            <a:endParaRPr lang="nl-B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Page setup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19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sp>
        <p:nvSpPr>
          <p:cNvPr id="6" name="Rechthoek 5"/>
          <p:cNvSpPr/>
          <p:nvPr/>
        </p:nvSpPr>
        <p:spPr>
          <a:xfrm>
            <a:off x="720000" y="1916832"/>
            <a:ext cx="831649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CD"/>
                </a:solidFill>
              </a:rPr>
              <a:t>&lt;</a:t>
            </a:r>
            <a:r>
              <a:rPr lang="en-US" sz="1600" dirty="0">
                <a:solidFill>
                  <a:srgbClr val="A52A2A"/>
                </a:solidFill>
              </a:rPr>
              <a:t>meta</a:t>
            </a:r>
            <a:r>
              <a:rPr lang="en-US" sz="1600" dirty="0">
                <a:solidFill>
                  <a:srgbClr val="FF0000"/>
                </a:solidFill>
              </a:rPr>
              <a:t> name</a:t>
            </a:r>
            <a:r>
              <a:rPr lang="en-US" sz="1600" dirty="0">
                <a:solidFill>
                  <a:srgbClr val="0000CD"/>
                </a:solidFill>
              </a:rPr>
              <a:t>="viewport"</a:t>
            </a:r>
            <a:r>
              <a:rPr lang="en-US" sz="1600" dirty="0">
                <a:solidFill>
                  <a:srgbClr val="FF0000"/>
                </a:solidFill>
              </a:rPr>
              <a:t> content</a:t>
            </a:r>
            <a:r>
              <a:rPr lang="en-US" sz="1600" dirty="0">
                <a:solidFill>
                  <a:srgbClr val="0000CD"/>
                </a:solidFill>
              </a:rPr>
              <a:t>="width=device-width, initial-scale=1"&gt;</a:t>
            </a:r>
            <a:r>
              <a:rPr lang="en-US" sz="1600" dirty="0"/>
              <a:t> </a:t>
            </a:r>
          </a:p>
        </p:txBody>
      </p:sp>
      <p:sp>
        <p:nvSpPr>
          <p:cNvPr id="7" name="Ovaal 6"/>
          <p:cNvSpPr/>
          <p:nvPr/>
        </p:nvSpPr>
        <p:spPr>
          <a:xfrm>
            <a:off x="4355976" y="1772816"/>
            <a:ext cx="2160240" cy="576064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Tekstvak 7"/>
          <p:cNvSpPr txBox="1"/>
          <p:nvPr/>
        </p:nvSpPr>
        <p:spPr>
          <a:xfrm>
            <a:off x="3563888" y="2411139"/>
            <a:ext cx="3507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solidFill>
                  <a:srgbClr val="00A0AE"/>
                </a:solidFill>
              </a:rPr>
              <a:t>Screen </a:t>
            </a:r>
            <a:r>
              <a:rPr lang="nl-BE" dirty="0" err="1">
                <a:solidFill>
                  <a:srgbClr val="00A0AE"/>
                </a:solidFill>
              </a:rPr>
              <a:t>width</a:t>
            </a:r>
            <a:r>
              <a:rPr lang="nl-BE" dirty="0">
                <a:solidFill>
                  <a:srgbClr val="00A0AE"/>
                </a:solidFill>
              </a:rPr>
              <a:t> = device </a:t>
            </a:r>
            <a:r>
              <a:rPr lang="nl-BE" dirty="0" err="1">
                <a:solidFill>
                  <a:srgbClr val="00A0AE"/>
                </a:solidFill>
              </a:rPr>
              <a:t>width</a:t>
            </a:r>
            <a:endParaRPr lang="nl-BE" dirty="0">
              <a:solidFill>
                <a:srgbClr val="00A0AE"/>
              </a:solidFill>
            </a:endParaRPr>
          </a:p>
        </p:txBody>
      </p:sp>
      <p:sp>
        <p:nvSpPr>
          <p:cNvPr id="9" name="Ovaal 8"/>
          <p:cNvSpPr/>
          <p:nvPr/>
        </p:nvSpPr>
        <p:spPr>
          <a:xfrm>
            <a:off x="6516216" y="1772816"/>
            <a:ext cx="1944216" cy="576064"/>
          </a:xfrm>
          <a:prstGeom prst="ellipse">
            <a:avLst/>
          </a:prstGeom>
          <a:noFill/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Tekstvak 9"/>
          <p:cNvSpPr txBox="1"/>
          <p:nvPr/>
        </p:nvSpPr>
        <p:spPr>
          <a:xfrm>
            <a:off x="5724128" y="1276975"/>
            <a:ext cx="3239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C4B2F"/>
                </a:solidFill>
              </a:rPr>
              <a:t>Zoom level 1 after loading</a:t>
            </a:r>
            <a:endParaRPr lang="nl-BE" dirty="0">
              <a:solidFill>
                <a:srgbClr val="EC4B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291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3089280"/>
            <a:ext cx="9144000" cy="2853064"/>
          </a:xfrm>
        </p:spPr>
        <p:txBody>
          <a:bodyPr>
            <a:normAutofit lnSpcReduction="10000"/>
          </a:bodyPr>
          <a:lstStyle/>
          <a:p>
            <a:r>
              <a:rPr lang="nl-BE" dirty="0" err="1" smtClean="0"/>
              <a:t>Fixed</a:t>
            </a:r>
            <a:r>
              <a:rPr lang="nl-BE" dirty="0" smtClean="0"/>
              <a:t> </a:t>
            </a:r>
            <a:r>
              <a:rPr lang="nl-BE" dirty="0" err="1" smtClean="0"/>
              <a:t>width</a:t>
            </a:r>
            <a:r>
              <a:rPr lang="nl-BE" dirty="0" smtClean="0"/>
              <a:t> container (</a:t>
            </a:r>
            <a:r>
              <a:rPr lang="nl-BE" dirty="0" smtClean="0">
                <a:hlinkClick r:id="rId2"/>
              </a:rPr>
              <a:t>class</a:t>
            </a:r>
            <a:r>
              <a:rPr lang="nl-BE" dirty="0" smtClean="0"/>
              <a:t>="container")</a:t>
            </a:r>
          </a:p>
          <a:p>
            <a:endParaRPr lang="nl-BE" dirty="0"/>
          </a:p>
          <a:p>
            <a:endParaRPr lang="nl-BE" dirty="0" smtClean="0"/>
          </a:p>
          <a:p>
            <a:endParaRPr lang="nl-BE" dirty="0"/>
          </a:p>
          <a:p>
            <a:r>
              <a:rPr lang="nl-BE" dirty="0" smtClean="0"/>
              <a:t>Full </a:t>
            </a:r>
            <a:r>
              <a:rPr lang="nl-BE" dirty="0" err="1" smtClean="0"/>
              <a:t>width</a:t>
            </a:r>
            <a:r>
              <a:rPr lang="nl-BE" dirty="0" smtClean="0"/>
              <a:t> container (class="container-</a:t>
            </a:r>
            <a:r>
              <a:rPr lang="nl-BE" dirty="0" err="1" smtClean="0"/>
              <a:t>fluid</a:t>
            </a:r>
            <a:r>
              <a:rPr lang="nl-BE" dirty="0" smtClean="0"/>
              <a:t>")</a:t>
            </a:r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container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20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01" y="3861048"/>
            <a:ext cx="7756397" cy="1030793"/>
          </a:xfrm>
          <a:prstGeom prst="rect">
            <a:avLst/>
          </a:prstGeom>
          <a:ln>
            <a:solidFill>
              <a:srgbClr val="00A0AE"/>
            </a:solidFill>
          </a:ln>
        </p:spPr>
      </p:pic>
      <p:pic>
        <p:nvPicPr>
          <p:cNvPr id="8" name="Afbeelding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6" y="1376951"/>
            <a:ext cx="4566856" cy="16200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9" name="Afbeelding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376952"/>
            <a:ext cx="4539056" cy="162000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23403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-44450">
              <a:buNone/>
            </a:pPr>
            <a:r>
              <a:rPr lang="en-US" dirty="0"/>
              <a:t>c</a:t>
            </a:r>
            <a:r>
              <a:rPr lang="en-US" dirty="0" smtClean="0"/>
              <a:t>ontainer with </a:t>
            </a:r>
            <a:r>
              <a:rPr lang="en-US" dirty="0"/>
              <a:t>rows with up to 12 columns</a:t>
            </a:r>
            <a:endParaRPr lang="nl-B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Framework: bootstrap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21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graphicFrame>
        <p:nvGraphicFramePr>
          <p:cNvPr id="6" name="Tabel 5"/>
          <p:cNvGraphicFramePr>
            <a:graphicFrameLocks noGrp="1"/>
          </p:cNvGraphicFramePr>
          <p:nvPr>
            <p:extLst/>
          </p:nvPr>
        </p:nvGraphicFramePr>
        <p:xfrm>
          <a:off x="180000" y="2565224"/>
          <a:ext cx="8784000" cy="2880000"/>
        </p:xfrm>
        <a:graphic>
          <a:graphicData uri="http://schemas.openxmlformats.org/drawingml/2006/table">
            <a:tbl>
              <a:tblPr/>
              <a:tblGrid>
                <a:gridCol w="7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2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2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32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nl-BE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nl-BE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nl-BE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nl-BE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nl-BE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nl-BE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nl-BE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nl-BE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nl-BE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nl-BE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nl-BE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nl-BE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nl-BE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00">
                <a:tc gridSpan="4">
                  <a:txBody>
                    <a:bodyPr/>
                    <a:lstStyle/>
                    <a:p>
                      <a:pPr algn="ctr"/>
                      <a:r>
                        <a:rPr lang="nl-BE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span </a:t>
                      </a:r>
                      <a:r>
                        <a:rPr lang="nl-BE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nl-BE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span </a:t>
                      </a:r>
                      <a:r>
                        <a:rPr lang="nl-BE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nl-BE" sz="18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span </a:t>
                      </a:r>
                      <a:r>
                        <a:rPr lang="nl-BE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00">
                <a:tc gridSpan="4">
                  <a:txBody>
                    <a:bodyPr/>
                    <a:lstStyle/>
                    <a:p>
                      <a:pPr algn="ctr"/>
                      <a:r>
                        <a:rPr lang="nl-BE" sz="18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span 4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nl-BE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span 8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00">
                <a:tc gridSpan="6">
                  <a:txBody>
                    <a:bodyPr/>
                    <a:lstStyle/>
                    <a:p>
                      <a:pPr algn="ctr"/>
                      <a:r>
                        <a:rPr lang="nl-BE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span 6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nl-BE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span 6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00">
                <a:tc gridSpan="12">
                  <a:txBody>
                    <a:bodyPr/>
                    <a:lstStyle/>
                    <a:p>
                      <a:pPr algn="ctr"/>
                      <a:r>
                        <a:rPr lang="nl-BE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span 12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622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structure </a:t>
            </a:r>
            <a:r>
              <a:rPr lang="en-US" noProof="0" dirty="0" smtClean="0"/>
              <a:t>grid: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Framework: bootstrap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22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sp>
        <p:nvSpPr>
          <p:cNvPr id="7" name="Rechthoek 6"/>
          <p:cNvSpPr/>
          <p:nvPr/>
        </p:nvSpPr>
        <p:spPr>
          <a:xfrm>
            <a:off x="899592" y="1861682"/>
            <a:ext cx="4572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div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>
                <a:solidFill>
                  <a:srgbClr val="000000"/>
                </a:solidFill>
              </a:rPr>
              <a:t>="container"&gt;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/>
              <a:t>  </a:t>
            </a:r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div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>
                <a:solidFill>
                  <a:srgbClr val="000000"/>
                </a:solidFill>
              </a:rPr>
              <a:t>="row"&gt;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div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>
                <a:solidFill>
                  <a:srgbClr val="000000"/>
                </a:solidFill>
              </a:rPr>
              <a:t>="col-*-*"&gt;&lt;</a:t>
            </a:r>
            <a:r>
              <a:rPr lang="en-US" dirty="0">
                <a:solidFill>
                  <a:srgbClr val="A52A2A"/>
                </a:solidFill>
              </a:rPr>
              <a:t>/div</a:t>
            </a:r>
            <a:r>
              <a:rPr lang="en-US" dirty="0">
                <a:solidFill>
                  <a:srgbClr val="000000"/>
                </a:solidFill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div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>
                <a:solidFill>
                  <a:srgbClr val="000000"/>
                </a:solidFill>
              </a:rPr>
              <a:t>="col-*-*"&gt;&lt;</a:t>
            </a:r>
            <a:r>
              <a:rPr lang="en-US" dirty="0">
                <a:solidFill>
                  <a:srgbClr val="A52A2A"/>
                </a:solidFill>
              </a:rPr>
              <a:t>/div</a:t>
            </a:r>
            <a:r>
              <a:rPr lang="en-US" dirty="0">
                <a:solidFill>
                  <a:srgbClr val="000000"/>
                </a:solidFill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/div</a:t>
            </a:r>
            <a:r>
              <a:rPr lang="en-US" dirty="0">
                <a:solidFill>
                  <a:srgbClr val="000000"/>
                </a:solidFill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div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>
                <a:solidFill>
                  <a:srgbClr val="000000"/>
                </a:solidFill>
              </a:rPr>
              <a:t>="row"&gt;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/>
              <a:t>    </a:t>
            </a:r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div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>
                <a:solidFill>
                  <a:srgbClr val="000000"/>
                </a:solidFill>
              </a:rPr>
              <a:t>="col-*-*"&gt;&lt;</a:t>
            </a:r>
            <a:r>
              <a:rPr lang="en-US" dirty="0">
                <a:solidFill>
                  <a:srgbClr val="A52A2A"/>
                </a:solidFill>
              </a:rPr>
              <a:t>/div</a:t>
            </a:r>
            <a:r>
              <a:rPr lang="en-US" dirty="0">
                <a:solidFill>
                  <a:srgbClr val="000000"/>
                </a:solidFill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div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>
                <a:solidFill>
                  <a:srgbClr val="000000"/>
                </a:solidFill>
              </a:rPr>
              <a:t>="col-*-*"&gt;&lt;</a:t>
            </a:r>
            <a:r>
              <a:rPr lang="en-US" dirty="0">
                <a:solidFill>
                  <a:srgbClr val="A52A2A"/>
                </a:solidFill>
              </a:rPr>
              <a:t>/div</a:t>
            </a:r>
            <a:r>
              <a:rPr lang="en-US" dirty="0">
                <a:solidFill>
                  <a:srgbClr val="000000"/>
                </a:solidFill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div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>
                <a:solidFill>
                  <a:srgbClr val="000000"/>
                </a:solidFill>
              </a:rPr>
              <a:t>="col-*-*"&gt;&lt;</a:t>
            </a:r>
            <a:r>
              <a:rPr lang="en-US" dirty="0">
                <a:solidFill>
                  <a:srgbClr val="A52A2A"/>
                </a:solidFill>
              </a:rPr>
              <a:t>/div</a:t>
            </a:r>
            <a:r>
              <a:rPr lang="en-US" dirty="0">
                <a:solidFill>
                  <a:srgbClr val="000000"/>
                </a:solidFill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/div</a:t>
            </a:r>
            <a:r>
              <a:rPr lang="en-US" dirty="0">
                <a:solidFill>
                  <a:srgbClr val="000000"/>
                </a:solidFill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div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>
                <a:solidFill>
                  <a:srgbClr val="000000"/>
                </a:solidFill>
              </a:rPr>
              <a:t>="row"&gt;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>
                <a:solidFill>
                  <a:srgbClr val="000000"/>
                </a:solidFill>
              </a:rPr>
              <a:t>...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  &lt;</a:t>
            </a:r>
            <a:r>
              <a:rPr lang="en-US" dirty="0">
                <a:solidFill>
                  <a:srgbClr val="A52A2A"/>
                </a:solidFill>
              </a:rPr>
              <a:t>/div</a:t>
            </a:r>
            <a:r>
              <a:rPr lang="en-US" dirty="0">
                <a:solidFill>
                  <a:srgbClr val="000000"/>
                </a:solidFill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/div</a:t>
            </a:r>
            <a:r>
              <a:rPr lang="en-US" dirty="0">
                <a:solidFill>
                  <a:srgbClr val="000000"/>
                </a:solidFill>
              </a:rPr>
              <a:t>&gt;</a:t>
            </a:r>
            <a:r>
              <a:rPr lang="en-US" dirty="0"/>
              <a:t> </a:t>
            </a:r>
          </a:p>
        </p:txBody>
      </p:sp>
      <p:sp>
        <p:nvSpPr>
          <p:cNvPr id="8" name="Ovaal 7"/>
          <p:cNvSpPr/>
          <p:nvPr/>
        </p:nvSpPr>
        <p:spPr>
          <a:xfrm>
            <a:off x="3185592" y="2420888"/>
            <a:ext cx="162272" cy="216024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Tekstvak 8"/>
          <p:cNvSpPr txBox="1"/>
          <p:nvPr/>
        </p:nvSpPr>
        <p:spPr>
          <a:xfrm>
            <a:off x="4797900" y="1677016"/>
            <a:ext cx="4379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err="1">
                <a:solidFill>
                  <a:srgbClr val="00A0AE"/>
                </a:solidFill>
              </a:rPr>
              <a:t>g</a:t>
            </a:r>
            <a:r>
              <a:rPr lang="nl-BE" dirty="0" err="1" smtClean="0">
                <a:solidFill>
                  <a:srgbClr val="00A0AE"/>
                </a:solidFill>
              </a:rPr>
              <a:t>rid</a:t>
            </a:r>
            <a:r>
              <a:rPr lang="nl-BE" dirty="0" smtClean="0">
                <a:solidFill>
                  <a:srgbClr val="00A0AE"/>
                </a:solidFill>
              </a:rPr>
              <a:t> class </a:t>
            </a:r>
          </a:p>
          <a:p>
            <a:r>
              <a:rPr lang="nl-BE" dirty="0">
                <a:solidFill>
                  <a:srgbClr val="00A0AE"/>
                </a:solidFill>
              </a:rPr>
              <a:t>	</a:t>
            </a:r>
            <a:r>
              <a:rPr lang="nl-BE" dirty="0" smtClean="0">
                <a:solidFill>
                  <a:srgbClr val="00A0AE"/>
                </a:solidFill>
              </a:rPr>
              <a:t>= </a:t>
            </a:r>
            <a:r>
              <a:rPr lang="nl-BE" dirty="0" err="1">
                <a:solidFill>
                  <a:srgbClr val="00A0AE"/>
                </a:solidFill>
              </a:rPr>
              <a:t>dimension</a:t>
            </a:r>
            <a:r>
              <a:rPr lang="nl-BE" dirty="0">
                <a:solidFill>
                  <a:srgbClr val="00A0AE"/>
                </a:solidFill>
              </a:rPr>
              <a:t> for </a:t>
            </a:r>
            <a:r>
              <a:rPr lang="nl-BE" dirty="0" err="1">
                <a:solidFill>
                  <a:srgbClr val="00A0AE"/>
                </a:solidFill>
              </a:rPr>
              <a:t>tilting</a:t>
            </a:r>
            <a:r>
              <a:rPr lang="nl-BE" dirty="0">
                <a:solidFill>
                  <a:srgbClr val="00A0AE"/>
                </a:solidFill>
              </a:rPr>
              <a:t> point</a:t>
            </a:r>
          </a:p>
        </p:txBody>
      </p:sp>
      <p:cxnSp>
        <p:nvCxnSpPr>
          <p:cNvPr id="11" name="Rechte verbindingslijn met pijl 10"/>
          <p:cNvCxnSpPr/>
          <p:nvPr/>
        </p:nvCxnSpPr>
        <p:spPr>
          <a:xfrm flipV="1">
            <a:off x="3347864" y="1861682"/>
            <a:ext cx="1440136" cy="559206"/>
          </a:xfrm>
          <a:prstGeom prst="straightConnector1">
            <a:avLst/>
          </a:prstGeom>
          <a:ln w="28575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al 11"/>
          <p:cNvSpPr/>
          <p:nvPr/>
        </p:nvSpPr>
        <p:spPr>
          <a:xfrm>
            <a:off x="3419872" y="2444680"/>
            <a:ext cx="162272" cy="216024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3" name="Tekstvak 12"/>
          <p:cNvSpPr txBox="1"/>
          <p:nvPr/>
        </p:nvSpPr>
        <p:spPr>
          <a:xfrm>
            <a:off x="5351291" y="3180240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smtClean="0">
                <a:solidFill>
                  <a:srgbClr val="00A0AE"/>
                </a:solidFill>
              </a:rPr>
              <a:t>span</a:t>
            </a:r>
            <a:endParaRPr lang="nl-BE" dirty="0">
              <a:solidFill>
                <a:srgbClr val="00A0AE"/>
              </a:solidFill>
            </a:endParaRPr>
          </a:p>
        </p:txBody>
      </p:sp>
      <p:cxnSp>
        <p:nvCxnSpPr>
          <p:cNvPr id="14" name="Rechte verbindingslijn met pijl 13"/>
          <p:cNvCxnSpPr/>
          <p:nvPr/>
        </p:nvCxnSpPr>
        <p:spPr>
          <a:xfrm>
            <a:off x="3582144" y="2684496"/>
            <a:ext cx="1769147" cy="685890"/>
          </a:xfrm>
          <a:prstGeom prst="straightConnector1">
            <a:avLst/>
          </a:prstGeom>
          <a:ln w="28575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78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2" grpId="0" animBg="1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3357120"/>
          </a:xfrm>
        </p:spPr>
        <p:txBody>
          <a:bodyPr>
            <a:normAutofit lnSpcReduction="10000"/>
          </a:bodyPr>
          <a:lstStyle/>
          <a:p>
            <a:r>
              <a:rPr lang="en-US" noProof="0" dirty="0" smtClean="0"/>
              <a:t>grid classes:</a:t>
            </a:r>
          </a:p>
          <a:p>
            <a:pPr marL="0" indent="0">
              <a:buNone/>
            </a:pPr>
            <a:r>
              <a:rPr lang="en-US" sz="2000" noProof="0" dirty="0" smtClean="0">
                <a:solidFill>
                  <a:srgbClr val="EC4B2F"/>
                </a:solidFill>
              </a:rPr>
              <a:t>.col- </a:t>
            </a:r>
            <a:r>
              <a:rPr lang="en-US" sz="2000" noProof="0" dirty="0" smtClean="0"/>
              <a:t>		</a:t>
            </a:r>
            <a:r>
              <a:rPr lang="en-US" sz="2000" noProof="0" dirty="0" err="1" smtClean="0"/>
              <a:t>xsmall</a:t>
            </a:r>
            <a:r>
              <a:rPr lang="en-US" sz="2000" noProof="0" dirty="0" smtClean="0"/>
              <a:t> devices 		screen width &lt; 576px</a:t>
            </a:r>
          </a:p>
          <a:p>
            <a:pPr marL="0" indent="0">
              <a:buNone/>
            </a:pPr>
            <a:r>
              <a:rPr lang="en-US" sz="2000" noProof="0" dirty="0" smtClean="0">
                <a:solidFill>
                  <a:srgbClr val="EC4B2F"/>
                </a:solidFill>
              </a:rPr>
              <a:t>.col-</a:t>
            </a:r>
            <a:r>
              <a:rPr lang="en-US" sz="2000" noProof="0" dirty="0" err="1" smtClean="0">
                <a:solidFill>
                  <a:srgbClr val="EC4B2F"/>
                </a:solidFill>
              </a:rPr>
              <a:t>sm</a:t>
            </a:r>
            <a:r>
              <a:rPr lang="en-US" sz="2000" noProof="0" dirty="0" smtClean="0">
                <a:solidFill>
                  <a:srgbClr val="EC4B2F"/>
                </a:solidFill>
              </a:rPr>
              <a:t>- </a:t>
            </a:r>
            <a:r>
              <a:rPr lang="en-US" sz="2000" noProof="0" dirty="0" smtClean="0"/>
              <a:t>	small devices  		screen width ≥ 576px</a:t>
            </a:r>
          </a:p>
          <a:p>
            <a:pPr marL="0" indent="0">
              <a:buNone/>
            </a:pPr>
            <a:r>
              <a:rPr lang="en-US" sz="2000" noProof="0" dirty="0" smtClean="0">
                <a:solidFill>
                  <a:srgbClr val="EC4B2F"/>
                </a:solidFill>
              </a:rPr>
              <a:t>.col-md- </a:t>
            </a:r>
            <a:r>
              <a:rPr lang="en-US" sz="2000" noProof="0" dirty="0" smtClean="0"/>
              <a:t>	medium devices	screen width ≥ 768px</a:t>
            </a:r>
          </a:p>
          <a:p>
            <a:pPr marL="0" indent="0">
              <a:buNone/>
            </a:pPr>
            <a:r>
              <a:rPr lang="en-US" sz="2000" noProof="0" dirty="0" smtClean="0">
                <a:solidFill>
                  <a:srgbClr val="EC4B2F"/>
                </a:solidFill>
              </a:rPr>
              <a:t>.col-</a:t>
            </a:r>
            <a:r>
              <a:rPr lang="en-US" sz="2000" noProof="0" dirty="0" err="1" smtClean="0">
                <a:solidFill>
                  <a:srgbClr val="EC4B2F"/>
                </a:solidFill>
              </a:rPr>
              <a:t>lg</a:t>
            </a:r>
            <a:r>
              <a:rPr lang="en-US" sz="2000" noProof="0" dirty="0" smtClean="0">
                <a:solidFill>
                  <a:srgbClr val="EC4B2F"/>
                </a:solidFill>
              </a:rPr>
              <a:t>- 	</a:t>
            </a:r>
            <a:r>
              <a:rPr lang="en-US" sz="2000" noProof="0" dirty="0" smtClean="0"/>
              <a:t>	large devices		screen width ≥ 992px</a:t>
            </a:r>
          </a:p>
          <a:p>
            <a:pPr marL="0" indent="0">
              <a:buNone/>
            </a:pPr>
            <a:r>
              <a:rPr lang="en-US" sz="2000" noProof="0" dirty="0" smtClean="0">
                <a:solidFill>
                  <a:srgbClr val="EC4B2F"/>
                </a:solidFill>
              </a:rPr>
              <a:t>.col-xl- </a:t>
            </a:r>
            <a:r>
              <a:rPr lang="en-US" sz="2000" noProof="0" dirty="0" smtClean="0"/>
              <a:t>		</a:t>
            </a:r>
            <a:r>
              <a:rPr lang="en-US" sz="2000" noProof="0" dirty="0" err="1" smtClean="0"/>
              <a:t>xlarge</a:t>
            </a:r>
            <a:r>
              <a:rPr lang="en-US" sz="2000" noProof="0" dirty="0" smtClean="0"/>
              <a:t> devices		screen width ≥ 1200px</a:t>
            </a:r>
          </a:p>
          <a:p>
            <a:pPr marL="0" indent="0">
              <a:buNone/>
            </a:pPr>
            <a:endParaRPr lang="en-US" sz="900" noProof="0" dirty="0" smtClean="0"/>
          </a:p>
          <a:p>
            <a:r>
              <a:rPr lang="en-US" noProof="0" dirty="0" smtClean="0"/>
              <a:t>Combining possible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Framework: bootstrap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23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sp>
        <p:nvSpPr>
          <p:cNvPr id="10" name="Rechthoek 9"/>
          <p:cNvSpPr/>
          <p:nvPr/>
        </p:nvSpPr>
        <p:spPr>
          <a:xfrm>
            <a:off x="395536" y="4221088"/>
            <a:ext cx="871296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&lt;!-- 50%/50% split on </a:t>
            </a:r>
            <a:r>
              <a:rPr lang="en-US" dirty="0" err="1" smtClean="0">
                <a:solidFill>
                  <a:srgbClr val="008000"/>
                </a:solidFill>
              </a:rPr>
              <a:t>xsmall</a:t>
            </a:r>
            <a:r>
              <a:rPr lang="en-US" dirty="0" smtClean="0">
                <a:solidFill>
                  <a:srgbClr val="008000"/>
                </a:solidFill>
              </a:rPr>
              <a:t> </a:t>
            </a:r>
            <a:r>
              <a:rPr lang="en-US" dirty="0">
                <a:solidFill>
                  <a:srgbClr val="008000"/>
                </a:solidFill>
              </a:rPr>
              <a:t>devices and 75%/25% split on </a:t>
            </a:r>
            <a:r>
              <a:rPr lang="en-US" dirty="0" smtClean="0">
                <a:solidFill>
                  <a:srgbClr val="008000"/>
                </a:solidFill>
              </a:rPr>
              <a:t>larger </a:t>
            </a:r>
            <a:r>
              <a:rPr lang="en-US" dirty="0">
                <a:solidFill>
                  <a:srgbClr val="008000"/>
                </a:solidFill>
              </a:rPr>
              <a:t>--&gt;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div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>
                <a:solidFill>
                  <a:srgbClr val="0000CD"/>
                </a:solidFill>
              </a:rPr>
              <a:t>="row"&gt;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div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>
                <a:solidFill>
                  <a:srgbClr val="0000CD"/>
                </a:solidFill>
              </a:rPr>
              <a:t>="col-6 col-sm-9"&gt;</a:t>
            </a:r>
            <a:r>
              <a:rPr lang="en-US" dirty="0"/>
              <a:t>col-6 col-sm-9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/div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 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div</a:t>
            </a:r>
            <a:r>
              <a:rPr lang="en-US" dirty="0">
                <a:solidFill>
                  <a:srgbClr val="FF0000"/>
                </a:solidFill>
              </a:rPr>
              <a:t> class</a:t>
            </a:r>
            <a:r>
              <a:rPr lang="en-US" dirty="0">
                <a:solidFill>
                  <a:srgbClr val="0000CD"/>
                </a:solidFill>
              </a:rPr>
              <a:t>="col-6 col-sm-3"&gt;</a:t>
            </a:r>
            <a:r>
              <a:rPr lang="en-US" dirty="0"/>
              <a:t>col-6 col-sm-3</a:t>
            </a: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/div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</a:rPr>
              <a:t>&lt;</a:t>
            </a:r>
            <a:r>
              <a:rPr lang="en-US" dirty="0">
                <a:solidFill>
                  <a:srgbClr val="A52A2A"/>
                </a:solidFill>
              </a:rPr>
              <a:t>/div</a:t>
            </a:r>
            <a:r>
              <a:rPr lang="en-US" dirty="0">
                <a:solidFill>
                  <a:srgbClr val="0000CD"/>
                </a:solidFill>
              </a:rPr>
              <a:t>&gt;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045908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1196752"/>
            <a:ext cx="8742468" cy="4680520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Framework: bootstrap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24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0812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dirty="0" smtClean="0"/>
              <a:t>More info on bootstrap:</a:t>
            </a:r>
          </a:p>
          <a:p>
            <a:pPr lvl="1"/>
            <a:r>
              <a:rPr lang="nl-BE" dirty="0">
                <a:hlinkClick r:id="rId2"/>
              </a:rPr>
              <a:t>https://getbootstrap.com/docs/4.0/getting-started/introduction</a:t>
            </a:r>
            <a:r>
              <a:rPr lang="nl-BE" dirty="0" smtClean="0">
                <a:hlinkClick r:id="rId2"/>
              </a:rPr>
              <a:t>/</a:t>
            </a:r>
            <a:endParaRPr lang="nl-BE" dirty="0" smtClean="0"/>
          </a:p>
          <a:p>
            <a:pPr lvl="1"/>
            <a:endParaRPr lang="nl-BE" dirty="0"/>
          </a:p>
          <a:p>
            <a:r>
              <a:rPr lang="nl-BE" dirty="0" err="1" smtClean="0"/>
              <a:t>tutorials</a:t>
            </a:r>
            <a:r>
              <a:rPr lang="nl-BE" dirty="0" smtClean="0"/>
              <a:t>:</a:t>
            </a:r>
          </a:p>
          <a:p>
            <a:pPr lvl="1"/>
            <a:r>
              <a:rPr lang="nl-BE" sz="2400" dirty="0" smtClean="0">
                <a:hlinkClick r:id="rId3"/>
              </a:rPr>
              <a:t>https</a:t>
            </a:r>
            <a:r>
              <a:rPr lang="nl-BE" sz="2400" dirty="0">
                <a:hlinkClick r:id="rId3"/>
              </a:rPr>
              <a:t>://</a:t>
            </a:r>
            <a:r>
              <a:rPr lang="nl-BE" sz="2400" dirty="0" smtClean="0">
                <a:hlinkClick r:id="rId3"/>
              </a:rPr>
              <a:t>www.tutorialspoint.com/bootstrap/index.htm</a:t>
            </a:r>
            <a:endParaRPr lang="nl-BE" sz="2400" dirty="0" smtClean="0"/>
          </a:p>
          <a:p>
            <a:pPr lvl="1"/>
            <a:r>
              <a:rPr lang="nl-BE" sz="2400" dirty="0" smtClean="0">
                <a:hlinkClick r:id="rId4"/>
              </a:rPr>
              <a:t>https</a:t>
            </a:r>
            <a:r>
              <a:rPr lang="nl-BE" sz="2400" dirty="0">
                <a:hlinkClick r:id="rId4"/>
              </a:rPr>
              <a:t>://</a:t>
            </a:r>
            <a:r>
              <a:rPr lang="nl-BE" sz="2400" dirty="0" smtClean="0">
                <a:hlinkClick r:id="rId4"/>
              </a:rPr>
              <a:t>www.w3schools.com/bootstrap/default.asp</a:t>
            </a:r>
            <a:endParaRPr lang="nl-BE" sz="2400" dirty="0" smtClean="0"/>
          </a:p>
          <a:p>
            <a:pPr lvl="1"/>
            <a:endParaRPr lang="nl-BE" dirty="0"/>
          </a:p>
          <a:p>
            <a:endParaRPr lang="nl-B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Bootstrap: info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25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5125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ijdelijke aanduiding voor inhoud 7"/>
          <p:cNvGraphicFramePr>
            <a:graphicFrameLocks noGrp="1"/>
          </p:cNvGraphicFramePr>
          <p:nvPr>
            <p:ph idx="1"/>
            <p:extLst/>
          </p:nvPr>
        </p:nvGraphicFramePr>
        <p:xfrm>
          <a:off x="206835" y="974143"/>
          <a:ext cx="6228224" cy="4903129"/>
        </p:xfrm>
        <a:graphic>
          <a:graphicData uri="http://schemas.openxmlformats.org/drawingml/2006/table">
            <a:tbl>
              <a:tblPr/>
              <a:tblGrid>
                <a:gridCol w="1718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0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232">
                <a:tc>
                  <a:txBody>
                    <a:bodyPr/>
                    <a:lstStyle/>
                    <a:p>
                      <a:r>
                        <a:rPr lang="nl-BE" sz="1800" dirty="0">
                          <a:solidFill>
                            <a:schemeClr val="bg1"/>
                          </a:solidFill>
                          <a:effectLst/>
                        </a:rPr>
                        <a:t>Class</a:t>
                      </a:r>
                    </a:p>
                  </a:txBody>
                  <a:tcPr marL="70278" marR="70278" marT="35139" marB="35139"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800" dirty="0" err="1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nl-BE" sz="1800" dirty="0">
                        <a:solidFill>
                          <a:schemeClr val="bg1"/>
                        </a:solidFill>
                      </a:endParaRPr>
                    </a:p>
                  </a:txBody>
                  <a:tcPr marL="70278" marR="70278" marT="35139" marB="35139"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0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232"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rgbClr val="000000"/>
                          </a:solidFill>
                        </a:rPr>
                        <a:t>w3-half</a:t>
                      </a:r>
                    </a:p>
                  </a:txBody>
                  <a:tcPr marL="70278" marR="70278" marT="35139" marB="35139"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Occupies 1/2 of the window (on medium and large screens)</a:t>
                      </a:r>
                    </a:p>
                  </a:txBody>
                  <a:tcPr marL="70278" marR="70278" marT="35139" marB="35139"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232"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rgbClr val="000000"/>
                          </a:solidFill>
                        </a:rPr>
                        <a:t>w3-third</a:t>
                      </a:r>
                    </a:p>
                  </a:txBody>
                  <a:tcPr marL="70278" marR="70278" marT="35139" marB="35139"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Occupies 1/3 of the window (on medium and large screens)</a:t>
                      </a:r>
                    </a:p>
                  </a:txBody>
                  <a:tcPr marL="70278" marR="70278" marT="35139" marB="35139"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23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nl-BE" sz="14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w3-twothird</a:t>
                      </a:r>
                    </a:p>
                  </a:txBody>
                  <a:tcPr marL="70278" marR="70278" marT="35139" marB="35139"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Occupies 2/3 of the window (on medium and large screens)</a:t>
                      </a:r>
                    </a:p>
                  </a:txBody>
                  <a:tcPr marL="70278" marR="70278" marT="35139" marB="35139"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232">
                <a:tc>
                  <a:txBody>
                    <a:bodyPr/>
                    <a:lstStyle/>
                    <a:p>
                      <a:r>
                        <a:rPr lang="nl-BE" sz="1400">
                          <a:solidFill>
                            <a:srgbClr val="000000"/>
                          </a:solidFill>
                        </a:rPr>
                        <a:t>w3-quarter</a:t>
                      </a:r>
                    </a:p>
                  </a:txBody>
                  <a:tcPr marL="70278" marR="70278" marT="35139" marB="35139"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Occupies 1/4 of the window (on medium and large screens)</a:t>
                      </a:r>
                    </a:p>
                  </a:txBody>
                  <a:tcPr marL="70278" marR="70278" marT="35139" marB="35139"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23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nl-BE" sz="14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w3-threequarter</a:t>
                      </a:r>
                    </a:p>
                  </a:txBody>
                  <a:tcPr marL="70278" marR="70278" marT="35139" marB="35139"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Occupies 3/4 of the window (on medium and large screens)</a:t>
                      </a:r>
                    </a:p>
                  </a:txBody>
                  <a:tcPr marL="70278" marR="70278" marT="35139" marB="35139"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232">
                <a:tc>
                  <a:txBody>
                    <a:bodyPr/>
                    <a:lstStyle/>
                    <a:p>
                      <a:r>
                        <a:rPr lang="nl-BE" sz="1400">
                          <a:solidFill>
                            <a:srgbClr val="000000"/>
                          </a:solidFill>
                        </a:rPr>
                        <a:t>w3-rest</a:t>
                      </a:r>
                    </a:p>
                  </a:txBody>
                  <a:tcPr marL="70278" marR="70278" marT="35139" marB="35139"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Occupies the rest of the column width</a:t>
                      </a:r>
                    </a:p>
                  </a:txBody>
                  <a:tcPr marL="70278" marR="70278" marT="35139" marB="35139"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99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nl-BE" sz="14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w3-col</a:t>
                      </a:r>
                    </a:p>
                  </a:txBody>
                  <a:tcPr marL="70278" marR="70278" marT="35139" marB="35139"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Defines one column in a 12-column responsive grid</a:t>
                      </a:r>
                    </a:p>
                  </a:txBody>
                  <a:tcPr marL="70278" marR="70278" marT="35139" marB="35139"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70682">
                <a:tc>
                  <a:txBody>
                    <a:bodyPr/>
                    <a:lstStyle/>
                    <a:p>
                      <a:r>
                        <a:rPr lang="nl-BE" sz="1400">
                          <a:solidFill>
                            <a:srgbClr val="000000"/>
                          </a:solidFill>
                        </a:rPr>
                        <a:t>w3-mobile</a:t>
                      </a:r>
                    </a:p>
                  </a:txBody>
                  <a:tcPr marL="70278" marR="70278" marT="35139" marB="35139"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Adds mobile-first responsiveness to a cell (column</a:t>
                      </a:r>
                      <a:r>
                        <a:rPr lang="en-US" sz="1400" dirty="0" smtClean="0">
                          <a:solidFill>
                            <a:srgbClr val="000000"/>
                          </a:solidFill>
                        </a:rPr>
                        <a:t>). Displays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elements as block elements on mobile devices.</a:t>
                      </a:r>
                    </a:p>
                  </a:txBody>
                  <a:tcPr marL="70278" marR="70278" marT="35139" marB="35139" anchor="ctr">
                    <a:lnL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Framework: w3.css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26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188640"/>
            <a:ext cx="2817507" cy="3227824"/>
          </a:xfrm>
          <a:prstGeom prst="rect">
            <a:avLst/>
          </a:prstGeom>
        </p:spPr>
      </p:pic>
      <p:sp>
        <p:nvSpPr>
          <p:cNvPr id="2" name="Tekstvak 1"/>
          <p:cNvSpPr txBox="1"/>
          <p:nvPr/>
        </p:nvSpPr>
        <p:spPr>
          <a:xfrm>
            <a:off x="7236296" y="4365104"/>
            <a:ext cx="116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smtClean="0">
                <a:hlinkClick r:id="rId3"/>
              </a:rPr>
              <a:t>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33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M_presentatie_eng">
  <a:themeElements>
    <a:clrScheme name="Lessius">
      <a:dk1>
        <a:srgbClr val="003C72"/>
      </a:dk1>
      <a:lt1>
        <a:srgbClr val="FFFFFF"/>
      </a:lt1>
      <a:dk2>
        <a:srgbClr val="003C72"/>
      </a:dk2>
      <a:lt2>
        <a:srgbClr val="FFFFFF"/>
      </a:lt2>
      <a:accent1>
        <a:srgbClr val="00A9E5"/>
      </a:accent1>
      <a:accent2>
        <a:srgbClr val="67CBEF"/>
      </a:accent2>
      <a:accent3>
        <a:srgbClr val="CCEEFA"/>
      </a:accent3>
      <a:accent4>
        <a:srgbClr val="406D96"/>
      </a:accent4>
      <a:accent5>
        <a:srgbClr val="7F9DB9"/>
      </a:accent5>
      <a:accent6>
        <a:srgbClr val="BECEDD"/>
      </a:accent6>
      <a:hlink>
        <a:srgbClr val="118EFF"/>
      </a:hlink>
      <a:folHlink>
        <a:srgbClr val="7030A0"/>
      </a:folHlink>
    </a:clrScheme>
    <a:fontScheme name="Lessiu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_presentatie" id="{D2EAC29B-01B7-40FD-8A4F-4E7A64B06768}" vid="{EECA68F5-A7C3-4820-B6D5-696F87D1BD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C_aanvullingen</Template>
  <TotalTime>13927</TotalTime>
  <Words>1792</Words>
  <Application>Microsoft Office PowerPoint</Application>
  <PresentationFormat>Diavoorstelling (4:3)</PresentationFormat>
  <Paragraphs>297</Paragraphs>
  <Slides>26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Consolas</vt:lpstr>
      <vt:lpstr>Trebuchet MS</vt:lpstr>
      <vt:lpstr>Verdana</vt:lpstr>
      <vt:lpstr>TM_presentatie_eng</vt:lpstr>
      <vt:lpstr>Responsive design</vt:lpstr>
      <vt:lpstr>what?</vt:lpstr>
      <vt:lpstr>Default browser reaction</vt:lpstr>
      <vt:lpstr>viewport</vt:lpstr>
      <vt:lpstr> No viewport        viewport</vt:lpstr>
      <vt:lpstr>Css media Queries</vt:lpstr>
      <vt:lpstr>Css media Queries</vt:lpstr>
      <vt:lpstr>Css media queries</vt:lpstr>
      <vt:lpstr>Css media queries</vt:lpstr>
      <vt:lpstr>CSS Media queries</vt:lpstr>
      <vt:lpstr>Grid based layout</vt:lpstr>
      <vt:lpstr>Responsive grid</vt:lpstr>
      <vt:lpstr>Responsive grid</vt:lpstr>
      <vt:lpstr>Combine with media queries</vt:lpstr>
      <vt:lpstr>Combine with media queries</vt:lpstr>
      <vt:lpstr>Combine with media queries</vt:lpstr>
      <vt:lpstr>Framework: bootstrap</vt:lpstr>
      <vt:lpstr>Installation</vt:lpstr>
      <vt:lpstr>Page setup</vt:lpstr>
      <vt:lpstr>container</vt:lpstr>
      <vt:lpstr>Framework: bootstrap</vt:lpstr>
      <vt:lpstr>Framework: bootstrap</vt:lpstr>
      <vt:lpstr>Framework: bootstrap</vt:lpstr>
      <vt:lpstr>Framework: bootstrap</vt:lpstr>
      <vt:lpstr>Bootstrap: info</vt:lpstr>
      <vt:lpstr>Framework: w3.css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Aanvullingen basis C</dc:title>
  <dc:creator>Sofie Beerens</dc:creator>
  <cp:lastModifiedBy>Sofie Beerens</cp:lastModifiedBy>
  <cp:revision>453</cp:revision>
  <dcterms:created xsi:type="dcterms:W3CDTF">2014-10-29T14:20:18Z</dcterms:created>
  <dcterms:modified xsi:type="dcterms:W3CDTF">2021-03-03T19:36:46Z</dcterms:modified>
</cp:coreProperties>
</file>