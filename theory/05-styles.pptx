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5" r:id="rId3"/>
    <p:sldId id="266" r:id="rId4"/>
    <p:sldId id="267" r:id="rId5"/>
    <p:sldId id="268" r:id="rId6"/>
    <p:sldId id="257" r:id="rId7"/>
    <p:sldId id="258" r:id="rId8"/>
    <p:sldId id="259" r:id="rId9"/>
    <p:sldId id="260" r:id="rId10"/>
    <p:sldId id="264" r:id="rId11"/>
    <p:sldId id="271" r:id="rId12"/>
    <p:sldId id="261" r:id="rId13"/>
    <p:sldId id="262" r:id="rId14"/>
    <p:sldId id="269" r:id="rId15"/>
    <p:sldId id="270" r:id="rId16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fie Beerens" initials="SB" lastIdx="1" clrIdx="0">
    <p:extLst>
      <p:ext uri="{19B8F6BF-5375-455C-9EA6-DF929625EA0E}">
        <p15:presenceInfo xmlns:p15="http://schemas.microsoft.com/office/powerpoint/2012/main" userId="Sofie Beeren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C4B2F"/>
    <a:srgbClr val="00A0AE"/>
    <a:srgbClr val="000000"/>
    <a:srgbClr val="E1E7E7"/>
    <a:srgbClr val="4B2B4B"/>
    <a:srgbClr val="50C6DD"/>
    <a:srgbClr val="D1CAD2"/>
    <a:srgbClr val="B7A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3936" autoAdjust="0"/>
  </p:normalViewPr>
  <p:slideViewPr>
    <p:cSldViewPr showGuides="1">
      <p:cViewPr varScale="1">
        <p:scale>
          <a:sx n="104" d="100"/>
          <a:sy n="104" d="100"/>
        </p:scale>
        <p:origin x="972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-2022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r">
              <a:defRPr sz="1200"/>
            </a:lvl1pPr>
          </a:lstStyle>
          <a:p>
            <a:fld id="{7F1A4A96-82D9-489B-915B-218BDB102403}" type="datetimeFigureOut">
              <a:rPr lang="nl-BE" smtClean="0"/>
              <a:pPr/>
              <a:t>12/03/2026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r">
              <a:defRPr sz="1200"/>
            </a:lvl1pPr>
          </a:lstStyle>
          <a:p>
            <a:fld id="{0D17EFB8-940B-4475-A4F4-BBE959E16336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1363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r">
              <a:defRPr sz="1200"/>
            </a:lvl1pPr>
          </a:lstStyle>
          <a:p>
            <a:fld id="{D1925427-6E8A-463A-9752-7D22F5CAF14A}" type="datetimeFigureOut">
              <a:rPr lang="nl-BE" smtClean="0"/>
              <a:pPr/>
              <a:t>12/03/2026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1" tIns="46586" rIns="93171" bIns="46586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1" tIns="46586" rIns="93171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r">
              <a:defRPr sz="1200"/>
            </a:lvl1pPr>
          </a:lstStyle>
          <a:p>
            <a:fld id="{89ED9555-764A-4B78-873A-3D7406AAEA2B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58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40199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753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779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9248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66116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570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5322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528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1B70-B39B-910F-22BA-C7F85FF48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30B7CA3-89FE-9685-351D-291ADDE3E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7A5D3BA-47E8-9909-A290-E9076C5A7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41BFC6-29E1-E323-9084-FF1B25555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8120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E2AD-0678-E322-EF96-480FAFDA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5C5DD2C-F430-1B0D-5F08-23707AD2D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9AB7932-7547-D280-4A9A-A411E7DE1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F18E9C3-8F4F-9D98-7495-E23317B9D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66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GUI design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1" name="Picture 10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4" name="Picture 13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material.io/design/color/the-color-system.html#color-theme-cre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ial.io/design/introduc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developer.android.com/design/material/index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pple.com/design/human-interface-guideline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apple.com/documentation/uiki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icrosoft.com/en-us/windows/apps/desig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krevol.com/blogs/android-vs-ios-app-key-differenc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guidelines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GUI design – Sofie Beerens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set of rules for UI elements and interactions in a Web or Mobile App</a:t>
            </a:r>
          </a:p>
          <a:p>
            <a:r>
              <a:rPr lang="en-US" dirty="0"/>
              <a:t>ensuring product consistency across different design teams, companies, and brands</a:t>
            </a:r>
          </a:p>
          <a:p>
            <a:r>
              <a:rPr lang="en-US" dirty="0"/>
              <a:t>a series of guidelines to help designers set the typography, UI elements and interactions, in the same way, all the time.</a:t>
            </a:r>
          </a:p>
          <a:p>
            <a:r>
              <a:rPr lang="en-US" dirty="0"/>
              <a:t>essential to keep the same visual design style all the time.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What</a:t>
            </a:r>
            <a:r>
              <a:rPr lang="nl-BE" dirty="0"/>
              <a:t>?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3871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3491880" cy="476989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fonts: 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en-US" dirty="0"/>
              <a:t>all variations of the Font Family within the App, such as the used Font Style, usage situations, Font sizes, </a:t>
            </a:r>
            <a:r>
              <a:rPr lang="en-US" dirty="0" err="1"/>
              <a:t>etc</a:t>
            </a:r>
            <a:br>
              <a:rPr lang="en-US" dirty="0"/>
            </a:br>
            <a:endParaRPr lang="en-US" dirty="0"/>
          </a:p>
          <a:p>
            <a:pPr>
              <a:lnSpc>
                <a:spcPct val="120000"/>
              </a:lnSpc>
            </a:pPr>
            <a:r>
              <a:rPr lang="nl-BE" dirty="0" err="1"/>
              <a:t>color</a:t>
            </a:r>
            <a:r>
              <a:rPr lang="nl-BE" dirty="0"/>
              <a:t> </a:t>
            </a:r>
            <a:r>
              <a:rPr lang="nl-BE" dirty="0" err="1"/>
              <a:t>palettes</a:t>
            </a:r>
            <a:r>
              <a:rPr lang="nl-BE" dirty="0"/>
              <a:t>: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nl-BE" dirty="0"/>
              <a:t>for </a:t>
            </a:r>
            <a:r>
              <a:rPr lang="nl-BE" dirty="0" err="1"/>
              <a:t>every</a:t>
            </a:r>
            <a:r>
              <a:rPr lang="nl-BE" dirty="0"/>
              <a:t> </a:t>
            </a:r>
            <a:r>
              <a:rPr lang="nl-BE" dirty="0" err="1"/>
              <a:t>possible</a:t>
            </a:r>
            <a:r>
              <a:rPr lang="nl-BE" dirty="0"/>
              <a:t> UI </a:t>
            </a:r>
            <a:r>
              <a:rPr lang="nl-BE" dirty="0" err="1"/>
              <a:t>theme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7" name="Afbeelding 6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980728"/>
            <a:ext cx="5465076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3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6989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layouts: 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en-US" dirty="0"/>
              <a:t>distributions, columns, bars, space management</a:t>
            </a:r>
          </a:p>
          <a:p>
            <a:pPr>
              <a:lnSpc>
                <a:spcPct val="120000"/>
              </a:lnSpc>
            </a:pPr>
            <a:r>
              <a:rPr lang="nl-BE" dirty="0" err="1"/>
              <a:t>graphics</a:t>
            </a:r>
            <a:r>
              <a:rPr lang="nl-BE" dirty="0"/>
              <a:t>: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nl-BE" dirty="0" err="1"/>
              <a:t>Icons</a:t>
            </a:r>
            <a:r>
              <a:rPr lang="nl-BE" dirty="0"/>
              <a:t>, </a:t>
            </a:r>
            <a:r>
              <a:rPr lang="nl-BE" dirty="0" err="1"/>
              <a:t>charts</a:t>
            </a:r>
            <a:r>
              <a:rPr lang="nl-BE" dirty="0"/>
              <a:t>, </a:t>
            </a:r>
            <a:r>
              <a:rPr lang="nl-BE" dirty="0" err="1"/>
              <a:t>animations</a:t>
            </a:r>
            <a:endParaRPr lang="nl-BE" dirty="0"/>
          </a:p>
          <a:p>
            <a:pPr>
              <a:lnSpc>
                <a:spcPct val="120000"/>
              </a:lnSpc>
            </a:pPr>
            <a:r>
              <a:rPr lang="nl-BE" dirty="0" err="1"/>
              <a:t>menus</a:t>
            </a:r>
            <a:r>
              <a:rPr lang="nl-BE" dirty="0"/>
              <a:t> and bars: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types of menus and navigation bars (tab bars, top bars, hamburger menus, ...)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specify usage of different kinds of menus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does it look like with one element, what happens if it hits 30 items, etc.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3450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6989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Dialogs, alerts and popups: </a:t>
            </a:r>
          </a:p>
          <a:p>
            <a:pPr marL="355600" lvl="1" indent="0">
              <a:lnSpc>
                <a:spcPct val="120000"/>
              </a:lnSpc>
              <a:buNone/>
            </a:pPr>
            <a:r>
              <a:rPr lang="en-US" dirty="0"/>
              <a:t>may vary over different platforms</a:t>
            </a:r>
          </a:p>
          <a:p>
            <a:pPr>
              <a:lnSpc>
                <a:spcPct val="120000"/>
              </a:lnSpc>
            </a:pPr>
            <a:r>
              <a:rPr lang="nl-BE" dirty="0" err="1"/>
              <a:t>Components</a:t>
            </a:r>
            <a:r>
              <a:rPr lang="nl-BE" dirty="0"/>
              <a:t> like:</a:t>
            </a:r>
          </a:p>
          <a:p>
            <a:pPr lvl="1">
              <a:lnSpc>
                <a:spcPct val="120000"/>
              </a:lnSpc>
            </a:pPr>
            <a:r>
              <a:rPr lang="nl-BE" dirty="0"/>
              <a:t>buttons</a:t>
            </a:r>
          </a:p>
          <a:p>
            <a:pPr lvl="1">
              <a:lnSpc>
                <a:spcPct val="120000"/>
              </a:lnSpc>
            </a:pPr>
            <a:r>
              <a:rPr lang="nl-BE" dirty="0"/>
              <a:t>slider</a:t>
            </a:r>
          </a:p>
          <a:p>
            <a:pPr lvl="1">
              <a:lnSpc>
                <a:spcPct val="120000"/>
              </a:lnSpc>
            </a:pPr>
            <a:r>
              <a:rPr lang="nl-BE" dirty="0" err="1"/>
              <a:t>dropdown</a:t>
            </a:r>
            <a:endParaRPr lang="nl-BE" dirty="0"/>
          </a:p>
          <a:p>
            <a:pPr lvl="1">
              <a:lnSpc>
                <a:spcPct val="120000"/>
              </a:lnSpc>
            </a:pPr>
            <a:r>
              <a:rPr lang="nl-BE" dirty="0" err="1"/>
              <a:t>checkbox</a:t>
            </a:r>
            <a:endParaRPr lang="nl-BE" dirty="0"/>
          </a:p>
          <a:p>
            <a:pPr lvl="1">
              <a:lnSpc>
                <a:spcPct val="120000"/>
              </a:lnSpc>
            </a:pPr>
            <a:r>
              <a:rPr lang="nl-BE" dirty="0" err="1"/>
              <a:t>text</a:t>
            </a:r>
            <a:r>
              <a:rPr lang="nl-BE" dirty="0"/>
              <a:t> field</a:t>
            </a:r>
          </a:p>
          <a:p>
            <a:pPr lvl="1">
              <a:lnSpc>
                <a:spcPct val="120000"/>
              </a:lnSpc>
            </a:pPr>
            <a:r>
              <a:rPr lang="nl-BE" dirty="0" err="1"/>
              <a:t>tables</a:t>
            </a:r>
            <a:endParaRPr lang="nl-BE" dirty="0"/>
          </a:p>
          <a:p>
            <a:pPr lvl="1">
              <a:lnSpc>
                <a:spcPct val="120000"/>
              </a:lnSpc>
            </a:pPr>
            <a:r>
              <a:rPr lang="nl-BE" dirty="0"/>
              <a:t>…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9491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>
                <a:hlinkClick r:id="rId3"/>
              </a:rPr>
              <a:t>general</a:t>
            </a:r>
            <a:r>
              <a:rPr lang="nl-BE" dirty="0">
                <a:hlinkClick r:id="rId3"/>
              </a:rPr>
              <a:t> </a:t>
            </a:r>
            <a:r>
              <a:rPr lang="nl-BE" dirty="0" err="1">
                <a:hlinkClick r:id="rId3"/>
              </a:rPr>
              <a:t>guidelines</a:t>
            </a:r>
            <a:endParaRPr lang="nl-BE" dirty="0"/>
          </a:p>
          <a:p>
            <a:r>
              <a:rPr lang="nl-BE" dirty="0" err="1"/>
              <a:t>Used</a:t>
            </a:r>
            <a:r>
              <a:rPr lang="nl-BE" dirty="0"/>
              <a:t> for </a:t>
            </a:r>
            <a:r>
              <a:rPr lang="nl-BE" dirty="0">
                <a:hlinkClick r:id="rId4"/>
              </a:rPr>
              <a:t>android</a:t>
            </a:r>
            <a:endParaRPr lang="nl-BE" dirty="0"/>
          </a:p>
          <a:p>
            <a:r>
              <a:rPr lang="nl-BE" dirty="0"/>
              <a:t>Flat Design 2.0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Material design (google)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168" y="1340768"/>
            <a:ext cx="2479676" cy="432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2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>
                <a:hlinkClick r:id="rId3"/>
              </a:rPr>
              <a:t>General </a:t>
            </a:r>
            <a:r>
              <a:rPr lang="nl-BE" dirty="0" err="1">
                <a:hlinkClick r:id="rId3"/>
              </a:rPr>
              <a:t>guidelines</a:t>
            </a:r>
            <a:endParaRPr lang="nl-BE" dirty="0"/>
          </a:p>
          <a:p>
            <a:r>
              <a:rPr lang="nl-BE" dirty="0">
                <a:hlinkClick r:id="rId4"/>
              </a:rPr>
              <a:t>UIKit</a:t>
            </a:r>
            <a:endParaRPr lang="nl-BE" dirty="0"/>
          </a:p>
          <a:p>
            <a:r>
              <a:rPr lang="nl-BE" dirty="0"/>
              <a:t>Apple devices:</a:t>
            </a:r>
          </a:p>
          <a:p>
            <a:pPr lvl="1"/>
            <a:r>
              <a:rPr lang="nl-BE" dirty="0"/>
              <a:t>Mac</a:t>
            </a:r>
          </a:p>
          <a:p>
            <a:pPr lvl="1"/>
            <a:r>
              <a:rPr lang="nl-BE" dirty="0" err="1"/>
              <a:t>Iphone</a:t>
            </a:r>
            <a:endParaRPr lang="nl-BE" dirty="0"/>
          </a:p>
          <a:p>
            <a:pPr lvl="1"/>
            <a:r>
              <a:rPr lang="nl-BE" dirty="0" err="1"/>
              <a:t>Ipad</a:t>
            </a:r>
            <a:endParaRPr lang="nl-BE" dirty="0"/>
          </a:p>
          <a:p>
            <a:pPr lvl="1"/>
            <a:r>
              <a:rPr lang="nl-BE" dirty="0"/>
              <a:t>Apple Watch</a:t>
            </a:r>
          </a:p>
          <a:p>
            <a:pPr lvl="1"/>
            <a:r>
              <a:rPr lang="nl-BE" dirty="0"/>
              <a:t>…</a:t>
            </a:r>
          </a:p>
          <a:p>
            <a:r>
              <a:rPr lang="nl-BE" dirty="0"/>
              <a:t>Flat Design (iOS7) -&gt; Flat Design 2.0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iOS design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37711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 err="1">
                <a:hlinkClick r:id="rId3"/>
              </a:rPr>
              <a:t>Guidelines</a:t>
            </a:r>
            <a:endParaRPr lang="nl-BE" dirty="0"/>
          </a:p>
          <a:p>
            <a:r>
              <a:rPr lang="nl-BE" dirty="0"/>
              <a:t>On </a:t>
            </a:r>
            <a:r>
              <a:rPr lang="nl-BE" dirty="0" err="1"/>
              <a:t>windows</a:t>
            </a:r>
            <a:r>
              <a:rPr lang="nl-BE" dirty="0"/>
              <a:t> 10 </a:t>
            </a:r>
            <a:r>
              <a:rPr lang="nl-BE" dirty="0" err="1"/>
              <a:t>based</a:t>
            </a:r>
            <a:r>
              <a:rPr lang="nl-BE" dirty="0"/>
              <a:t> devices:</a:t>
            </a:r>
          </a:p>
          <a:p>
            <a:pPr lvl="1"/>
            <a:r>
              <a:rPr lang="nl-BE" dirty="0"/>
              <a:t>PC, laptop</a:t>
            </a:r>
          </a:p>
          <a:p>
            <a:pPr lvl="1"/>
            <a:r>
              <a:rPr lang="nl-BE" dirty="0"/>
              <a:t>Tablets and 2-in-1</a:t>
            </a:r>
          </a:p>
          <a:p>
            <a:pPr lvl="1"/>
            <a:r>
              <a:rPr lang="nl-BE" dirty="0"/>
              <a:t>Phone</a:t>
            </a:r>
          </a:p>
          <a:p>
            <a:pPr lvl="1"/>
            <a:r>
              <a:rPr lang="nl-BE" dirty="0"/>
              <a:t>phablet</a:t>
            </a:r>
          </a:p>
          <a:p>
            <a:pPr lvl="1"/>
            <a:r>
              <a:rPr lang="nl-BE" dirty="0"/>
              <a:t>Xbox</a:t>
            </a:r>
          </a:p>
          <a:p>
            <a:pPr lvl="1"/>
            <a:r>
              <a:rPr lang="nl-BE" dirty="0"/>
              <a:t>TV</a:t>
            </a:r>
          </a:p>
          <a:p>
            <a:pPr lvl="1"/>
            <a:r>
              <a:rPr lang="nl-BE" dirty="0" err="1"/>
              <a:t>IoT</a:t>
            </a:r>
            <a:r>
              <a:rPr lang="nl-BE" dirty="0"/>
              <a:t> devices</a:t>
            </a:r>
          </a:p>
          <a:p>
            <a:r>
              <a:rPr lang="nl-BE" dirty="0"/>
              <a:t>Flat 2.0</a:t>
            </a:r>
          </a:p>
          <a:p>
            <a:pPr lvl="1"/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Universal </a:t>
            </a:r>
            <a:r>
              <a:rPr lang="nl-BE" dirty="0" err="1"/>
              <a:t>windows</a:t>
            </a:r>
            <a:r>
              <a:rPr lang="nl-BE" dirty="0"/>
              <a:t> platform (</a:t>
            </a:r>
            <a:r>
              <a:rPr lang="nl-BE" dirty="0" err="1"/>
              <a:t>uwp</a:t>
            </a:r>
            <a:r>
              <a:rPr lang="nl-BE" dirty="0"/>
              <a:t>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54303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ijdelijke aanduiding voor inhoud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567822"/>
              </p:ext>
            </p:extLst>
          </p:nvPr>
        </p:nvGraphicFramePr>
        <p:xfrm>
          <a:off x="827584" y="1484784"/>
          <a:ext cx="7605465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dirty="0"/>
                    </a:p>
                  </a:txBody>
                  <a:tcPr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android</a:t>
                      </a:r>
                    </a:p>
                  </a:txBody>
                  <a:tcPr>
                    <a:solidFill>
                      <a:srgbClr val="00A0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iOS</a:t>
                      </a:r>
                    </a:p>
                  </a:txBody>
                  <a:tcPr>
                    <a:solidFill>
                      <a:srgbClr val="00A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style</a:t>
                      </a:r>
                      <a:endParaRPr lang="nl-B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Flat 2.0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Flat / Flat 2.0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nl-BE" dirty="0"/>
                        <a:t>main </a:t>
                      </a:r>
                      <a:r>
                        <a:rPr lang="nl-BE" dirty="0" err="1"/>
                        <a:t>navigation</a:t>
                      </a:r>
                      <a:endParaRPr lang="nl-BE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dirty="0"/>
                        <a:t>hamburger top </a:t>
                      </a:r>
                      <a:r>
                        <a:rPr lang="nl-BE" dirty="0" err="1"/>
                        <a:t>left</a:t>
                      </a:r>
                      <a:endParaRPr lang="nl-BE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dirty="0" err="1"/>
                        <a:t>bottom</a:t>
                      </a:r>
                      <a:r>
                        <a:rPr lang="nl-BE" dirty="0"/>
                        <a:t> tab bar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list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nl-BE" dirty="0"/>
                        <a:t>switches</a:t>
                      </a:r>
                      <a:r>
                        <a:rPr lang="nl-BE" baseline="0" dirty="0"/>
                        <a:t> or </a:t>
                      </a:r>
                      <a:r>
                        <a:rPr lang="nl-BE" baseline="0" dirty="0" err="1"/>
                        <a:t>checkbox</a:t>
                      </a:r>
                      <a:endParaRPr lang="nl-B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nl-BE" dirty="0"/>
                        <a:t>switches or </a:t>
                      </a:r>
                      <a:r>
                        <a:rPr lang="nl-BE" dirty="0" err="1"/>
                        <a:t>checkmarks</a:t>
                      </a:r>
                      <a:endParaRPr lang="nl-B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font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 err="1"/>
                        <a:t>Roboto</a:t>
                      </a:r>
                      <a:endParaRPr lang="nl-BE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San </a:t>
                      </a:r>
                      <a:r>
                        <a:rPr lang="nl-BE" dirty="0" err="1"/>
                        <a:t>Fransisco</a:t>
                      </a:r>
                      <a:endParaRPr lang="nl-BE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 err="1"/>
                        <a:t>primary</a:t>
                      </a:r>
                      <a:r>
                        <a:rPr lang="nl-BE" dirty="0"/>
                        <a:t> button/</a:t>
                      </a:r>
                      <a:r>
                        <a:rPr lang="nl-BE" baseline="0" dirty="0"/>
                        <a:t> action</a:t>
                      </a:r>
                      <a:endParaRPr lang="nl-B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nl-BE" dirty="0" err="1"/>
                        <a:t>Floating</a:t>
                      </a:r>
                      <a:r>
                        <a:rPr lang="nl-BE" baseline="0" dirty="0"/>
                        <a:t> action button, right </a:t>
                      </a:r>
                      <a:r>
                        <a:rPr lang="nl-BE" baseline="0" dirty="0" err="1"/>
                        <a:t>bottom</a:t>
                      </a:r>
                      <a:br>
                        <a:rPr lang="nl-BE" baseline="0" dirty="0"/>
                      </a:br>
                      <a:r>
                        <a:rPr lang="nl-BE" baseline="0" dirty="0"/>
                        <a:t>(</a:t>
                      </a:r>
                      <a:r>
                        <a:rPr lang="nl-BE" baseline="0"/>
                        <a:t>shadow</a:t>
                      </a:r>
                      <a:r>
                        <a:rPr lang="nl-BE" baseline="0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Flat</a:t>
                      </a:r>
                      <a:r>
                        <a:rPr lang="nl-BE" baseline="0" dirty="0"/>
                        <a:t> </a:t>
                      </a:r>
                      <a:r>
                        <a:rPr lang="nl-BE" baseline="0" dirty="0" err="1"/>
                        <a:t>style</a:t>
                      </a:r>
                      <a:r>
                        <a:rPr lang="nl-BE" baseline="0" dirty="0"/>
                        <a:t> icon top right</a:t>
                      </a:r>
                    </a:p>
                    <a:p>
                      <a:endParaRPr lang="nl-B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Android versus </a:t>
            </a:r>
            <a:r>
              <a:rPr lang="nl-BE" dirty="0" err="1"/>
              <a:t>ios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4D352EF5-3E74-D794-2EDE-78069106E5B2}"/>
              </a:ext>
            </a:extLst>
          </p:cNvPr>
          <p:cNvSpPr txBox="1"/>
          <p:nvPr/>
        </p:nvSpPr>
        <p:spPr>
          <a:xfrm>
            <a:off x="481210" y="4841647"/>
            <a:ext cx="829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3"/>
              </a:rPr>
              <a:t>https://www.tekrevol.com/blogs/android-vs-ios-app-key-differences/</a:t>
            </a:r>
            <a:r>
              <a:rPr lang="nl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162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00" y="1271886"/>
            <a:ext cx="3937620" cy="2625080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Android versus </a:t>
            </a:r>
            <a:r>
              <a:rPr lang="nl-BE" dirty="0" err="1"/>
              <a:t>ios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7" name="Tijdelijke aanduiding voor inhoud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12776"/>
            <a:ext cx="4032448" cy="2016224"/>
          </a:xfr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04" y="3557902"/>
            <a:ext cx="5145264" cy="2058106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4556684"/>
            <a:ext cx="5296620" cy="211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9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E786214-D917-5789-1BA6-2A918769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Android versus iOS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843EFA-E1C7-9F4F-6C3C-C19B8D5B4C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6D0DB73-2806-7D20-2810-370534C3D5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1026" name="Picture 2" descr="Android vs iOS App Design Difference between iOS and Android Expand">
            <a:extLst>
              <a:ext uri="{FF2B5EF4-FFF2-40B4-BE49-F238E27FC236}">
                <a16:creationId xmlns:a16="http://schemas.microsoft.com/office/drawing/2014/main" id="{109A1D8C-DB45-1DFA-C272-03F03FD6C8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96" y="1257234"/>
            <a:ext cx="8136904" cy="546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083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9847" y="1556792"/>
            <a:ext cx="2370025" cy="4290432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Evernote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19" y="1556792"/>
            <a:ext cx="2421333" cy="4290432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1691680" y="1195094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EC4B2F"/>
                </a:solidFill>
              </a:rPr>
              <a:t>Android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6258617" y="117310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EC4B2F"/>
                </a:solidFill>
              </a:rPr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086974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4436" y="1535084"/>
            <a:ext cx="2517352" cy="4427538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Callendar</a:t>
            </a:r>
            <a:r>
              <a:rPr lang="en-US" dirty="0"/>
              <a:t> app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252" y="1540820"/>
            <a:ext cx="2504079" cy="4421802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195" y="1535084"/>
            <a:ext cx="2653760" cy="4420659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974342" y="1154368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EC4B2F"/>
                </a:solidFill>
              </a:rPr>
              <a:t>Android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4161781" y="1172906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EC4B2F"/>
                </a:solidFill>
              </a:rPr>
              <a:t>iOS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6869376" y="1165752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EC4B2F"/>
                </a:solidFill>
              </a:rPr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272661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35D3-5EFB-9DDE-A9F8-9DF2DCAA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85E5E52-8C6C-136F-A008-770C3183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Ios vs windows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61729E-1F6D-D311-783B-EF806A6920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6786071-2B6E-FADC-A5EB-8A3A0E2F20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12FDF1A5-883D-F3B1-28DA-3F8B4029A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303859"/>
            <a:ext cx="4464496" cy="461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5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0992-2F63-6700-F06A-C77A39CA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17DDA44-5D63-0454-09DE-B0C064BC6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Ios vs windows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97F279F-396D-8563-F680-C2EE3BE36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ACAFE4B-E0F4-38DD-5317-4F3C59FC6D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/>
              <a:t>GUI design</a:t>
            </a:r>
            <a:endParaRPr lang="nl-BE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5311D476-F98F-5E6F-24B5-71FE6F0D0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139952" cy="535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48464"/>
      </p:ext>
    </p:extLst>
  </p:cSld>
  <p:clrMapOvr>
    <a:masterClrMapping/>
  </p:clrMapOvr>
</p:sld>
</file>

<file path=ppt/theme/theme1.xml><?xml version="1.0" encoding="utf-8"?>
<a:theme xmlns:a="http://schemas.openxmlformats.org/drawingml/2006/main" name="TM_presentatie_eng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_presentatie" id="{D2EAC29B-01B7-40FD-8A4F-4E7A64B06768}" vid="{EECA68F5-A7C3-4820-B6D5-696F87D1BD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C_aanvullingen</Template>
  <TotalTime>13910</TotalTime>
  <Words>395</Words>
  <Application>Microsoft Office PowerPoint</Application>
  <PresentationFormat>Diavoorstelling (4:3)</PresentationFormat>
  <Paragraphs>126</Paragraphs>
  <Slides>15</Slides>
  <Notes>10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Verdana</vt:lpstr>
      <vt:lpstr>TM_presentatie_eng</vt:lpstr>
      <vt:lpstr>Style guidelines</vt:lpstr>
      <vt:lpstr>What?</vt:lpstr>
      <vt:lpstr>content</vt:lpstr>
      <vt:lpstr>content</vt:lpstr>
      <vt:lpstr>content</vt:lpstr>
      <vt:lpstr>Material design (google)</vt:lpstr>
      <vt:lpstr>iOS design</vt:lpstr>
      <vt:lpstr>Universal windows platform (uwp)</vt:lpstr>
      <vt:lpstr>Android versus ios</vt:lpstr>
      <vt:lpstr>Android versus ios</vt:lpstr>
      <vt:lpstr>Android versus iOS</vt:lpstr>
      <vt:lpstr>Evernote</vt:lpstr>
      <vt:lpstr>Callendar app</vt:lpstr>
      <vt:lpstr>Ios vs windows</vt:lpstr>
      <vt:lpstr>Ios vs windows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Aanvullingen basis C</dc:title>
  <dc:creator>Sofie Beerens</dc:creator>
  <cp:lastModifiedBy>Sofie Beerens</cp:lastModifiedBy>
  <cp:revision>451</cp:revision>
  <cp:lastPrinted>2019-01-16T18:38:07Z</cp:lastPrinted>
  <dcterms:created xsi:type="dcterms:W3CDTF">2014-10-29T14:20:18Z</dcterms:created>
  <dcterms:modified xsi:type="dcterms:W3CDTF">2026-03-12T13:31:28Z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2024-03-01T09:55:13Z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844e834c-3409-4630-82a0-7f0977c3787f</vt:lpwstr>
  </property>
  <property fmtid="{D5CDD505-2E9C-101B-9397-08002B2CF9AE}" pid="8" name="MSIP_Label_c337be75-dfbb-4261-9834-ac247c7dde13_ContentBits">
    <vt:lpwstr>0</vt:lpwstr>
  </property>
</Properties>
</file>