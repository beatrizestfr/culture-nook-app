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2"/>
    <p:sldId id="262" r:id="rId3"/>
    <p:sldId id="355" r:id="rId4"/>
    <p:sldId id="294" r:id="rId5"/>
    <p:sldId id="303" r:id="rId6"/>
    <p:sldId id="306" r:id="rId7"/>
    <p:sldId id="304" r:id="rId8"/>
    <p:sldId id="305" r:id="rId9"/>
    <p:sldId id="307" r:id="rId10"/>
    <p:sldId id="308" r:id="rId11"/>
    <p:sldId id="352" r:id="rId12"/>
    <p:sldId id="353" r:id="rId13"/>
    <p:sldId id="354" r:id="rId14"/>
    <p:sldId id="309" r:id="rId15"/>
    <p:sldId id="310" r:id="rId16"/>
    <p:sldId id="311" r:id="rId17"/>
    <p:sldId id="312" r:id="rId18"/>
    <p:sldId id="313" r:id="rId19"/>
    <p:sldId id="314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6" r:id="rId30"/>
    <p:sldId id="325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8" r:id="rId42"/>
    <p:sldId id="337" r:id="rId43"/>
    <p:sldId id="339" r:id="rId44"/>
    <p:sldId id="340" r:id="rId45"/>
    <p:sldId id="341" r:id="rId46"/>
    <p:sldId id="342" r:id="rId47"/>
    <p:sldId id="343" r:id="rId48"/>
    <p:sldId id="351" r:id="rId49"/>
    <p:sldId id="344" r:id="rId50"/>
    <p:sldId id="345" r:id="rId51"/>
    <p:sldId id="346" r:id="rId52"/>
    <p:sldId id="347" r:id="rId53"/>
    <p:sldId id="357" r:id="rId54"/>
    <p:sldId id="358" r:id="rId55"/>
    <p:sldId id="359" r:id="rId56"/>
    <p:sldId id="360" r:id="rId57"/>
    <p:sldId id="361" r:id="rId58"/>
    <p:sldId id="362" r:id="rId59"/>
    <p:sldId id="356" r:id="rId60"/>
    <p:sldId id="363" r:id="rId61"/>
  </p:sldIdLst>
  <p:sldSz cx="9144000" cy="6858000" type="screen4x3"/>
  <p:notesSz cx="7010400" cy="9296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fie Beerens" initials="SB" lastIdx="1" clrIdx="0">
    <p:extLst>
      <p:ext uri="{19B8F6BF-5375-455C-9EA6-DF929625EA0E}">
        <p15:presenceInfo xmlns:p15="http://schemas.microsoft.com/office/powerpoint/2012/main" userId="Sofie Beeren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C4B2F"/>
    <a:srgbClr val="00A0AE"/>
    <a:srgbClr val="E1E7E7"/>
    <a:srgbClr val="4B2B4B"/>
    <a:srgbClr val="50C6DD"/>
    <a:srgbClr val="D1CAD2"/>
    <a:srgbClr val="B7A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1" autoAdjust="0"/>
    <p:restoredTop sz="94834" autoAdjust="0"/>
  </p:normalViewPr>
  <p:slideViewPr>
    <p:cSldViewPr showGuides="1">
      <p:cViewPr varScale="1">
        <p:scale>
          <a:sx n="83" d="100"/>
          <a:sy n="83" d="100"/>
        </p:scale>
        <p:origin x="148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3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-2022" y="-9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F1A4A96-82D9-489B-915B-218BDB102403}" type="datetimeFigureOut">
              <a:rPr lang="nl-BE" smtClean="0"/>
              <a:pPr/>
              <a:t>23/02/2022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17EFB8-940B-4475-A4F4-BBE959E16336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13630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1925427-6E8A-463A-9752-7D22F5CAF14A}" type="datetimeFigureOut">
              <a:rPr lang="nl-BE" smtClean="0"/>
              <a:pPr/>
              <a:t>23/02/2022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ED9555-764A-4B78-873A-3D7406AAEA2B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58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= moving content or rearranging blocks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8434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 smtClean="0"/>
              <a:t>Nielsen</a:t>
            </a:r>
            <a:r>
              <a:rPr lang="nl-BE" dirty="0" smtClean="0"/>
              <a:t> Norman Group: Combo = </a:t>
            </a:r>
            <a:r>
              <a:rPr lang="en-US" dirty="0" smtClean="0"/>
              <a:t>make a few menu items visible, hide the rest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3925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Example: finding the car with the smartwatch is useful, with a laptop it is much less useful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1603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Also handy with touch screens because you don't have to press so precisely on the right surface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109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382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Icon from 2013 contains only spheres that do not really remind you of games. Older icon was clearer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7202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Older people better recognize the structure of menus and submenus, young people recognize both, very young people are more familiar with the hamburger menu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8612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smtClean="0"/>
              <a:t>Tab stands out a bit to make it clear that we are working on this part of the application</a:t>
            </a:r>
          </a:p>
          <a:p>
            <a:pPr marL="228600" indent="-228600">
              <a:buAutoNum type="arabicPeriod"/>
            </a:pPr>
            <a:r>
              <a:rPr lang="en-US" dirty="0" smtClean="0"/>
              <a:t>Buttons are shaded so that they look like something that can be pressed</a:t>
            </a:r>
          </a:p>
          <a:p>
            <a:pPr marL="228600" indent="-228600">
              <a:buAutoNum type="arabicPeriod"/>
            </a:pPr>
            <a:r>
              <a:rPr lang="en-US" dirty="0" smtClean="0"/>
              <a:t>Input fields are deeper so they look like places to insert something into 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089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8398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5599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D9555-764A-4B78-873A-3D7406AAEA2B}" type="slidenum">
              <a:rPr lang="nl-BE" smtClean="0"/>
              <a:pPr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7040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Basic">
    <p:bg bwMode="gray">
      <p:bgPr>
        <a:solidFill>
          <a:srgbClr val="00A0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5958000"/>
            <a:ext cx="9144000" cy="90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357192"/>
            <a:ext cx="9144000" cy="1800000"/>
          </a:xfrm>
          <a:noFill/>
        </p:spPr>
        <p:txBody>
          <a:bodyPr wrap="square" lIns="720000" tIns="180000" rIns="720000" bIns="540000">
            <a:noAutofit/>
          </a:bodyPr>
          <a:lstStyle>
            <a:lvl1pPr marL="0" indent="0" algn="ctr">
              <a:buNone/>
              <a:defRPr sz="3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BE" dirty="0"/>
          </a:p>
        </p:txBody>
      </p:sp>
      <p:sp>
        <p:nvSpPr>
          <p:cNvPr id="154" name="Title 153"/>
          <p:cNvSpPr>
            <a:spLocks noGrp="1"/>
          </p:cNvSpPr>
          <p:nvPr>
            <p:ph type="title"/>
          </p:nvPr>
        </p:nvSpPr>
        <p:spPr>
          <a:xfrm>
            <a:off x="0" y="1556992"/>
            <a:ext cx="9144000" cy="1800000"/>
          </a:xfrm>
          <a:noFill/>
        </p:spPr>
        <p:txBody>
          <a:bodyPr lIns="720000" tIns="540000" rIns="720000" bIns="180000" anchor="b" anchorCtr="0">
            <a:noAutofit/>
          </a:bodyPr>
          <a:lstStyle>
            <a:lvl1pPr algn="ctr">
              <a:lnSpc>
                <a:spcPct val="90000"/>
              </a:lnSpc>
              <a:defRPr sz="3800" cap="all" baseline="0">
                <a:solidFill>
                  <a:schemeClr val="tx1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solidFill>
            <a:srgbClr val="EC4B2F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nl-BE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solidFill>
            <a:srgbClr val="00A0AE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0" name="Picture 9" descr="TM_logo_vignet_ppt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60000" y="360000"/>
            <a:ext cx="2157984" cy="1155192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3"/>
          </p:nvPr>
        </p:nvSpPr>
        <p:spPr>
          <a:xfrm>
            <a:off x="755576" y="6570000"/>
            <a:ext cx="990706" cy="200055"/>
          </a:xfrm>
          <a:solidFill>
            <a:schemeClr val="tx1"/>
          </a:solidFill>
        </p:spPr>
        <p:txBody>
          <a:bodyPr/>
          <a:lstStyle>
            <a:lvl1pPr>
              <a:defRPr sz="1300">
                <a:solidFill>
                  <a:srgbClr val="00A0AE"/>
                </a:solidFill>
              </a:defRPr>
            </a:lvl1pPr>
          </a:lstStyle>
          <a:p>
            <a:pPr algn="l"/>
            <a:endParaRPr lang="nl-BE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0" y="5661248"/>
            <a:ext cx="9144000" cy="288032"/>
          </a:xfrm>
          <a:prstGeom prst="rect">
            <a:avLst/>
          </a:prstGeom>
          <a:solidFill>
            <a:srgbClr val="00A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image_preview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632000" y="6192000"/>
            <a:ext cx="1136842" cy="4320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00A0AE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 smtClean="0"/>
              <a:t>GUI design</a:t>
            </a:r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34000"/>
          </a:xfrm>
        </p:spPr>
        <p:txBody>
          <a:bodyPr bIns="144000" numCol="2" spcCol="360000" anchor="ctr" anchorCtr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/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1" name="Picture 10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|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4428000" cy="1097992"/>
          </a:xfrm>
        </p:spPr>
        <p:txBody>
          <a:bodyPr lIns="252000" tIns="252000" rIns="0" bIns="0" anchor="t" anchorCtr="0">
            <a:no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0" y="2285992"/>
            <a:ext cx="4428000" cy="3600000"/>
          </a:xfrm>
        </p:spPr>
        <p:txBody>
          <a:bodyPr lIns="252000" tIns="0" rIns="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6032" y="1152000"/>
            <a:ext cx="4428000" cy="1097992"/>
          </a:xfrm>
        </p:spPr>
        <p:txBody>
          <a:bodyPr lIns="0" tIns="252000" rIns="252000" bIns="0" anchor="t" anchorCtr="0">
            <a:normAutofit/>
          </a:bodyPr>
          <a:lstStyle>
            <a:lvl1pPr marL="0" indent="0">
              <a:buNone/>
              <a:defRPr sz="2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6032" y="2285992"/>
            <a:ext cx="4428000" cy="3600000"/>
          </a:xfrm>
        </p:spPr>
        <p:txBody>
          <a:bodyPr lIns="0" tIns="0" rIns="252000"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4" name="Picture 13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Pictur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7620" y="1152000"/>
            <a:ext cx="5072098" cy="4734000"/>
          </a:xfrm>
        </p:spPr>
        <p:txBody>
          <a:bodyPr lIns="0" rIns="0" bIns="144000"/>
          <a:lstStyle>
            <a:lvl2pPr algn="l">
              <a:defRPr/>
            </a:lvl2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>
                <a:solidFill>
                  <a:srgbClr val="50C6DD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nl-BE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180000" y="1141200"/>
            <a:ext cx="8748000" cy="0"/>
          </a:xfrm>
          <a:prstGeom prst="line">
            <a:avLst/>
          </a:prstGeom>
          <a:ln w="6350">
            <a:solidFill>
              <a:srgbClr val="4B2B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87"/>
          <p:cNvSpPr>
            <a:spLocks noGrp="1"/>
          </p:cNvSpPr>
          <p:nvPr>
            <p:ph type="pic" sz="quarter" idx="10"/>
          </p:nvPr>
        </p:nvSpPr>
        <p:spPr>
          <a:xfrm>
            <a:off x="180000" y="1152000"/>
            <a:ext cx="3428992" cy="4734000"/>
          </a:xfrm>
        </p:spPr>
        <p:txBody>
          <a:bodyPr>
            <a:normAutofit/>
          </a:bodyPr>
          <a:lstStyle>
            <a:lvl1pPr>
              <a:buNone/>
              <a:defRPr sz="1000"/>
            </a:lvl1pPr>
          </a:lstStyle>
          <a:p>
            <a:r>
              <a:rPr lang="nl-NL" smtClean="0"/>
              <a:t>Klik op het pictogram als u een afbeelding wilt toevoegen</a:t>
            </a:r>
            <a:endParaRPr lang="nl-BE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2" name="Picture 11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>
            <a:lvl1pPr>
              <a:buClrTx/>
              <a:defRPr>
                <a:solidFill>
                  <a:srgbClr val="000000"/>
                </a:solidFill>
              </a:defRPr>
            </a:lvl1pPr>
            <a:lvl2pPr>
              <a:buClrTx/>
              <a:defRPr>
                <a:solidFill>
                  <a:srgbClr val="000000"/>
                </a:solidFill>
              </a:defRPr>
            </a:lvl2pPr>
            <a:lvl3pPr>
              <a:buClrTx/>
              <a:defRPr>
                <a:solidFill>
                  <a:srgbClr val="000000"/>
                </a:solidFill>
              </a:defRPr>
            </a:lvl3pPr>
            <a:lvl4pPr>
              <a:buClrTx/>
              <a:defRPr>
                <a:solidFill>
                  <a:srgbClr val="000000"/>
                </a:solidFill>
              </a:defRPr>
            </a:lvl4pPr>
            <a:lvl5pPr>
              <a:buClrTx/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1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endParaRPr lang="nl-BE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5929313"/>
          </a:xfrm>
        </p:spPr>
        <p:txBody>
          <a:bodyPr/>
          <a:lstStyle/>
          <a:p>
            <a:r>
              <a:rPr lang="nl-NL" smtClean="0"/>
              <a:t>Klik op het pictogram als u een afbeelding wilt toevoegen</a:t>
            </a:r>
            <a:endParaRPr lang="nl-BE"/>
          </a:p>
        </p:txBody>
      </p:sp>
      <p:pic>
        <p:nvPicPr>
          <p:cNvPr id="9" name="Picture 8" descr="tm_rgb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958024"/>
            <a:ext cx="9144000" cy="900000"/>
          </a:xfrm>
          <a:prstGeom prst="rect">
            <a:avLst/>
          </a:prstGeom>
          <a:solidFill>
            <a:srgbClr val="EC4B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8000" rIns="0" bIns="18000" rtlCol="0" anchor="ctr"/>
          <a:lstStyle/>
          <a:p>
            <a:pPr algn="ctr"/>
            <a:endParaRPr lang="nl-BE" sz="1100" dirty="0">
              <a:solidFill>
                <a:schemeClr val="bg1"/>
              </a:solidFill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0" y="6084000"/>
            <a:ext cx="1980000" cy="43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5576" y="6084000"/>
            <a:ext cx="4032424" cy="432000"/>
          </a:xfrm>
          <a:prstGeom prst="rect">
            <a:avLst/>
          </a:prstGeom>
          <a:solidFill>
            <a:schemeClr val="bg1"/>
          </a:solidFill>
        </p:spPr>
        <p:txBody>
          <a:bodyPr wrap="square" lIns="144000" tIns="0" rIns="144000" bIns="0" anchor="ctr" anchorCtr="0">
            <a:noAutofit/>
          </a:bodyPr>
          <a:lstStyle>
            <a:lvl1pPr algn="l">
              <a:lnSpc>
                <a:spcPct val="90000"/>
              </a:lnSpc>
              <a:defRPr sz="1500">
                <a:solidFill>
                  <a:srgbClr val="00A0AE"/>
                </a:solidFill>
                <a:latin typeface="Trebuchet MS" pitchFamily="34" charset="0"/>
              </a:defRPr>
            </a:lvl1pPr>
          </a:lstStyle>
          <a:p>
            <a:endParaRPr lang="nl-BE" dirty="0"/>
          </a:p>
        </p:txBody>
      </p:sp>
      <p:sp>
        <p:nvSpPr>
          <p:cNvPr id="86" name="Slide Number Placeholder 85"/>
          <p:cNvSpPr>
            <a:spLocks noGrp="1"/>
          </p:cNvSpPr>
          <p:nvPr>
            <p:ph type="sldNum" sz="quarter" idx="4"/>
          </p:nvPr>
        </p:nvSpPr>
        <p:spPr>
          <a:xfrm>
            <a:off x="360000" y="6084000"/>
            <a:ext cx="360000" cy="667148"/>
          </a:xfrm>
          <a:prstGeom prst="rect">
            <a:avLst/>
          </a:prstGeom>
          <a:solidFill>
            <a:srgbClr val="00A0AE"/>
          </a:solidFill>
        </p:spPr>
        <p:txBody>
          <a:bodyPr vert="horz" wrap="none" lIns="0" tIns="108000" rIns="0" bIns="0" rtlCol="0" anchor="ctr" anchorCtr="0">
            <a:noAutofit/>
          </a:bodyPr>
          <a:lstStyle>
            <a:lvl1pPr algn="ctr">
              <a:defRPr sz="2000" b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2984"/>
          </a:xfrm>
          <a:prstGeom prst="rect">
            <a:avLst/>
          </a:prstGeom>
          <a:ln w="0">
            <a:noFill/>
          </a:ln>
        </p:spPr>
        <p:txBody>
          <a:bodyPr vert="horz" lIns="360000" tIns="180000" rIns="360000" bIns="144000" rtlCol="0" anchor="ctr">
            <a:noAutofit/>
          </a:bodyPr>
          <a:lstStyle/>
          <a:p>
            <a:r>
              <a:rPr lang="nl-NL" smtClean="0"/>
              <a:t>Klik om de stijl te bewerken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152000"/>
            <a:ext cx="9144000" cy="4428000"/>
          </a:xfrm>
          <a:prstGeom prst="rect">
            <a:avLst/>
          </a:prstGeom>
        </p:spPr>
        <p:txBody>
          <a:bodyPr vert="horz" lIns="432000" tIns="252000" rIns="432000" bIns="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80" name="Date Placeholder 3"/>
          <p:cNvSpPr>
            <a:spLocks noGrp="1"/>
          </p:cNvSpPr>
          <p:nvPr>
            <p:ph type="dt" sz="half" idx="2"/>
          </p:nvPr>
        </p:nvSpPr>
        <p:spPr>
          <a:xfrm>
            <a:off x="755576" y="6570000"/>
            <a:ext cx="990706" cy="200055"/>
          </a:xfrm>
          <a:prstGeom prst="rect">
            <a:avLst/>
          </a:prstGeom>
          <a:solidFill>
            <a:srgbClr val="EC4B2F"/>
          </a:solidFill>
        </p:spPr>
        <p:txBody>
          <a:bodyPr wrap="none" lIns="108000" tIns="0" rIns="0" bIns="0" anchor="b" anchorCtr="0">
            <a:spAutoFit/>
          </a:bodyPr>
          <a:lstStyle>
            <a:lvl1pPr algn="r">
              <a:defRPr sz="130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algn="l"/>
            <a:endParaRPr lang="nl-BE" dirty="0"/>
          </a:p>
        </p:txBody>
      </p:sp>
      <p:pic>
        <p:nvPicPr>
          <p:cNvPr id="9" name="Picture 8" descr="tm_rgb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236296" y="5976000"/>
            <a:ext cx="1652016" cy="86258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78" r:id="rId3"/>
    <p:sldLayoutId id="2147483653" r:id="rId4"/>
    <p:sldLayoutId id="2147483679" r:id="rId5"/>
    <p:sldLayoutId id="2147483688" r:id="rId6"/>
    <p:sldLayoutId id="2147483687" r:id="rId7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 cap="all" baseline="0">
          <a:solidFill>
            <a:srgbClr val="EC4B2F"/>
          </a:solidFill>
          <a:latin typeface="Trebuchet MS" pitchFamily="34" charset="0"/>
          <a:ea typeface="+mj-ea"/>
          <a:cs typeface="+mj-cs"/>
        </a:defRPr>
      </a:lvl1pPr>
    </p:titleStyle>
    <p:bodyStyle>
      <a:lvl1pPr marL="355600" indent="-3556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SzPct val="90000"/>
        <a:buFont typeface="Verdana" pitchFamily="34" charset="0"/>
        <a:buChar char="•"/>
        <a:defRPr sz="30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1pPr>
      <a:lvl2pPr marL="723900" indent="-36830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−"/>
        <a:defRPr sz="27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2pPr>
      <a:lvl3pPr marL="982663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•"/>
        <a:defRPr sz="24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3pPr>
      <a:lvl4pPr marL="1255713" indent="-273050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Tx/>
        <a:buFont typeface="Arial" pitchFamily="34" charset="0"/>
        <a:buChar char="»"/>
        <a:defRPr sz="2100" kern="1200">
          <a:solidFill>
            <a:srgbClr val="000000"/>
          </a:solidFill>
          <a:latin typeface="Trebuchet MS" pitchFamily="34" charset="0"/>
          <a:ea typeface="+mn-ea"/>
          <a:cs typeface="+mn-cs"/>
        </a:defRPr>
      </a:lvl4pPr>
      <a:lvl5pPr marL="1609725" indent="-258763" algn="l" defTabSz="914400" rtl="0" eaLnBrk="1" latinLnBrk="0" hangingPunct="1">
        <a:lnSpc>
          <a:spcPct val="90000"/>
        </a:lnSpc>
        <a:spcBef>
          <a:spcPts val="400"/>
        </a:spcBef>
        <a:spcAft>
          <a:spcPts val="400"/>
        </a:spcAft>
        <a:buClr>
          <a:schemeClr val="tx1"/>
        </a:buClr>
        <a:buFont typeface="Arial" pitchFamily="34" charset="0"/>
        <a:buNone/>
        <a:defRPr sz="2000" kern="120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UI trends</a:t>
            </a:r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 smtClean="0"/>
              <a:t>GUI design – Sofie Beerens</a:t>
            </a:r>
            <a:endParaRPr lang="nl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</a:t>
            </a:fld>
            <a:endParaRPr lang="nl-B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Design methodologies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navigation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icons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Flat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Card </a:t>
            </a:r>
            <a:r>
              <a:rPr lang="en-US" noProof="0" dirty="0" smtClean="0"/>
              <a:t>layout</a:t>
            </a:r>
          </a:p>
          <a:p>
            <a:pPr marL="514350" indent="-514350">
              <a:buFont typeface="+mj-lt"/>
              <a:buAutoNum type="arabicPeriod"/>
            </a:pPr>
            <a:r>
              <a:rPr lang="nl-BE" dirty="0" smtClean="0"/>
              <a:t>AI</a:t>
            </a:r>
            <a:endParaRPr lang="en-US" noProof="0" dirty="0" smtClean="0"/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overview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2"/>
          </p:nvPr>
        </p:nvSpPr>
        <p:spPr>
          <a:xfrm>
            <a:off x="755576" y="6084000"/>
            <a:ext cx="4032424" cy="432000"/>
          </a:xfrm>
        </p:spPr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96362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Responsive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Mobile first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Journey driven design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 smtClean="0"/>
              <a:t>Offline First design</a:t>
            </a:r>
          </a:p>
          <a:p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1. Design methodologies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7" name="Tijdelijke aanduiding voor voettekst 4"/>
          <p:cNvSpPr>
            <a:spLocks noGrp="1"/>
          </p:cNvSpPr>
          <p:nvPr>
            <p:ph type="ftr" sz="quarter" idx="12"/>
          </p:nvPr>
        </p:nvSpPr>
        <p:spPr>
          <a:xfrm>
            <a:off x="755576" y="6084000"/>
            <a:ext cx="4032424" cy="432000"/>
          </a:xfrm>
        </p:spPr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6886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/>
          </a:bodyPr>
          <a:lstStyle/>
          <a:p>
            <a:r>
              <a:rPr lang="en-US" dirty="0"/>
              <a:t>display the </a:t>
            </a:r>
            <a:r>
              <a:rPr lang="en-US" b="1" dirty="0"/>
              <a:t>same</a:t>
            </a:r>
            <a:r>
              <a:rPr lang="en-US" dirty="0"/>
              <a:t> content and functionality on screens of different sizes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1.1 Responsive design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Gerelateerde afbeeldi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636912"/>
            <a:ext cx="5671185" cy="2886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32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very small display</a:t>
            </a:r>
            <a:endParaRPr lang="en-US" sz="300" noProof="0" dirty="0" smtClean="0"/>
          </a:p>
          <a:p>
            <a:pPr lvl="1">
              <a:lnSpc>
                <a:spcPct val="120000"/>
              </a:lnSpc>
            </a:pPr>
            <a:r>
              <a:rPr lang="en-US" dirty="0"/>
              <a:t>If all information is placed </a:t>
            </a:r>
            <a:r>
              <a:rPr lang="en-US" dirty="0" smtClean="0"/>
              <a:t>below </a:t>
            </a:r>
            <a:br>
              <a:rPr lang="en-US" dirty="0" smtClean="0"/>
            </a:br>
            <a:r>
              <a:rPr lang="en-US" dirty="0" smtClean="0"/>
              <a:t>one </a:t>
            </a:r>
            <a:r>
              <a:rPr lang="en-US" dirty="0"/>
              <a:t>another=&gt;</a:t>
            </a:r>
            <a:r>
              <a:rPr lang="en-US" dirty="0" smtClean="0"/>
              <a:t>scroll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Navigation </a:t>
            </a:r>
            <a:r>
              <a:rPr lang="en-US" dirty="0"/>
              <a:t>structures </a:t>
            </a:r>
            <a:r>
              <a:rPr lang="en-US" dirty="0" smtClean="0"/>
              <a:t>sometimes </a:t>
            </a:r>
            <a:br>
              <a:rPr lang="en-US" dirty="0" smtClean="0"/>
            </a:br>
            <a:r>
              <a:rPr lang="en-US" dirty="0" smtClean="0"/>
              <a:t>difficult </a:t>
            </a:r>
            <a:r>
              <a:rPr lang="en-US" dirty="0"/>
              <a:t>to </a:t>
            </a:r>
            <a:r>
              <a:rPr lang="en-US" dirty="0" smtClean="0"/>
              <a:t>display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Tables </a:t>
            </a:r>
            <a:r>
              <a:rPr lang="en-US" dirty="0"/>
              <a:t>become too </a:t>
            </a:r>
            <a:r>
              <a:rPr lang="en-US" dirty="0" smtClean="0"/>
              <a:t>small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No hover</a:t>
            </a:r>
          </a:p>
          <a:p>
            <a:pPr lvl="1">
              <a:lnSpc>
                <a:spcPct val="120000"/>
              </a:lnSpc>
            </a:pPr>
            <a:r>
              <a:rPr lang="en-US" dirty="0" smtClean="0"/>
              <a:t>…</a:t>
            </a:r>
            <a:endParaRPr lang="en-US" noProof="0" dirty="0" smtClean="0"/>
          </a:p>
          <a:p>
            <a:pPr lvl="1"/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Present information differently / </a:t>
            </a:r>
            <a:r>
              <a:rPr lang="en-US" dirty="0" smtClean="0"/>
              <a:t>filter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</a:t>
            </a:r>
            <a:r>
              <a:rPr lang="en-US" dirty="0" smtClean="0"/>
              <a:t>Time-consuming </a:t>
            </a:r>
            <a:r>
              <a:rPr lang="en-US" dirty="0"/>
              <a:t>extra </a:t>
            </a:r>
            <a:r>
              <a:rPr lang="en-US" dirty="0" smtClean="0"/>
              <a:t>step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Start </a:t>
            </a:r>
            <a:r>
              <a:rPr lang="en-US" dirty="0"/>
              <a:t>from the smallest screen</a:t>
            </a:r>
            <a:endParaRPr lang="en-US" noProof="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Mobile?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293" y="116632"/>
            <a:ext cx="3920403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1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1.2 Mobile first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8" name="Tijdelijke aanduiding voor inhoud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871" y="1377726"/>
            <a:ext cx="6580259" cy="4427538"/>
          </a:xfrm>
        </p:spPr>
      </p:pic>
    </p:spTree>
    <p:extLst>
      <p:ext uri="{BB962C8B-B14F-4D97-AF65-F5344CB8AC3E}">
        <p14:creationId xmlns:p14="http://schemas.microsoft.com/office/powerpoint/2010/main" val="278297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UI with constraints of </a:t>
            </a:r>
            <a:r>
              <a:rPr lang="en-US" dirty="0" smtClean="0"/>
              <a:t>mobile:</a:t>
            </a:r>
            <a:endParaRPr lang="en-US" noProof="0" dirty="0" smtClean="0"/>
          </a:p>
          <a:p>
            <a:pPr lvl="1"/>
            <a:r>
              <a:rPr lang="en-US" dirty="0" smtClean="0"/>
              <a:t>only </a:t>
            </a:r>
            <a:r>
              <a:rPr lang="en-US" dirty="0"/>
              <a:t>display important </a:t>
            </a:r>
            <a:r>
              <a:rPr lang="en-US" dirty="0" smtClean="0"/>
              <a:t>things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ontent </a:t>
            </a:r>
            <a:r>
              <a:rPr lang="en-US" dirty="0"/>
              <a:t>more important than </a:t>
            </a:r>
            <a:r>
              <a:rPr lang="en-US" dirty="0" smtClean="0"/>
              <a:t>layout</a:t>
            </a:r>
          </a:p>
          <a:p>
            <a:pPr lvl="1"/>
            <a:r>
              <a:rPr lang="en-US" dirty="0" smtClean="0"/>
              <a:t>frequently </a:t>
            </a:r>
            <a:r>
              <a:rPr lang="en-US" dirty="0"/>
              <a:t>or quickly used items =&gt; quickly </a:t>
            </a:r>
            <a:r>
              <a:rPr lang="en-US" dirty="0" smtClean="0"/>
              <a:t>available</a:t>
            </a:r>
          </a:p>
          <a:p>
            <a:pPr lvl="1"/>
            <a:r>
              <a:rPr lang="en-US" dirty="0" smtClean="0"/>
              <a:t>other </a:t>
            </a:r>
            <a:r>
              <a:rPr lang="en-US" dirty="0"/>
              <a:t>things =&gt; further </a:t>
            </a:r>
            <a:r>
              <a:rPr lang="en-US" dirty="0" smtClean="0"/>
              <a:t>away</a:t>
            </a:r>
          </a:p>
          <a:p>
            <a:pPr lvl="1"/>
            <a:r>
              <a:rPr lang="en-US" dirty="0" smtClean="0"/>
              <a:t>lack </a:t>
            </a:r>
            <a:r>
              <a:rPr lang="en-US" dirty="0"/>
              <a:t>of space =&gt; information is placed several levels deep =&gt; more clicks needed, but if they are clear it is not a problem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Mobile first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67821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+ Redundant (screen filling) content is removed 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   (</a:t>
            </a:r>
            <a:r>
              <a:rPr lang="en-US" dirty="0"/>
              <a:t>e.g.: welcome message, </a:t>
            </a:r>
            <a:r>
              <a:rPr lang="en-US" dirty="0" smtClean="0"/>
              <a:t>...)</a:t>
            </a:r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Downloading of content must be </a:t>
            </a:r>
            <a:r>
              <a:rPr lang="en-US" dirty="0" smtClean="0"/>
              <a:t>faster</a:t>
            </a:r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Improved mobile </a:t>
            </a:r>
            <a:r>
              <a:rPr lang="en-US" dirty="0" smtClean="0"/>
              <a:t>UX</a:t>
            </a:r>
            <a:br>
              <a:rPr lang="en-US" dirty="0" smtClean="0"/>
            </a:br>
            <a:endParaRPr lang="en-US" noProof="0" dirty="0" smtClean="0"/>
          </a:p>
          <a:p>
            <a:pPr>
              <a:buFontTx/>
              <a:buChar char="-"/>
            </a:pPr>
            <a:r>
              <a:rPr lang="en-US" dirty="0"/>
              <a:t>Design choices for mobile do not always work on a larger screen: </a:t>
            </a:r>
            <a:r>
              <a:rPr lang="en-US" dirty="0" smtClean="0"/>
              <a:t>e.g. hamburger menu</a:t>
            </a:r>
          </a:p>
          <a:p>
            <a:pPr>
              <a:buFontTx/>
              <a:buChar char="-"/>
            </a:pPr>
            <a:r>
              <a:rPr lang="en-US" dirty="0" smtClean="0"/>
              <a:t>Often </a:t>
            </a:r>
            <a:r>
              <a:rPr lang="en-US" dirty="0"/>
              <a:t>leads to poorer UX on desktop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Mobile first</a:t>
            </a:r>
            <a:r>
              <a:rPr lang="en-US" dirty="0"/>
              <a:t>: pros / 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8067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4428000"/>
          </a:xfrm>
        </p:spPr>
        <p:txBody>
          <a:bodyPr/>
          <a:lstStyle/>
          <a:p>
            <a:r>
              <a:rPr lang="en-US" dirty="0"/>
              <a:t>Navigation takes up a lot of space =&gt; hide under hamburger menu icon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Hamburger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 descr="Afbeeldingsresultaat voor hamburger menu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7884368" y="205732"/>
            <a:ext cx="731520" cy="7315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ep 8"/>
          <p:cNvGrpSpPr/>
          <p:nvPr/>
        </p:nvGrpSpPr>
        <p:grpSpPr>
          <a:xfrm>
            <a:off x="467544" y="2374394"/>
            <a:ext cx="8280920" cy="3286854"/>
            <a:chOff x="0" y="0"/>
            <a:chExt cx="5631180" cy="1821180"/>
          </a:xfrm>
        </p:grpSpPr>
        <p:pic>
          <p:nvPicPr>
            <p:cNvPr id="10" name="Afbeelding 9" descr="Bar chart showing discoverability differences between hidden, combo, and visible navigation conditions. Hidden navigation again scored the lowest, with combo again the winner. Details in the text following.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769870" cy="1821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Afbeelding 10" descr="Bar chart showing hidden navigation is slowest to use compared with the combo or visible navigation on both desktop and mobile. .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360" y="0"/>
              <a:ext cx="2750820" cy="180848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7107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 smtClean="0"/>
              <a:t>IoT</a:t>
            </a:r>
            <a:r>
              <a:rPr lang="en-US" noProof="0" dirty="0" smtClean="0"/>
              <a:t> </a:t>
            </a:r>
            <a:r>
              <a:rPr lang="en-US" dirty="0"/>
              <a:t>=&gt; user interactions on laptop, phone,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     tablet</a:t>
            </a:r>
            <a:r>
              <a:rPr lang="en-US" dirty="0"/>
              <a:t>, TV, smart watch, fridge, ...</a:t>
            </a:r>
            <a:endParaRPr lang="en-US" noProof="0" dirty="0" smtClean="0"/>
          </a:p>
          <a:p>
            <a:r>
              <a:rPr lang="en-US" noProof="0" dirty="0" smtClean="0"/>
              <a:t>Start from the “user journey”:</a:t>
            </a:r>
          </a:p>
          <a:p>
            <a:pPr lvl="1"/>
            <a:r>
              <a:rPr lang="en-US" dirty="0"/>
              <a:t>What functionality is most important on the different devices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Learn </a:t>
            </a:r>
            <a:r>
              <a:rPr lang="en-US" dirty="0"/>
              <a:t>from the user which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tasks </a:t>
            </a:r>
            <a:r>
              <a:rPr lang="en-US" dirty="0"/>
              <a:t>should be highlighted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on </a:t>
            </a:r>
            <a:r>
              <a:rPr lang="en-US" dirty="0"/>
              <a:t>each device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1.3 Journey driven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Apple watch on a wrist, helping someone find their car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789040"/>
            <a:ext cx="3527688" cy="2016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071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smtClean="0"/>
              <a:t>Progressive Web App = web application that behaves as a native app</a:t>
            </a:r>
          </a:p>
          <a:p>
            <a:endParaRPr lang="en-US" sz="1000" noProof="0" dirty="0" smtClean="0"/>
          </a:p>
          <a:p>
            <a:r>
              <a:rPr lang="en-US" noProof="0" dirty="0" smtClean="0"/>
              <a:t>Traditional web app: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1.4 Offline first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1132215" y="3213492"/>
            <a:ext cx="7184201" cy="2770495"/>
            <a:chOff x="574490" y="2944070"/>
            <a:chExt cx="7184201" cy="2770495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2308452" y="4874843"/>
              <a:ext cx="1308026" cy="839722"/>
              <a:chOff x="1850" y="1293"/>
              <a:chExt cx="3814" cy="3027"/>
            </a:xfrm>
          </p:grpSpPr>
          <p:sp>
            <p:nvSpPr>
              <p:cNvPr id="2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1850" y="1293"/>
                <a:ext cx="3814" cy="302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2979 w 21600"/>
                  <a:gd name="T13" fmla="*/ 3265 h 21600"/>
                  <a:gd name="T14" fmla="*/ 17089 w 21600"/>
                  <a:gd name="T15" fmla="*/ 1733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0" y="8613"/>
                      <a:pt x="0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5" y="13940"/>
                      <a:pt x="475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300"/>
                      <a:pt x="6247" y="20300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7"/>
                      <a:pt x="11036" y="21597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7"/>
                      <a:pt x="15802" y="18947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0"/>
                      <a:pt x="16758" y="0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0"/>
                      <a:pt x="13174" y="0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50"/>
                      <a:pt x="9358" y="650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2"/>
                      <a:pt x="5288" y="1972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lnTo>
                      <a:pt x="1949" y="7180"/>
                    </a:ln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10"/>
                      <a:pt x="2172" y="13110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gradFill rotWithShape="1">
                <a:gsLst>
                  <a:gs pos="0">
                    <a:srgbClr val="969696"/>
                  </a:gs>
                  <a:gs pos="100000">
                    <a:srgbClr val="FFFFFF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nl-NL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nl-BE"/>
              </a:p>
            </p:txBody>
          </p:sp>
          <p:sp>
            <p:nvSpPr>
              <p:cNvPr id="26" name="Text Box 8"/>
              <p:cNvSpPr txBox="1">
                <a:spLocks noChangeArrowheads="1"/>
              </p:cNvSpPr>
              <p:nvPr/>
            </p:nvSpPr>
            <p:spPr bwMode="auto">
              <a:xfrm>
                <a:off x="2450" y="1971"/>
                <a:ext cx="2120" cy="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nl-NL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GB" sz="1200" dirty="0">
                    <a:latin typeface="Arial" charset="0"/>
                  </a:rPr>
                  <a:t>Internet</a:t>
                </a:r>
              </a:p>
            </p:txBody>
          </p:sp>
        </p:grpSp>
        <p:grpSp>
          <p:nvGrpSpPr>
            <p:cNvPr id="8" name="Groep 7"/>
            <p:cNvGrpSpPr/>
            <p:nvPr/>
          </p:nvGrpSpPr>
          <p:grpSpPr>
            <a:xfrm>
              <a:off x="574490" y="3034988"/>
              <a:ext cx="1441420" cy="1429077"/>
              <a:chOff x="574490" y="3304412"/>
              <a:chExt cx="1441420" cy="1429077"/>
            </a:xfrm>
          </p:grpSpPr>
          <p:sp>
            <p:nvSpPr>
              <p:cNvPr id="22" name="computr3"/>
              <p:cNvSpPr>
                <a:spLocks noEditPoints="1" noChangeArrowheads="1"/>
              </p:cNvSpPr>
              <p:nvPr/>
            </p:nvSpPr>
            <p:spPr bwMode="auto">
              <a:xfrm>
                <a:off x="784224" y="3590427"/>
                <a:ext cx="1021953" cy="803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7794 w 21600"/>
                  <a:gd name="T13" fmla="*/ 2578 h 21600"/>
                  <a:gd name="T14" fmla="*/ 16357 w 21600"/>
                  <a:gd name="T15" fmla="*/ 1177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 extrusionOk="0">
                    <a:moveTo>
                      <a:pt x="18250" y="17743"/>
                    </a:moveTo>
                    <a:lnTo>
                      <a:pt x="17557" y="16971"/>
                    </a:lnTo>
                    <a:lnTo>
                      <a:pt x="5429" y="16971"/>
                    </a:lnTo>
                    <a:lnTo>
                      <a:pt x="4736" y="17743"/>
                    </a:lnTo>
                    <a:lnTo>
                      <a:pt x="18250" y="17743"/>
                    </a:lnTo>
                    <a:close/>
                  </a:path>
                  <a:path w="21600" h="21600" extrusionOk="0">
                    <a:moveTo>
                      <a:pt x="18250" y="17743"/>
                    </a:moveTo>
                    <a:moveTo>
                      <a:pt x="19405" y="19131"/>
                    </a:moveTo>
                    <a:lnTo>
                      <a:pt x="18712" y="18360"/>
                    </a:lnTo>
                    <a:lnTo>
                      <a:pt x="4274" y="18360"/>
                    </a:lnTo>
                    <a:lnTo>
                      <a:pt x="3581" y="19131"/>
                    </a:lnTo>
                    <a:lnTo>
                      <a:pt x="19405" y="19131"/>
                    </a:lnTo>
                    <a:close/>
                  </a:path>
                  <a:path w="21600" h="21600" extrusionOk="0">
                    <a:moveTo>
                      <a:pt x="19405" y="19131"/>
                    </a:moveTo>
                    <a:moveTo>
                      <a:pt x="20560" y="20520"/>
                    </a:moveTo>
                    <a:lnTo>
                      <a:pt x="19867" y="19749"/>
                    </a:lnTo>
                    <a:lnTo>
                      <a:pt x="3119" y="19749"/>
                    </a:lnTo>
                    <a:lnTo>
                      <a:pt x="2426" y="20520"/>
                    </a:lnTo>
                    <a:lnTo>
                      <a:pt x="20560" y="20520"/>
                    </a:lnTo>
                    <a:close/>
                  </a:path>
                  <a:path w="21600" h="21600" extrusionOk="0">
                    <a:moveTo>
                      <a:pt x="20560" y="20520"/>
                    </a:moveTo>
                    <a:moveTo>
                      <a:pt x="4620" y="16971"/>
                    </a:moveTo>
                    <a:lnTo>
                      <a:pt x="5313" y="16200"/>
                    </a:lnTo>
                    <a:lnTo>
                      <a:pt x="7624" y="16200"/>
                    </a:lnTo>
                    <a:lnTo>
                      <a:pt x="7624" y="14194"/>
                    </a:lnTo>
                    <a:lnTo>
                      <a:pt x="5891" y="14194"/>
                    </a:lnTo>
                    <a:lnTo>
                      <a:pt x="5891" y="0"/>
                    </a:lnTo>
                    <a:lnTo>
                      <a:pt x="12013" y="0"/>
                    </a:lnTo>
                    <a:lnTo>
                      <a:pt x="18135" y="0"/>
                    </a:lnTo>
                    <a:lnTo>
                      <a:pt x="18135" y="10800"/>
                    </a:lnTo>
                    <a:lnTo>
                      <a:pt x="18135" y="14194"/>
                    </a:lnTo>
                    <a:lnTo>
                      <a:pt x="16402" y="14194"/>
                    </a:lnTo>
                    <a:lnTo>
                      <a:pt x="16402" y="16200"/>
                    </a:lnTo>
                    <a:lnTo>
                      <a:pt x="17788" y="16200"/>
                    </a:lnTo>
                    <a:lnTo>
                      <a:pt x="19059" y="17743"/>
                    </a:lnTo>
                    <a:lnTo>
                      <a:pt x="21022" y="19903"/>
                    </a:lnTo>
                    <a:lnTo>
                      <a:pt x="21253" y="20057"/>
                    </a:lnTo>
                    <a:lnTo>
                      <a:pt x="21369" y="20366"/>
                    </a:lnTo>
                    <a:lnTo>
                      <a:pt x="21600" y="20674"/>
                    </a:lnTo>
                    <a:lnTo>
                      <a:pt x="21600" y="20829"/>
                    </a:lnTo>
                    <a:lnTo>
                      <a:pt x="21600" y="20983"/>
                    </a:lnTo>
                    <a:lnTo>
                      <a:pt x="21600" y="21137"/>
                    </a:lnTo>
                    <a:lnTo>
                      <a:pt x="21600" y="21291"/>
                    </a:lnTo>
                    <a:lnTo>
                      <a:pt x="21484" y="21446"/>
                    </a:lnTo>
                    <a:lnTo>
                      <a:pt x="21369" y="21446"/>
                    </a:lnTo>
                    <a:lnTo>
                      <a:pt x="21138" y="21600"/>
                    </a:lnTo>
                    <a:lnTo>
                      <a:pt x="21022" y="21600"/>
                    </a:lnTo>
                    <a:lnTo>
                      <a:pt x="10973" y="21600"/>
                    </a:lnTo>
                    <a:lnTo>
                      <a:pt x="2079" y="21600"/>
                    </a:lnTo>
                    <a:lnTo>
                      <a:pt x="1848" y="21600"/>
                    </a:lnTo>
                    <a:lnTo>
                      <a:pt x="1733" y="21446"/>
                    </a:lnTo>
                    <a:lnTo>
                      <a:pt x="1617" y="21446"/>
                    </a:lnTo>
                    <a:lnTo>
                      <a:pt x="1502" y="21291"/>
                    </a:lnTo>
                    <a:lnTo>
                      <a:pt x="1386" y="21291"/>
                    </a:lnTo>
                    <a:lnTo>
                      <a:pt x="1386" y="21137"/>
                    </a:lnTo>
                    <a:lnTo>
                      <a:pt x="1386" y="20983"/>
                    </a:lnTo>
                    <a:lnTo>
                      <a:pt x="1386" y="20829"/>
                    </a:lnTo>
                    <a:lnTo>
                      <a:pt x="1502" y="20674"/>
                    </a:lnTo>
                    <a:lnTo>
                      <a:pt x="1617" y="20366"/>
                    </a:lnTo>
                    <a:lnTo>
                      <a:pt x="1733" y="20057"/>
                    </a:lnTo>
                    <a:lnTo>
                      <a:pt x="1964" y="19903"/>
                    </a:lnTo>
                    <a:lnTo>
                      <a:pt x="0" y="19903"/>
                    </a:lnTo>
                    <a:lnTo>
                      <a:pt x="0" y="10800"/>
                    </a:lnTo>
                    <a:lnTo>
                      <a:pt x="0" y="2777"/>
                    </a:lnTo>
                    <a:lnTo>
                      <a:pt x="4620" y="2777"/>
                    </a:lnTo>
                    <a:lnTo>
                      <a:pt x="4620" y="16971"/>
                    </a:lnTo>
                    <a:moveTo>
                      <a:pt x="4620" y="16971"/>
                    </a:moveTo>
                    <a:moveTo>
                      <a:pt x="4620" y="16971"/>
                    </a:moveTo>
                    <a:lnTo>
                      <a:pt x="4158" y="17434"/>
                    </a:lnTo>
                    <a:lnTo>
                      <a:pt x="2541" y="19286"/>
                    </a:lnTo>
                    <a:lnTo>
                      <a:pt x="1964" y="19903"/>
                    </a:lnTo>
                    <a:lnTo>
                      <a:pt x="4620" y="16971"/>
                    </a:lnTo>
                    <a:close/>
                  </a:path>
                  <a:path w="21600" h="21600" extrusionOk="0">
                    <a:moveTo>
                      <a:pt x="7624" y="2314"/>
                    </a:moveTo>
                    <a:moveTo>
                      <a:pt x="16402" y="2314"/>
                    </a:moveTo>
                    <a:lnTo>
                      <a:pt x="16402" y="11880"/>
                    </a:lnTo>
                    <a:lnTo>
                      <a:pt x="7624" y="11880"/>
                    </a:lnTo>
                    <a:lnTo>
                      <a:pt x="7624" y="2314"/>
                    </a:lnTo>
                    <a:lnTo>
                      <a:pt x="16402" y="2314"/>
                    </a:lnTo>
                    <a:close/>
                  </a:path>
                  <a:path w="21600" h="21600" extrusionOk="0">
                    <a:moveTo>
                      <a:pt x="578" y="4011"/>
                    </a:moveTo>
                    <a:moveTo>
                      <a:pt x="4043" y="4011"/>
                    </a:moveTo>
                    <a:lnTo>
                      <a:pt x="4043" y="4320"/>
                    </a:lnTo>
                    <a:lnTo>
                      <a:pt x="578" y="4320"/>
                    </a:lnTo>
                    <a:lnTo>
                      <a:pt x="578" y="4011"/>
                    </a:lnTo>
                    <a:lnTo>
                      <a:pt x="4043" y="4011"/>
                    </a:lnTo>
                    <a:close/>
                    <a:moveTo>
                      <a:pt x="7624" y="14194"/>
                    </a:moveTo>
                    <a:lnTo>
                      <a:pt x="16402" y="14194"/>
                    </a:lnTo>
                    <a:lnTo>
                      <a:pt x="16402" y="16200"/>
                    </a:lnTo>
                    <a:lnTo>
                      <a:pt x="7624" y="16200"/>
                    </a:lnTo>
                  </a:path>
                </a:pathLst>
              </a:custGeom>
              <a:gradFill rotWithShape="1">
                <a:gsLst>
                  <a:gs pos="0">
                    <a:srgbClr val="CC3300"/>
                  </a:gs>
                  <a:gs pos="100000">
                    <a:srgbClr val="FF7C80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nl-NL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nl-BE"/>
              </a:p>
            </p:txBody>
          </p:sp>
          <p:sp>
            <p:nvSpPr>
              <p:cNvPr id="23" name="Tekstvak 22"/>
              <p:cNvSpPr txBox="1"/>
              <p:nvPr/>
            </p:nvSpPr>
            <p:spPr>
              <a:xfrm>
                <a:off x="927588" y="4364157"/>
                <a:ext cx="84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Client</a:t>
                </a:r>
                <a:endParaRPr lang="nl-BE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4" name="Tekstvak 23"/>
              <p:cNvSpPr txBox="1"/>
              <p:nvPr/>
            </p:nvSpPr>
            <p:spPr>
              <a:xfrm>
                <a:off x="574490" y="3304412"/>
                <a:ext cx="1441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Host 131.39.7.1</a:t>
                </a:r>
                <a:endParaRPr lang="nl-BE" sz="12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9" name="Groep 8"/>
            <p:cNvGrpSpPr/>
            <p:nvPr/>
          </p:nvGrpSpPr>
          <p:grpSpPr>
            <a:xfrm>
              <a:off x="2098718" y="3034988"/>
              <a:ext cx="1441420" cy="1429077"/>
              <a:chOff x="2098718" y="3304412"/>
              <a:chExt cx="1441420" cy="1429077"/>
            </a:xfrm>
          </p:grpSpPr>
          <p:sp>
            <p:nvSpPr>
              <p:cNvPr id="19" name="computr3"/>
              <p:cNvSpPr>
                <a:spLocks noEditPoints="1" noChangeArrowheads="1"/>
              </p:cNvSpPr>
              <p:nvPr/>
            </p:nvSpPr>
            <p:spPr bwMode="auto">
              <a:xfrm>
                <a:off x="2308452" y="3590427"/>
                <a:ext cx="1021953" cy="8031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7794 w 21600"/>
                  <a:gd name="T13" fmla="*/ 2578 h 21600"/>
                  <a:gd name="T14" fmla="*/ 16357 w 21600"/>
                  <a:gd name="T15" fmla="*/ 11778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 extrusionOk="0">
                    <a:moveTo>
                      <a:pt x="18250" y="17743"/>
                    </a:moveTo>
                    <a:lnTo>
                      <a:pt x="17557" y="16971"/>
                    </a:lnTo>
                    <a:lnTo>
                      <a:pt x="5429" y="16971"/>
                    </a:lnTo>
                    <a:lnTo>
                      <a:pt x="4736" y="17743"/>
                    </a:lnTo>
                    <a:lnTo>
                      <a:pt x="18250" y="17743"/>
                    </a:lnTo>
                    <a:close/>
                  </a:path>
                  <a:path w="21600" h="21600" extrusionOk="0">
                    <a:moveTo>
                      <a:pt x="18250" y="17743"/>
                    </a:moveTo>
                    <a:moveTo>
                      <a:pt x="19405" y="19131"/>
                    </a:moveTo>
                    <a:lnTo>
                      <a:pt x="18712" y="18360"/>
                    </a:lnTo>
                    <a:lnTo>
                      <a:pt x="4274" y="18360"/>
                    </a:lnTo>
                    <a:lnTo>
                      <a:pt x="3581" y="19131"/>
                    </a:lnTo>
                    <a:lnTo>
                      <a:pt x="19405" y="19131"/>
                    </a:lnTo>
                    <a:close/>
                  </a:path>
                  <a:path w="21600" h="21600" extrusionOk="0">
                    <a:moveTo>
                      <a:pt x="19405" y="19131"/>
                    </a:moveTo>
                    <a:moveTo>
                      <a:pt x="20560" y="20520"/>
                    </a:moveTo>
                    <a:lnTo>
                      <a:pt x="19867" y="19749"/>
                    </a:lnTo>
                    <a:lnTo>
                      <a:pt x="3119" y="19749"/>
                    </a:lnTo>
                    <a:lnTo>
                      <a:pt x="2426" y="20520"/>
                    </a:lnTo>
                    <a:lnTo>
                      <a:pt x="20560" y="20520"/>
                    </a:lnTo>
                    <a:close/>
                  </a:path>
                  <a:path w="21600" h="21600" extrusionOk="0">
                    <a:moveTo>
                      <a:pt x="20560" y="20520"/>
                    </a:moveTo>
                    <a:moveTo>
                      <a:pt x="4620" y="16971"/>
                    </a:moveTo>
                    <a:lnTo>
                      <a:pt x="5313" y="16200"/>
                    </a:lnTo>
                    <a:lnTo>
                      <a:pt x="7624" y="16200"/>
                    </a:lnTo>
                    <a:lnTo>
                      <a:pt x="7624" y="14194"/>
                    </a:lnTo>
                    <a:lnTo>
                      <a:pt x="5891" y="14194"/>
                    </a:lnTo>
                    <a:lnTo>
                      <a:pt x="5891" y="0"/>
                    </a:lnTo>
                    <a:lnTo>
                      <a:pt x="12013" y="0"/>
                    </a:lnTo>
                    <a:lnTo>
                      <a:pt x="18135" y="0"/>
                    </a:lnTo>
                    <a:lnTo>
                      <a:pt x="18135" y="10800"/>
                    </a:lnTo>
                    <a:lnTo>
                      <a:pt x="18135" y="14194"/>
                    </a:lnTo>
                    <a:lnTo>
                      <a:pt x="16402" y="14194"/>
                    </a:lnTo>
                    <a:lnTo>
                      <a:pt x="16402" y="16200"/>
                    </a:lnTo>
                    <a:lnTo>
                      <a:pt x="17788" y="16200"/>
                    </a:lnTo>
                    <a:lnTo>
                      <a:pt x="19059" y="17743"/>
                    </a:lnTo>
                    <a:lnTo>
                      <a:pt x="21022" y="19903"/>
                    </a:lnTo>
                    <a:lnTo>
                      <a:pt x="21253" y="20057"/>
                    </a:lnTo>
                    <a:lnTo>
                      <a:pt x="21369" y="20366"/>
                    </a:lnTo>
                    <a:lnTo>
                      <a:pt x="21600" y="20674"/>
                    </a:lnTo>
                    <a:lnTo>
                      <a:pt x="21600" y="20829"/>
                    </a:lnTo>
                    <a:lnTo>
                      <a:pt x="21600" y="20983"/>
                    </a:lnTo>
                    <a:lnTo>
                      <a:pt x="21600" y="21137"/>
                    </a:lnTo>
                    <a:lnTo>
                      <a:pt x="21600" y="21291"/>
                    </a:lnTo>
                    <a:lnTo>
                      <a:pt x="21484" y="21446"/>
                    </a:lnTo>
                    <a:lnTo>
                      <a:pt x="21369" y="21446"/>
                    </a:lnTo>
                    <a:lnTo>
                      <a:pt x="21138" y="21600"/>
                    </a:lnTo>
                    <a:lnTo>
                      <a:pt x="21022" y="21600"/>
                    </a:lnTo>
                    <a:lnTo>
                      <a:pt x="10973" y="21600"/>
                    </a:lnTo>
                    <a:lnTo>
                      <a:pt x="2079" y="21600"/>
                    </a:lnTo>
                    <a:lnTo>
                      <a:pt x="1848" y="21600"/>
                    </a:lnTo>
                    <a:lnTo>
                      <a:pt x="1733" y="21446"/>
                    </a:lnTo>
                    <a:lnTo>
                      <a:pt x="1617" y="21446"/>
                    </a:lnTo>
                    <a:lnTo>
                      <a:pt x="1502" y="21291"/>
                    </a:lnTo>
                    <a:lnTo>
                      <a:pt x="1386" y="21291"/>
                    </a:lnTo>
                    <a:lnTo>
                      <a:pt x="1386" y="21137"/>
                    </a:lnTo>
                    <a:lnTo>
                      <a:pt x="1386" y="20983"/>
                    </a:lnTo>
                    <a:lnTo>
                      <a:pt x="1386" y="20829"/>
                    </a:lnTo>
                    <a:lnTo>
                      <a:pt x="1502" y="20674"/>
                    </a:lnTo>
                    <a:lnTo>
                      <a:pt x="1617" y="20366"/>
                    </a:lnTo>
                    <a:lnTo>
                      <a:pt x="1733" y="20057"/>
                    </a:lnTo>
                    <a:lnTo>
                      <a:pt x="1964" y="19903"/>
                    </a:lnTo>
                    <a:lnTo>
                      <a:pt x="0" y="19903"/>
                    </a:lnTo>
                    <a:lnTo>
                      <a:pt x="0" y="10800"/>
                    </a:lnTo>
                    <a:lnTo>
                      <a:pt x="0" y="2777"/>
                    </a:lnTo>
                    <a:lnTo>
                      <a:pt x="4620" y="2777"/>
                    </a:lnTo>
                    <a:lnTo>
                      <a:pt x="4620" y="16971"/>
                    </a:lnTo>
                    <a:moveTo>
                      <a:pt x="4620" y="16971"/>
                    </a:moveTo>
                    <a:moveTo>
                      <a:pt x="4620" y="16971"/>
                    </a:moveTo>
                    <a:lnTo>
                      <a:pt x="4158" y="17434"/>
                    </a:lnTo>
                    <a:lnTo>
                      <a:pt x="2541" y="19286"/>
                    </a:lnTo>
                    <a:lnTo>
                      <a:pt x="1964" y="19903"/>
                    </a:lnTo>
                    <a:lnTo>
                      <a:pt x="4620" y="16971"/>
                    </a:lnTo>
                    <a:close/>
                  </a:path>
                  <a:path w="21600" h="21600" extrusionOk="0">
                    <a:moveTo>
                      <a:pt x="7624" y="2314"/>
                    </a:moveTo>
                    <a:moveTo>
                      <a:pt x="16402" y="2314"/>
                    </a:moveTo>
                    <a:lnTo>
                      <a:pt x="16402" y="11880"/>
                    </a:lnTo>
                    <a:lnTo>
                      <a:pt x="7624" y="11880"/>
                    </a:lnTo>
                    <a:lnTo>
                      <a:pt x="7624" y="2314"/>
                    </a:lnTo>
                    <a:lnTo>
                      <a:pt x="16402" y="2314"/>
                    </a:lnTo>
                    <a:close/>
                  </a:path>
                  <a:path w="21600" h="21600" extrusionOk="0">
                    <a:moveTo>
                      <a:pt x="578" y="4011"/>
                    </a:moveTo>
                    <a:moveTo>
                      <a:pt x="4043" y="4011"/>
                    </a:moveTo>
                    <a:lnTo>
                      <a:pt x="4043" y="4320"/>
                    </a:lnTo>
                    <a:lnTo>
                      <a:pt x="578" y="4320"/>
                    </a:lnTo>
                    <a:lnTo>
                      <a:pt x="578" y="4011"/>
                    </a:lnTo>
                    <a:lnTo>
                      <a:pt x="4043" y="4011"/>
                    </a:lnTo>
                    <a:close/>
                    <a:moveTo>
                      <a:pt x="7624" y="14194"/>
                    </a:moveTo>
                    <a:lnTo>
                      <a:pt x="16402" y="14194"/>
                    </a:lnTo>
                    <a:lnTo>
                      <a:pt x="16402" y="16200"/>
                    </a:lnTo>
                    <a:lnTo>
                      <a:pt x="7624" y="16200"/>
                    </a:lnTo>
                  </a:path>
                </a:pathLst>
              </a:custGeom>
              <a:gradFill rotWithShape="1">
                <a:gsLst>
                  <a:gs pos="0">
                    <a:srgbClr val="CC3300"/>
                  </a:gs>
                  <a:gs pos="100000">
                    <a:srgbClr val="FF7C80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defPPr>
                  <a:defRPr lang="nl-NL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kern="1200">
                    <a:solidFill>
                      <a:schemeClr val="tx1"/>
                    </a:solidFill>
                    <a:latin typeface="Tahoma" pitchFamily="34" charset="0"/>
                    <a:ea typeface="+mn-ea"/>
                    <a:cs typeface="+mn-cs"/>
                  </a:defRPr>
                </a:lvl9pPr>
              </a:lstStyle>
              <a:p>
                <a:endParaRPr lang="nl-BE"/>
              </a:p>
            </p:txBody>
          </p:sp>
          <p:sp>
            <p:nvSpPr>
              <p:cNvPr id="20" name="Tekstvak 19"/>
              <p:cNvSpPr txBox="1"/>
              <p:nvPr/>
            </p:nvSpPr>
            <p:spPr>
              <a:xfrm>
                <a:off x="2451816" y="4364157"/>
                <a:ext cx="84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Client</a:t>
                </a:r>
                <a:endParaRPr lang="nl-BE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  <p:sp>
            <p:nvSpPr>
              <p:cNvPr id="21" name="Tekstvak 20"/>
              <p:cNvSpPr txBox="1"/>
              <p:nvPr/>
            </p:nvSpPr>
            <p:spPr>
              <a:xfrm>
                <a:off x="2098718" y="3304412"/>
                <a:ext cx="14414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Host 131.39.7.4</a:t>
                </a:r>
                <a:endParaRPr lang="nl-BE" sz="12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  <p:grpSp>
          <p:nvGrpSpPr>
            <p:cNvPr id="10" name="Groep 9"/>
            <p:cNvGrpSpPr/>
            <p:nvPr/>
          </p:nvGrpSpPr>
          <p:grpSpPr>
            <a:xfrm>
              <a:off x="5926138" y="2944070"/>
              <a:ext cx="1832553" cy="1801080"/>
              <a:chOff x="5926138" y="3213494"/>
              <a:chExt cx="1832553" cy="1801080"/>
            </a:xfrm>
          </p:grpSpPr>
          <p:grpSp>
            <p:nvGrpSpPr>
              <p:cNvPr id="14" name="Group 3"/>
              <p:cNvGrpSpPr>
                <a:grpSpLocks/>
              </p:cNvGrpSpPr>
              <p:nvPr/>
            </p:nvGrpSpPr>
            <p:grpSpPr bwMode="auto">
              <a:xfrm>
                <a:off x="6207315" y="3520736"/>
                <a:ext cx="1116014" cy="1493838"/>
                <a:chOff x="3408" y="2640"/>
                <a:chExt cx="672" cy="900"/>
              </a:xfrm>
            </p:grpSpPr>
            <p:sp>
              <p:nvSpPr>
                <p:cNvPr id="17" name="tower"/>
                <p:cNvSpPr>
                  <a:spLocks noEditPoints="1" noChangeArrowheads="1"/>
                </p:cNvSpPr>
                <p:nvPr/>
              </p:nvSpPr>
              <p:spPr bwMode="auto">
                <a:xfrm>
                  <a:off x="3552" y="2640"/>
                  <a:ext cx="384" cy="66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450 w 21600"/>
                    <a:gd name="T31" fmla="*/ 22549 h 21600"/>
                    <a:gd name="T32" fmla="*/ 21488 w 21600"/>
                    <a:gd name="T33" fmla="*/ 27000 h 2160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600" h="21600" extrusionOk="0">
                      <a:moveTo>
                        <a:pt x="0" y="2184"/>
                      </a:moveTo>
                      <a:lnTo>
                        <a:pt x="6664" y="0"/>
                      </a:lnTo>
                      <a:lnTo>
                        <a:pt x="10800" y="0"/>
                      </a:lnTo>
                      <a:lnTo>
                        <a:pt x="21600" y="0"/>
                      </a:lnTo>
                      <a:lnTo>
                        <a:pt x="21600" y="11649"/>
                      </a:lnTo>
                      <a:lnTo>
                        <a:pt x="21600" y="19416"/>
                      </a:lnTo>
                      <a:lnTo>
                        <a:pt x="15166" y="21600"/>
                      </a:lnTo>
                      <a:lnTo>
                        <a:pt x="10570" y="21600"/>
                      </a:lnTo>
                      <a:lnTo>
                        <a:pt x="0" y="21600"/>
                      </a:lnTo>
                      <a:lnTo>
                        <a:pt x="0" y="11528"/>
                      </a:lnTo>
                      <a:lnTo>
                        <a:pt x="0" y="2184"/>
                      </a:lnTo>
                      <a:close/>
                    </a:path>
                    <a:path w="21600" h="21600" extrusionOk="0">
                      <a:moveTo>
                        <a:pt x="0" y="2184"/>
                      </a:moveTo>
                      <a:lnTo>
                        <a:pt x="0" y="2184"/>
                      </a:lnTo>
                      <a:lnTo>
                        <a:pt x="14706" y="2184"/>
                      </a:lnTo>
                      <a:lnTo>
                        <a:pt x="21600" y="0"/>
                      </a:lnTo>
                      <a:moveTo>
                        <a:pt x="0" y="2184"/>
                      </a:moveTo>
                      <a:lnTo>
                        <a:pt x="14706" y="2184"/>
                      </a:lnTo>
                      <a:lnTo>
                        <a:pt x="14706" y="5339"/>
                      </a:lnTo>
                      <a:lnTo>
                        <a:pt x="14706" y="17474"/>
                      </a:lnTo>
                      <a:lnTo>
                        <a:pt x="14706" y="21600"/>
                      </a:lnTo>
                      <a:moveTo>
                        <a:pt x="1149" y="3034"/>
                      </a:moveTo>
                      <a:lnTo>
                        <a:pt x="13328" y="3034"/>
                      </a:lnTo>
                      <a:lnTo>
                        <a:pt x="13328" y="3519"/>
                      </a:lnTo>
                      <a:lnTo>
                        <a:pt x="1149" y="3519"/>
                      </a:lnTo>
                      <a:lnTo>
                        <a:pt x="1149" y="3034"/>
                      </a:lnTo>
                      <a:moveTo>
                        <a:pt x="1149" y="4490"/>
                      </a:moveTo>
                      <a:lnTo>
                        <a:pt x="13328" y="4490"/>
                      </a:lnTo>
                      <a:lnTo>
                        <a:pt x="13328" y="4854"/>
                      </a:lnTo>
                      <a:lnTo>
                        <a:pt x="1149" y="4854"/>
                      </a:lnTo>
                      <a:lnTo>
                        <a:pt x="1149" y="4490"/>
                      </a:lnTo>
                      <a:moveTo>
                        <a:pt x="1149" y="5946"/>
                      </a:moveTo>
                      <a:lnTo>
                        <a:pt x="13328" y="5946"/>
                      </a:lnTo>
                      <a:lnTo>
                        <a:pt x="13328" y="6310"/>
                      </a:lnTo>
                      <a:lnTo>
                        <a:pt x="1149" y="6310"/>
                      </a:lnTo>
                      <a:lnTo>
                        <a:pt x="1149" y="5946"/>
                      </a:lnTo>
                    </a:path>
                  </a:pathLst>
                </a:custGeom>
                <a:gradFill rotWithShape="1">
                  <a:gsLst>
                    <a:gs pos="0">
                      <a:srgbClr val="009900"/>
                    </a:gs>
                    <a:gs pos="100000">
                      <a:srgbClr val="66FF33"/>
                    </a:gs>
                  </a:gsLst>
                  <a:lin ang="270000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nl-NL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9pPr>
                </a:lstStyle>
                <a:p>
                  <a:endParaRPr lang="nl-BE"/>
                </a:p>
              </p:txBody>
            </p:sp>
            <p:sp>
              <p:nvSpPr>
                <p:cNvPr id="18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408" y="3264"/>
                  <a:ext cx="672" cy="2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nl-NL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2400" kern="1200">
                      <a:solidFill>
                        <a:schemeClr val="tx1"/>
                      </a:solidFill>
                      <a:latin typeface="Tahoma" pitchFamily="34" charset="0"/>
                      <a:ea typeface="+mn-ea"/>
                      <a:cs typeface="+mn-cs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GB"/>
                </a:p>
              </p:txBody>
            </p:sp>
          </p:grpSp>
          <p:sp>
            <p:nvSpPr>
              <p:cNvPr id="15" name="Tekstvak 14"/>
              <p:cNvSpPr txBox="1"/>
              <p:nvPr/>
            </p:nvSpPr>
            <p:spPr>
              <a:xfrm>
                <a:off x="6187906" y="4616949"/>
                <a:ext cx="9472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Server</a:t>
                </a:r>
                <a:endParaRPr lang="nl-BE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  <p:sp>
            <p:nvSpPr>
              <p:cNvPr id="16" name="Tekstvak 15"/>
              <p:cNvSpPr txBox="1"/>
              <p:nvPr/>
            </p:nvSpPr>
            <p:spPr>
              <a:xfrm>
                <a:off x="5926138" y="3213494"/>
                <a:ext cx="183255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BE" sz="1200" dirty="0" smtClean="0">
                    <a:solidFill>
                      <a:schemeClr val="accent6">
                        <a:lumMod val="10000"/>
                      </a:schemeClr>
                    </a:solidFill>
                  </a:rPr>
                  <a:t>Host 130.145.55.244</a:t>
                </a:r>
                <a:endParaRPr lang="nl-BE" sz="1200" dirty="0">
                  <a:solidFill>
                    <a:schemeClr val="accent6">
                      <a:lumMod val="10000"/>
                    </a:schemeClr>
                  </a:solidFill>
                </a:endParaRPr>
              </a:p>
            </p:txBody>
          </p:sp>
        </p:grpSp>
        <p:cxnSp>
          <p:nvCxnSpPr>
            <p:cNvPr id="11" name="Gebogen verbindingslijn 10"/>
            <p:cNvCxnSpPr>
              <a:stCxn id="23" idx="2"/>
            </p:cNvCxnSpPr>
            <p:nvPr/>
          </p:nvCxnSpPr>
          <p:spPr>
            <a:xfrm rot="16200000" flipH="1">
              <a:off x="1443818" y="4372791"/>
              <a:ext cx="773361" cy="955907"/>
            </a:xfrm>
            <a:prstGeom prst="bentConnector2">
              <a:avLst/>
            </a:prstGeom>
            <a:ln w="28575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bogen verbindingslijn 11"/>
            <p:cNvCxnSpPr>
              <a:stCxn id="15" idx="2"/>
            </p:cNvCxnSpPr>
            <p:nvPr/>
          </p:nvCxnSpPr>
          <p:spPr>
            <a:xfrm rot="5400000">
              <a:off x="4863365" y="3403330"/>
              <a:ext cx="484638" cy="3111693"/>
            </a:xfrm>
            <a:prstGeom prst="bentConnector2">
              <a:avLst/>
            </a:prstGeom>
            <a:ln w="28575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/>
            <p:cNvCxnSpPr>
              <a:stCxn id="20" idx="2"/>
            </p:cNvCxnSpPr>
            <p:nvPr/>
          </p:nvCxnSpPr>
          <p:spPr>
            <a:xfrm flipH="1">
              <a:off x="2876772" y="4464065"/>
              <a:ext cx="1" cy="433788"/>
            </a:xfrm>
            <a:prstGeom prst="line">
              <a:avLst/>
            </a:prstGeom>
            <a:ln w="28575">
              <a:solidFill>
                <a:schemeClr val="accent6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kstvak 26"/>
          <p:cNvSpPr txBox="1"/>
          <p:nvPr/>
        </p:nvSpPr>
        <p:spPr>
          <a:xfrm>
            <a:off x="1341949" y="3975595"/>
            <a:ext cx="1015704" cy="338554"/>
          </a:xfrm>
          <a:prstGeom prst="rect">
            <a:avLst/>
          </a:prstGeom>
          <a:solidFill>
            <a:srgbClr val="00A0AE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smtClean="0">
                <a:solidFill>
                  <a:schemeClr val="bg1"/>
                </a:solidFill>
              </a:rPr>
              <a:t>Browser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28" name="Tekstvak 27"/>
          <p:cNvSpPr txBox="1"/>
          <p:nvPr/>
        </p:nvSpPr>
        <p:spPr>
          <a:xfrm>
            <a:off x="2851634" y="3974461"/>
            <a:ext cx="1015704" cy="338554"/>
          </a:xfrm>
          <a:prstGeom prst="rect">
            <a:avLst/>
          </a:prstGeom>
          <a:solidFill>
            <a:srgbClr val="00A0AE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smtClean="0">
                <a:solidFill>
                  <a:schemeClr val="bg1"/>
                </a:solidFill>
              </a:rPr>
              <a:t>Browser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29" name="Tekstvak 28"/>
          <p:cNvSpPr txBox="1"/>
          <p:nvPr/>
        </p:nvSpPr>
        <p:spPr>
          <a:xfrm>
            <a:off x="6673675" y="3842809"/>
            <a:ext cx="1298744" cy="338554"/>
          </a:xfrm>
          <a:prstGeom prst="rect">
            <a:avLst/>
          </a:prstGeom>
          <a:solidFill>
            <a:srgbClr val="00A0AE"/>
          </a:solidFill>
          <a:ln w="127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nl-BE" sz="1600" dirty="0" smtClean="0">
                <a:solidFill>
                  <a:schemeClr val="bg1"/>
                </a:solidFill>
              </a:rPr>
              <a:t>Webserver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30" name="Ovaal 29"/>
          <p:cNvSpPr/>
          <p:nvPr/>
        </p:nvSpPr>
        <p:spPr>
          <a:xfrm>
            <a:off x="6084168" y="2924944"/>
            <a:ext cx="2664296" cy="2219321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1" name="Tekstvak 30"/>
          <p:cNvSpPr txBox="1"/>
          <p:nvPr/>
        </p:nvSpPr>
        <p:spPr>
          <a:xfrm>
            <a:off x="6340380" y="2163174"/>
            <a:ext cx="2198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00A0AE"/>
                </a:solidFill>
              </a:rPr>
              <a:t>logic and data </a:t>
            </a:r>
          </a:p>
          <a:p>
            <a:r>
              <a:rPr lang="nl-BE" dirty="0">
                <a:solidFill>
                  <a:srgbClr val="00A0AE"/>
                </a:solidFill>
              </a:rPr>
              <a:t>o</a:t>
            </a:r>
            <a:r>
              <a:rPr lang="nl-BE" dirty="0" smtClean="0">
                <a:solidFill>
                  <a:srgbClr val="00A0AE"/>
                </a:solidFill>
              </a:rPr>
              <a:t>f </a:t>
            </a:r>
            <a:r>
              <a:rPr lang="nl-BE" dirty="0" err="1" smtClean="0">
                <a:solidFill>
                  <a:srgbClr val="00A0AE"/>
                </a:solidFill>
              </a:rPr>
              <a:t>the</a:t>
            </a:r>
            <a:r>
              <a:rPr lang="nl-BE" dirty="0" smtClean="0">
                <a:solidFill>
                  <a:srgbClr val="00A0AE"/>
                </a:solidFill>
              </a:rPr>
              <a:t> </a:t>
            </a:r>
            <a:r>
              <a:rPr lang="nl-BE" dirty="0" err="1" smtClean="0">
                <a:solidFill>
                  <a:srgbClr val="00A0AE"/>
                </a:solidFill>
              </a:rPr>
              <a:t>application</a:t>
            </a:r>
            <a:endParaRPr lang="nl-BE" dirty="0">
              <a:solidFill>
                <a:srgbClr val="00A0AE"/>
              </a:solidFill>
            </a:endParaRPr>
          </a:p>
        </p:txBody>
      </p:sp>
      <p:sp>
        <p:nvSpPr>
          <p:cNvPr id="33" name="Tekstvak 32"/>
          <p:cNvSpPr txBox="1"/>
          <p:nvPr/>
        </p:nvSpPr>
        <p:spPr>
          <a:xfrm>
            <a:off x="974437" y="4917626"/>
            <a:ext cx="164000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A0AE"/>
                </a:solidFill>
              </a:rPr>
              <a:t>d</a:t>
            </a:r>
            <a:r>
              <a:rPr lang="nl-BE" dirty="0" smtClean="0">
                <a:solidFill>
                  <a:srgbClr val="00A0AE"/>
                </a:solidFill>
              </a:rPr>
              <a:t>isplay page</a:t>
            </a:r>
            <a:endParaRPr lang="nl-BE" dirty="0">
              <a:solidFill>
                <a:srgbClr val="00A0AE"/>
              </a:solidFill>
            </a:endParaRPr>
          </a:p>
        </p:txBody>
      </p:sp>
      <p:sp>
        <p:nvSpPr>
          <p:cNvPr id="34" name="Ovaal 33"/>
          <p:cNvSpPr/>
          <p:nvPr/>
        </p:nvSpPr>
        <p:spPr>
          <a:xfrm>
            <a:off x="974437" y="3483172"/>
            <a:ext cx="1738197" cy="1242994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36" name="Rechte verbindingslijn 35"/>
          <p:cNvCxnSpPr/>
          <p:nvPr/>
        </p:nvCxnSpPr>
        <p:spPr>
          <a:xfrm>
            <a:off x="2771788" y="4933989"/>
            <a:ext cx="1335774" cy="1150011"/>
          </a:xfrm>
          <a:prstGeom prst="line">
            <a:avLst/>
          </a:prstGeom>
          <a:ln w="28575">
            <a:solidFill>
              <a:srgbClr val="EC4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/>
          <p:cNvCxnSpPr/>
          <p:nvPr/>
        </p:nvCxnSpPr>
        <p:spPr>
          <a:xfrm flipV="1">
            <a:off x="2771800" y="4943285"/>
            <a:ext cx="1335774" cy="1150011"/>
          </a:xfrm>
          <a:prstGeom prst="line">
            <a:avLst/>
          </a:prstGeom>
          <a:ln w="28575">
            <a:solidFill>
              <a:srgbClr val="EC4B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kstvak 37"/>
          <p:cNvSpPr txBox="1"/>
          <p:nvPr/>
        </p:nvSpPr>
        <p:spPr>
          <a:xfrm>
            <a:off x="4240701" y="5523208"/>
            <a:ext cx="213552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EC4B2F"/>
                </a:solidFill>
              </a:rPr>
              <a:t>application</a:t>
            </a:r>
            <a:r>
              <a:rPr lang="nl-BE" dirty="0" smtClean="0">
                <a:solidFill>
                  <a:srgbClr val="EC4B2F"/>
                </a:solidFill>
              </a:rPr>
              <a:t> </a:t>
            </a:r>
            <a:r>
              <a:rPr lang="nl-BE" dirty="0" err="1" smtClean="0">
                <a:solidFill>
                  <a:srgbClr val="EC4B2F"/>
                </a:solidFill>
              </a:rPr>
              <a:t>stops</a:t>
            </a:r>
            <a:endParaRPr lang="nl-BE" dirty="0">
              <a:solidFill>
                <a:srgbClr val="EC4B2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15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3" grpId="0" animBg="1"/>
      <p:bldP spid="34" grpId="0" animBg="1"/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smtClean="0"/>
              <a:t>application logic in frontend:</a:t>
            </a:r>
          </a:p>
          <a:p>
            <a:pPr lvl="1"/>
            <a:r>
              <a:rPr lang="en-US" noProof="0" dirty="0" err="1" smtClean="0"/>
              <a:t>Javascript</a:t>
            </a:r>
            <a:r>
              <a:rPr lang="en-US" noProof="0" dirty="0" smtClean="0"/>
              <a:t> frameworks:</a:t>
            </a:r>
          </a:p>
          <a:p>
            <a:pPr lvl="2"/>
            <a:r>
              <a:rPr lang="en-US" noProof="0" dirty="0" smtClean="0"/>
              <a:t>Angular</a:t>
            </a:r>
          </a:p>
          <a:p>
            <a:pPr lvl="2"/>
            <a:r>
              <a:rPr lang="en-US" noProof="0" dirty="0" smtClean="0"/>
              <a:t>React</a:t>
            </a:r>
          </a:p>
          <a:p>
            <a:pPr lvl="2"/>
            <a:endParaRPr lang="en-US" noProof="0" dirty="0" smtClean="0"/>
          </a:p>
          <a:p>
            <a:r>
              <a:rPr lang="en-US" noProof="0" dirty="0" smtClean="0"/>
              <a:t>data storage in frontend:</a:t>
            </a:r>
          </a:p>
          <a:p>
            <a:pPr lvl="1"/>
            <a:r>
              <a:rPr lang="en-US" noProof="0" dirty="0" smtClean="0"/>
              <a:t>browsers:</a:t>
            </a:r>
          </a:p>
          <a:p>
            <a:pPr lvl="2"/>
            <a:r>
              <a:rPr lang="en-US" dirty="0"/>
              <a:t>built-in local </a:t>
            </a:r>
            <a:r>
              <a:rPr lang="en-US" dirty="0" smtClean="0"/>
              <a:t>database</a:t>
            </a:r>
          </a:p>
          <a:p>
            <a:pPr lvl="2"/>
            <a:r>
              <a:rPr lang="en-US" dirty="0"/>
              <a:t>local storage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Frontend frameworks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974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 smtClean="0"/>
              <a:t>Since 2016</a:t>
            </a:r>
          </a:p>
          <a:p>
            <a:r>
              <a:rPr lang="en-US" dirty="0" smtClean="0"/>
              <a:t>start </a:t>
            </a:r>
            <a:r>
              <a:rPr lang="en-US" dirty="0"/>
              <a:t>designing </a:t>
            </a:r>
            <a:r>
              <a:rPr lang="en-US" dirty="0" err="1"/>
              <a:t>webapp</a:t>
            </a:r>
            <a:r>
              <a:rPr lang="en-US" dirty="0"/>
              <a:t> without server </a:t>
            </a:r>
            <a:r>
              <a:rPr lang="en-US" dirty="0" smtClean="0"/>
              <a:t>connection</a:t>
            </a:r>
          </a:p>
          <a:p>
            <a:r>
              <a:rPr lang="en-US" dirty="0"/>
              <a:t>a</a:t>
            </a:r>
            <a:r>
              <a:rPr lang="en-US" dirty="0" smtClean="0"/>
              <a:t>dd </a:t>
            </a:r>
            <a:r>
              <a:rPr lang="en-US" dirty="0"/>
              <a:t>functionality </a:t>
            </a:r>
            <a:r>
              <a:rPr lang="en-US" dirty="0" smtClean="0"/>
              <a:t>for </a:t>
            </a:r>
            <a:r>
              <a:rPr lang="en-US" dirty="0"/>
              <a:t>server </a:t>
            </a:r>
            <a:r>
              <a:rPr lang="en-US" dirty="0" smtClean="0"/>
              <a:t>connection</a:t>
            </a:r>
          </a:p>
          <a:p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clearly </a:t>
            </a:r>
            <a:r>
              <a:rPr lang="en-US" dirty="0"/>
              <a:t>indicate which function is available</a:t>
            </a:r>
            <a:r>
              <a:rPr lang="en-US" noProof="0" dirty="0" smtClean="0"/>
              <a:t/>
            </a:r>
            <a:br>
              <a:rPr lang="en-US" noProof="0" dirty="0" smtClean="0"/>
            </a:br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do </a:t>
            </a:r>
            <a:r>
              <a:rPr lang="en-US" dirty="0"/>
              <a:t>users need to know if they are </a:t>
            </a:r>
            <a:r>
              <a:rPr lang="en-US" dirty="0" smtClean="0"/>
              <a:t>offline?</a:t>
            </a:r>
            <a:r>
              <a:rPr lang="en-US" noProof="0" dirty="0" smtClean="0"/>
              <a:t/>
            </a:r>
            <a:br>
              <a:rPr lang="en-US" noProof="0" dirty="0" smtClean="0"/>
            </a:br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     resolve possible conflicts in data storage by,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for </a:t>
            </a:r>
            <a:r>
              <a:rPr lang="en-US" dirty="0"/>
              <a:t>example, allowing users to choose which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version </a:t>
            </a:r>
            <a:r>
              <a:rPr lang="en-US" dirty="0"/>
              <a:t>to keep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Offline first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6" name="Bliksemflits 5"/>
          <p:cNvSpPr/>
          <p:nvPr/>
        </p:nvSpPr>
        <p:spPr>
          <a:xfrm>
            <a:off x="540000" y="2898520"/>
            <a:ext cx="288032" cy="432048"/>
          </a:xfrm>
          <a:prstGeom prst="lightningBolt">
            <a:avLst/>
          </a:prstGeom>
          <a:solidFill>
            <a:srgbClr val="EC4B2F"/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Bliksemflits 6"/>
          <p:cNvSpPr/>
          <p:nvPr/>
        </p:nvSpPr>
        <p:spPr>
          <a:xfrm>
            <a:off x="534840" y="3594850"/>
            <a:ext cx="288032" cy="432048"/>
          </a:xfrm>
          <a:prstGeom prst="lightningBolt">
            <a:avLst/>
          </a:prstGeom>
          <a:solidFill>
            <a:srgbClr val="EC4B2F"/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Bliksemflits 7"/>
          <p:cNvSpPr/>
          <p:nvPr/>
        </p:nvSpPr>
        <p:spPr>
          <a:xfrm>
            <a:off x="534840" y="4341596"/>
            <a:ext cx="288032" cy="432048"/>
          </a:xfrm>
          <a:prstGeom prst="lightningBolt">
            <a:avLst/>
          </a:prstGeom>
          <a:solidFill>
            <a:srgbClr val="EC4B2F"/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897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 smtClean="0"/>
              <a:t>grid menu</a:t>
            </a:r>
          </a:p>
          <a:p>
            <a:r>
              <a:rPr lang="en-US" noProof="0" dirty="0" smtClean="0"/>
              <a:t>tab menu</a:t>
            </a:r>
          </a:p>
          <a:p>
            <a:r>
              <a:rPr lang="en-US" noProof="0" dirty="0" smtClean="0"/>
              <a:t>pull down of drop down</a:t>
            </a:r>
          </a:p>
          <a:p>
            <a:r>
              <a:rPr lang="en-US" noProof="0" dirty="0" smtClean="0"/>
              <a:t>mega menu</a:t>
            </a:r>
          </a:p>
          <a:p>
            <a:r>
              <a:rPr lang="en-US" noProof="0" dirty="0" smtClean="0"/>
              <a:t>pie menu</a:t>
            </a:r>
          </a:p>
          <a:p>
            <a:r>
              <a:rPr lang="en-US" noProof="0" dirty="0" smtClean="0"/>
              <a:t>accordion</a:t>
            </a:r>
          </a:p>
          <a:p>
            <a:r>
              <a:rPr lang="en-US" noProof="0" dirty="0" smtClean="0"/>
              <a:t>sequential menu</a:t>
            </a:r>
          </a:p>
          <a:p>
            <a:r>
              <a:rPr lang="en-US" noProof="0" dirty="0" smtClean="0"/>
              <a:t>landing pages / category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 navigation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3541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Grid structure in which links are placed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2.1 Grid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08" y="2276872"/>
            <a:ext cx="7720615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6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456461"/>
            <a:ext cx="2152352" cy="3826404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Grid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403885"/>
            <a:ext cx="2315055" cy="3867423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257" y="1411505"/>
            <a:ext cx="2582215" cy="3859803"/>
          </a:xfrm>
          <a:prstGeom prst="rect">
            <a:avLst/>
          </a:prstGeom>
        </p:spPr>
      </p:pic>
      <p:sp>
        <p:nvSpPr>
          <p:cNvPr id="9" name="Tekstvak 8"/>
          <p:cNvSpPr txBox="1"/>
          <p:nvPr/>
        </p:nvSpPr>
        <p:spPr>
          <a:xfrm>
            <a:off x="1147676" y="5411676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000000"/>
                </a:solidFill>
              </a:rPr>
              <a:t>squares</a:t>
            </a:r>
          </a:p>
        </p:txBody>
      </p:sp>
      <p:sp>
        <p:nvSpPr>
          <p:cNvPr id="10" name="Tekstvak 9"/>
          <p:cNvSpPr txBox="1"/>
          <p:nvPr/>
        </p:nvSpPr>
        <p:spPr>
          <a:xfrm>
            <a:off x="4016637" y="5347543"/>
            <a:ext cx="111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 err="1" smtClean="0">
                <a:solidFill>
                  <a:srgbClr val="000000"/>
                </a:solidFill>
              </a:rPr>
              <a:t>icons</a:t>
            </a:r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11" name="Tekstvak 10"/>
          <p:cNvSpPr txBox="1"/>
          <p:nvPr/>
        </p:nvSpPr>
        <p:spPr>
          <a:xfrm>
            <a:off x="6660232" y="5271308"/>
            <a:ext cx="1975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dirty="0" err="1">
                <a:solidFill>
                  <a:srgbClr val="000000"/>
                </a:solidFill>
              </a:rPr>
              <a:t>irregular</a:t>
            </a:r>
            <a:r>
              <a:rPr lang="nl-BE" dirty="0">
                <a:solidFill>
                  <a:srgbClr val="000000"/>
                </a:solidFill>
              </a:rPr>
              <a:t> </a:t>
            </a:r>
            <a:r>
              <a:rPr lang="nl-BE" dirty="0" err="1">
                <a:solidFill>
                  <a:srgbClr val="000000"/>
                </a:solidFill>
              </a:rPr>
              <a:t>structure</a:t>
            </a:r>
            <a:endParaRPr lang="nl-B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77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7668344" cy="4428000"/>
          </a:xfrm>
        </p:spPr>
        <p:txBody>
          <a:bodyPr/>
          <a:lstStyle/>
          <a:p>
            <a:r>
              <a:rPr lang="en-US" dirty="0"/>
              <a:t>Mainly good for navigation with limited </a:t>
            </a:r>
            <a:r>
              <a:rPr lang="en-US" dirty="0" smtClean="0"/>
              <a:t>options:</a:t>
            </a:r>
            <a:endParaRPr lang="en-US" noProof="0" dirty="0" smtClean="0"/>
          </a:p>
          <a:p>
            <a:pPr lvl="1"/>
            <a:r>
              <a:rPr lang="en-US" dirty="0"/>
              <a:t>text takes up less space than </a:t>
            </a:r>
            <a:r>
              <a:rPr lang="en-US" dirty="0" smtClean="0"/>
              <a:t>figures</a:t>
            </a:r>
          </a:p>
          <a:p>
            <a:pPr lvl="1"/>
            <a:r>
              <a:rPr lang="en-US" dirty="0" smtClean="0"/>
              <a:t>figures </a:t>
            </a:r>
            <a:r>
              <a:rPr lang="en-US" dirty="0"/>
              <a:t>load more </a:t>
            </a:r>
            <a:r>
              <a:rPr lang="en-US" dirty="0" smtClean="0"/>
              <a:t>slowly</a:t>
            </a:r>
          </a:p>
          <a:p>
            <a:pPr lvl="1"/>
            <a:r>
              <a:rPr lang="en-US" dirty="0" smtClean="0"/>
              <a:t>Example</a:t>
            </a:r>
            <a:r>
              <a:rPr lang="en-US" dirty="0"/>
              <a:t>: shoe shop with figure for each shoe </a:t>
            </a:r>
            <a:r>
              <a:rPr lang="en-US" dirty="0" smtClean="0"/>
              <a:t>category</a:t>
            </a:r>
          </a:p>
          <a:p>
            <a:pPr lvl="1"/>
            <a:r>
              <a:rPr lang="en-US" dirty="0"/>
              <a:t>Pictures help users to differentiate.</a:t>
            </a:r>
            <a:endParaRPr lang="en-US" noProof="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Grid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0" y="21880"/>
            <a:ext cx="1008111" cy="6745638"/>
          </a:xfrm>
          <a:prstGeom prst="rect">
            <a:avLst/>
          </a:prstGeom>
        </p:spPr>
      </p:pic>
      <p:cxnSp>
        <p:nvCxnSpPr>
          <p:cNvPr id="8" name="Rechte verbindingslijn 7"/>
          <p:cNvCxnSpPr/>
          <p:nvPr/>
        </p:nvCxnSpPr>
        <p:spPr>
          <a:xfrm>
            <a:off x="7668000" y="1728000"/>
            <a:ext cx="129614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7668344" y="3384000"/>
            <a:ext cx="129614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/>
          <p:cNvCxnSpPr/>
          <p:nvPr/>
        </p:nvCxnSpPr>
        <p:spPr>
          <a:xfrm>
            <a:off x="7668000" y="5040000"/>
            <a:ext cx="129614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/>
          <p:cNvCxnSpPr/>
          <p:nvPr/>
        </p:nvCxnSpPr>
        <p:spPr>
          <a:xfrm>
            <a:off x="7668000" y="6696000"/>
            <a:ext cx="1296144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19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bottom tabs or top tabs</a:t>
            </a:r>
            <a:endParaRPr lang="en-US" noProof="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2.2 Tab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300"/>
          <a:stretch/>
        </p:blipFill>
        <p:spPr>
          <a:xfrm>
            <a:off x="-108520" y="2060848"/>
            <a:ext cx="3590420" cy="2768853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825" y="1340768"/>
            <a:ext cx="2813997" cy="2376264"/>
          </a:xfrm>
          <a:prstGeom prst="rect">
            <a:avLst/>
          </a:prstGeom>
          <a:ln>
            <a:solidFill>
              <a:srgbClr val="00A0AE"/>
            </a:solidFill>
          </a:ln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930" y="3174318"/>
            <a:ext cx="6668078" cy="216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2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+ navigation always </a:t>
            </a:r>
            <a:r>
              <a:rPr lang="en-US" dirty="0" smtClean="0"/>
              <a:t>visible</a:t>
            </a:r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clear where you are in the application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(</a:t>
            </a:r>
            <a:r>
              <a:rPr lang="en-US" dirty="0"/>
              <a:t>selected tab is formatted differently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noProof="0" dirty="0" smtClean="0"/>
          </a:p>
          <a:p>
            <a:pPr>
              <a:buFontTx/>
              <a:buChar char="-"/>
            </a:pPr>
            <a:r>
              <a:rPr lang="en-US" dirty="0"/>
              <a:t>number of menu items is limited (max 5 on smartphone</a:t>
            </a:r>
            <a:r>
              <a:rPr lang="en-US" dirty="0" smtClean="0"/>
              <a:t>)</a:t>
            </a:r>
          </a:p>
          <a:p>
            <a:pPr>
              <a:buFontTx/>
              <a:buChar char="-"/>
            </a:pPr>
            <a:r>
              <a:rPr lang="en-US" dirty="0" smtClean="0"/>
              <a:t>space </a:t>
            </a:r>
            <a:r>
              <a:rPr lang="en-US" dirty="0"/>
              <a:t>consuming compared to hamburger menu</a:t>
            </a:r>
            <a:endParaRPr lang="en-US" noProof="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Tab menu: pros and 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19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17763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4806264" cy="4428000"/>
          </a:xfrm>
        </p:spPr>
        <p:txBody>
          <a:bodyPr/>
          <a:lstStyle/>
          <a:p>
            <a:r>
              <a:rPr lang="en-US" noProof="0" dirty="0" smtClean="0"/>
              <a:t>mobile/tablet:</a:t>
            </a:r>
          </a:p>
          <a:p>
            <a:pPr lvl="1"/>
            <a:r>
              <a:rPr lang="en-US" noProof="0" dirty="0" smtClean="0"/>
              <a:t>thumb zone</a:t>
            </a:r>
          </a:p>
          <a:p>
            <a:pPr lvl="1"/>
            <a:r>
              <a:rPr lang="en-US" noProof="0" dirty="0" smtClean="0"/>
              <a:t>1 row of max 5 items</a:t>
            </a:r>
          </a:p>
          <a:p>
            <a:pPr lvl="1"/>
            <a:r>
              <a:rPr lang="en-US" dirty="0"/>
              <a:t>obvious (combine icons with text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large enough (thumb thickness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indicate where the user is in the application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Tab menu</a:t>
            </a:r>
            <a:r>
              <a:rPr lang="en-US" dirty="0"/>
              <a:t>: positioning and layout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0" r="14321"/>
          <a:stretch/>
        </p:blipFill>
        <p:spPr>
          <a:xfrm>
            <a:off x="4806264" y="3475285"/>
            <a:ext cx="4032448" cy="2581275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64" y="821548"/>
            <a:ext cx="4323448" cy="27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87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8964488" cy="4428000"/>
          </a:xfrm>
        </p:spPr>
        <p:txBody>
          <a:bodyPr/>
          <a:lstStyle/>
          <a:p>
            <a:r>
              <a:rPr lang="en-US" noProof="0" dirty="0" smtClean="0"/>
              <a:t>desktop/laptop:</a:t>
            </a:r>
          </a:p>
          <a:p>
            <a:pPr lvl="1"/>
            <a:r>
              <a:rPr lang="en-US" dirty="0"/>
              <a:t>mostly controlled via mouse and </a:t>
            </a:r>
            <a:r>
              <a:rPr lang="en-US" dirty="0" smtClean="0"/>
              <a:t>keyboard</a:t>
            </a:r>
          </a:p>
          <a:p>
            <a:pPr lvl="1"/>
            <a:r>
              <a:rPr lang="en-US" dirty="0" smtClean="0"/>
              <a:t>place </a:t>
            </a:r>
            <a:r>
              <a:rPr lang="en-US" dirty="0"/>
              <a:t>navigation at the </a:t>
            </a:r>
            <a:r>
              <a:rPr lang="en-US" dirty="0" smtClean="0"/>
              <a:t>top</a:t>
            </a:r>
          </a:p>
          <a:p>
            <a:pPr lvl="1"/>
            <a:r>
              <a:rPr lang="en-US" dirty="0" smtClean="0"/>
              <a:t>obvious</a:t>
            </a:r>
            <a:r>
              <a:rPr lang="en-US" dirty="0"/>
              <a:t>: short text with or without </a:t>
            </a:r>
            <a:r>
              <a:rPr lang="en-US" dirty="0" smtClean="0"/>
              <a:t>icon</a:t>
            </a:r>
          </a:p>
          <a:p>
            <a:pPr lvl="1"/>
            <a:r>
              <a:rPr lang="en-US" dirty="0" smtClean="0"/>
              <a:t>indicate </a:t>
            </a:r>
            <a:r>
              <a:rPr lang="en-US" dirty="0"/>
              <a:t>where the user is in the </a:t>
            </a:r>
            <a:r>
              <a:rPr lang="en-US" dirty="0" smtClean="0"/>
              <a:t>application</a:t>
            </a:r>
          </a:p>
          <a:p>
            <a:pPr lvl="1"/>
            <a:r>
              <a:rPr lang="en-US" dirty="0" smtClean="0"/>
              <a:t>only </a:t>
            </a:r>
            <a:r>
              <a:rPr lang="en-US" dirty="0"/>
              <a:t>for independent options (make sure the user does not have to get info from other </a:t>
            </a:r>
            <a:r>
              <a:rPr lang="en-US" dirty="0" smtClean="0"/>
              <a:t>tabs)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Tab menu: </a:t>
            </a:r>
            <a:r>
              <a:rPr lang="en-US" dirty="0"/>
              <a:t>positioning and layout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4257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1241735"/>
            <a:ext cx="3701827" cy="4590265"/>
          </a:xfrm>
          <a:prstGeom prst="rect">
            <a:avLst/>
          </a:prstGeom>
        </p:spPr>
      </p:pic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5292080" cy="442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Operation with </a:t>
            </a:r>
            <a:r>
              <a:rPr lang="en-US" dirty="0" smtClean="0"/>
              <a:t>mouse:</a:t>
            </a:r>
            <a:endParaRPr lang="en-US" noProof="0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item in main </a:t>
            </a:r>
            <a:r>
              <a:rPr lang="en-US" dirty="0" smtClean="0"/>
              <a:t>menu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Move </a:t>
            </a:r>
            <a:r>
              <a:rPr lang="en-US" dirty="0"/>
              <a:t>mouse to desired </a:t>
            </a:r>
            <a:r>
              <a:rPr lang="en-US" dirty="0" smtClean="0"/>
              <a:t>option</a:t>
            </a:r>
          </a:p>
          <a:p>
            <a:pPr marL="0" indent="0">
              <a:buNone/>
            </a:pPr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top items </a:t>
            </a:r>
            <a:r>
              <a:rPr lang="en-US" dirty="0" smtClean="0"/>
              <a:t>faster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limit number of </a:t>
            </a:r>
            <a:r>
              <a:rPr lang="en-US" dirty="0" smtClean="0"/>
              <a:t>items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avoid scrolling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2.3 Pull/drop down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cxnSp>
        <p:nvCxnSpPr>
          <p:cNvPr id="8" name="Rechte verbindingslijn met pijl 7"/>
          <p:cNvCxnSpPr/>
          <p:nvPr/>
        </p:nvCxnSpPr>
        <p:spPr>
          <a:xfrm>
            <a:off x="5796136" y="1460510"/>
            <a:ext cx="187449" cy="150054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met pijl 8"/>
          <p:cNvCxnSpPr/>
          <p:nvPr/>
        </p:nvCxnSpPr>
        <p:spPr>
          <a:xfrm>
            <a:off x="5767561" y="1448308"/>
            <a:ext cx="316607" cy="3924908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16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noProof="0" dirty="0" smtClean="0"/>
              <a:t>Touch screen: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Press item in main </a:t>
            </a:r>
            <a:r>
              <a:rPr lang="en-US" dirty="0" smtClean="0"/>
              <a:t>menu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Release </a:t>
            </a:r>
            <a:r>
              <a:rPr lang="en-US" dirty="0"/>
              <a:t>finger to read the </a:t>
            </a:r>
            <a:r>
              <a:rPr lang="en-US" dirty="0" smtClean="0"/>
              <a:t>submenu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Press </a:t>
            </a:r>
            <a:r>
              <a:rPr lang="en-US" dirty="0"/>
              <a:t>desired </a:t>
            </a:r>
            <a:r>
              <a:rPr lang="en-US" dirty="0" smtClean="0"/>
              <a:t>option</a:t>
            </a:r>
          </a:p>
          <a:p>
            <a:pPr marL="514350" indent="-514350">
              <a:buFont typeface="+mj-lt"/>
              <a:buAutoNum type="arabicPeriod"/>
            </a:pPr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distance to main item not that important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anymore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large list items needed (fingers are quite thick</a:t>
            </a:r>
            <a:r>
              <a:rPr lang="en-US" dirty="0" smtClean="0"/>
              <a:t>)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overview is lost use accordion or sequential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menu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Pull/drop down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dirty="0" smtClean="0"/>
              <a:t>GUI design</a:t>
            </a:r>
            <a:endParaRPr lang="nl-BE" dirty="0"/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76672"/>
            <a:ext cx="1872208" cy="30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7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72069"/>
            <a:ext cx="9144000" cy="442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noProof="0" dirty="0" smtClean="0"/>
          </a:p>
          <a:p>
            <a:r>
              <a:rPr lang="en-US" dirty="0"/>
              <a:t>2-dim panel with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options </a:t>
            </a:r>
            <a:r>
              <a:rPr lang="en-US" dirty="0"/>
              <a:t>divided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into groups</a:t>
            </a:r>
            <a:br>
              <a:rPr lang="en-US" dirty="0" smtClean="0"/>
            </a:br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many options without </a:t>
            </a:r>
            <a:r>
              <a:rPr lang="en-US" dirty="0" smtClean="0"/>
              <a:t>scrolling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distance more evenly </a:t>
            </a:r>
            <a:r>
              <a:rPr lang="en-US" dirty="0" smtClean="0"/>
              <a:t>distributed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only for operation with mouse on large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screens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2.4 Mega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24" name="Groep 23"/>
          <p:cNvGrpSpPr/>
          <p:nvPr/>
        </p:nvGrpSpPr>
        <p:grpSpPr>
          <a:xfrm>
            <a:off x="3779912" y="980728"/>
            <a:ext cx="5239052" cy="2263270"/>
            <a:chOff x="3904948" y="445650"/>
            <a:chExt cx="5239052" cy="2263270"/>
          </a:xfrm>
        </p:grpSpPr>
        <p:pic>
          <p:nvPicPr>
            <p:cNvPr id="7" name="Afbeelding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4948" y="445650"/>
              <a:ext cx="5239052" cy="226327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cxnSp>
          <p:nvCxnSpPr>
            <p:cNvPr id="8" name="Rechte verbindingslijn met pijl 7"/>
            <p:cNvCxnSpPr/>
            <p:nvPr/>
          </p:nvCxnSpPr>
          <p:spPr>
            <a:xfrm>
              <a:off x="4867131" y="862828"/>
              <a:ext cx="2441173" cy="549948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Rechte verbindingslijn met pijl 8"/>
            <p:cNvCxnSpPr/>
            <p:nvPr/>
          </p:nvCxnSpPr>
          <p:spPr>
            <a:xfrm flipH="1">
              <a:off x="4427984" y="835668"/>
              <a:ext cx="405198" cy="1369196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met pijl 9"/>
            <p:cNvCxnSpPr/>
            <p:nvPr/>
          </p:nvCxnSpPr>
          <p:spPr>
            <a:xfrm>
              <a:off x="4860032" y="870078"/>
              <a:ext cx="1152128" cy="1306766"/>
            </a:xfrm>
            <a:prstGeom prst="straightConnector1">
              <a:avLst/>
            </a:prstGeom>
            <a:ln w="2857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282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2.5 Pie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Tijdelijke aanduiding voor inhoud 5" descr="https://media.nngroup.com/media/editor/2016/04/29/onenote-radial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762" y="44624"/>
            <a:ext cx="3495238" cy="28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0" y="1172069"/>
            <a:ext cx="9144000" cy="4428000"/>
          </a:xfrm>
          <a:prstGeom prst="rect">
            <a:avLst/>
          </a:prstGeom>
        </p:spPr>
        <p:txBody>
          <a:bodyPr vert="horz" lIns="432000" tIns="252000" rIns="432000" bIns="144000" rtlCol="0">
            <a:normAutofit fontScale="77500" lnSpcReduction="20000"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dirty="0" smtClean="0"/>
              <a:t>= </a:t>
            </a:r>
            <a:r>
              <a:rPr lang="en-US" dirty="0"/>
              <a:t>radial menu around clicked item</a:t>
            </a:r>
            <a:endParaRPr lang="nl-BE" dirty="0" smtClean="0"/>
          </a:p>
          <a:p>
            <a:endParaRPr lang="nl-BE" dirty="0" smtClean="0"/>
          </a:p>
          <a:p>
            <a:pPr marL="400050" lvl="1" indent="0">
              <a:buNone/>
            </a:pPr>
            <a:r>
              <a:rPr lang="nl-BE" sz="3300" dirty="0" smtClean="0"/>
              <a:t>+</a:t>
            </a:r>
            <a:r>
              <a:rPr lang="nl-BE" dirty="0" smtClean="0"/>
              <a:t>  </a:t>
            </a:r>
            <a:r>
              <a:rPr lang="nl-BE" dirty="0" err="1" smtClean="0"/>
              <a:t>equal</a:t>
            </a:r>
            <a:r>
              <a:rPr lang="nl-BE" dirty="0" smtClean="0"/>
              <a:t> </a:t>
            </a:r>
            <a:r>
              <a:rPr lang="en-US" dirty="0" smtClean="0"/>
              <a:t>distance </a:t>
            </a:r>
            <a:r>
              <a:rPr lang="en-US" dirty="0"/>
              <a:t>to all </a:t>
            </a:r>
            <a:r>
              <a:rPr lang="en-US" dirty="0" smtClean="0"/>
              <a:t>options</a:t>
            </a:r>
            <a:endParaRPr lang="nl-BE" dirty="0" smtClean="0"/>
          </a:p>
          <a:p>
            <a:pPr marL="0" indent="0">
              <a:buNone/>
            </a:pPr>
            <a:endParaRPr lang="nl-BE" dirty="0" smtClean="0"/>
          </a:p>
          <a:p>
            <a:pPr lvl="1">
              <a:lnSpc>
                <a:spcPct val="110000"/>
              </a:lnSpc>
            </a:pPr>
            <a:r>
              <a:rPr lang="en-US" dirty="0"/>
              <a:t>less known, so that the search for the right option takes </a:t>
            </a:r>
            <a:r>
              <a:rPr lang="en-US" dirty="0" smtClean="0"/>
              <a:t>longer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limited </a:t>
            </a:r>
            <a:r>
              <a:rPr lang="en-US" dirty="0"/>
              <a:t>number of options (click zones must be large enough</a:t>
            </a:r>
            <a:r>
              <a:rPr lang="en-US" dirty="0" smtClean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 smtClean="0"/>
              <a:t>difficult </a:t>
            </a:r>
            <a:r>
              <a:rPr lang="en-US" dirty="0"/>
              <a:t>to make a circle around a menu item at the top or bottom of a </a:t>
            </a:r>
            <a:r>
              <a:rPr lang="en-US" dirty="0" smtClean="0"/>
              <a:t>page</a:t>
            </a:r>
          </a:p>
          <a:p>
            <a:pPr lvl="1">
              <a:lnSpc>
                <a:spcPct val="110000"/>
              </a:lnSpc>
            </a:pPr>
            <a:endParaRPr lang="nl-BE" dirty="0" smtClean="0"/>
          </a:p>
          <a:p>
            <a:pPr>
              <a:lnSpc>
                <a:spcPct val="120000"/>
              </a:lnSpc>
              <a:buFont typeface="Symbol" panose="05050102010706020507" pitchFamily="18" charset="2"/>
              <a:buChar char="Þ"/>
            </a:pPr>
            <a:r>
              <a:rPr lang="nl-BE" dirty="0" smtClean="0"/>
              <a:t> </a:t>
            </a:r>
            <a:r>
              <a:rPr lang="en-US" dirty="0"/>
              <a:t>especially useful as a context menu that appears when you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click </a:t>
            </a:r>
            <a:r>
              <a:rPr lang="en-US" dirty="0"/>
              <a:t>on a particular item on the page</a:t>
            </a:r>
            <a:endParaRPr lang="nl-BE" dirty="0" smtClean="0"/>
          </a:p>
        </p:txBody>
      </p:sp>
    </p:spTree>
    <p:extLst>
      <p:ext uri="{BB962C8B-B14F-4D97-AF65-F5344CB8AC3E}">
        <p14:creationId xmlns:p14="http://schemas.microsoft.com/office/powerpoint/2010/main" val="71431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= pie menu where a choice lights up when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finger </a:t>
            </a:r>
            <a:r>
              <a:rPr lang="en-US" dirty="0"/>
              <a:t>or mouse moves in the right direction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Marking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https://media.nngroup.com/media/editor/2016/04/29/pinterest-marking-menu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53" y="2492896"/>
            <a:ext cx="7210031" cy="3312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672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= Menu items slide apart and sub-menus appear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after </a:t>
            </a:r>
            <a:r>
              <a:rPr lang="en-US" dirty="0"/>
              <a:t>clicking</a:t>
            </a:r>
            <a:endParaRPr lang="en-US" noProof="0" dirty="0" smtClean="0"/>
          </a:p>
          <a:p>
            <a:endParaRPr lang="en-US" sz="1000" noProof="0" dirty="0" smtClean="0"/>
          </a:p>
          <a:p>
            <a:pPr marL="0" indent="0">
              <a:buNone/>
            </a:pPr>
            <a:r>
              <a:rPr lang="en-US" dirty="0"/>
              <a:t>+ clearly laid out, also for small </a:t>
            </a:r>
            <a:r>
              <a:rPr lang="en-US" dirty="0" smtClean="0"/>
              <a:t>screens</a:t>
            </a:r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No need for an extra screen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with </a:t>
            </a:r>
            <a:r>
              <a:rPr lang="en-US" dirty="0"/>
              <a:t>dropdown </a:t>
            </a:r>
            <a:r>
              <a:rPr lang="en-US" dirty="0" smtClean="0"/>
              <a:t>menu</a:t>
            </a:r>
          </a:p>
          <a:p>
            <a:pPr marL="0" indent="0">
              <a:buNone/>
            </a:pPr>
            <a:r>
              <a:rPr lang="en-US" dirty="0" smtClean="0"/>
              <a:t>+ </a:t>
            </a:r>
            <a:r>
              <a:rPr lang="en-US" dirty="0"/>
              <a:t>also usable on large </a:t>
            </a:r>
            <a:r>
              <a:rPr lang="en-US" dirty="0" smtClean="0"/>
              <a:t>screens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Number </a:t>
            </a:r>
            <a:r>
              <a:rPr lang="en-US" dirty="0"/>
              <a:t>of items is limited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(</a:t>
            </a:r>
            <a:r>
              <a:rPr lang="en-US" dirty="0"/>
              <a:t>must fit on screen)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2.6 accordion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Gerelateerde afbeeld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52" t="10932" r="10544" b="9542"/>
          <a:stretch/>
        </p:blipFill>
        <p:spPr bwMode="auto">
          <a:xfrm>
            <a:off x="5724128" y="3151238"/>
            <a:ext cx="3315381" cy="35999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8439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2.7 sequential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40768"/>
            <a:ext cx="5233264" cy="4503974"/>
          </a:xfrm>
          <a:prstGeom prst="rect">
            <a:avLst/>
          </a:prstGeom>
        </p:spPr>
      </p:pic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5148064" y="1152000"/>
            <a:ext cx="3995936" cy="4692742"/>
          </a:xfrm>
          <a:prstGeom prst="rect">
            <a:avLst/>
          </a:prstGeom>
        </p:spPr>
        <p:txBody>
          <a:bodyPr vert="horz" lIns="432000" tIns="252000" rIns="432000" bIns="144000" rtlCol="0">
            <a:no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Show only submenu of clicked </a:t>
            </a:r>
            <a:r>
              <a:rPr lang="en-US" sz="2400" dirty="0" smtClean="0"/>
              <a:t>item</a:t>
            </a:r>
          </a:p>
          <a:p>
            <a:r>
              <a:rPr lang="en-US" sz="2400" dirty="0" smtClean="0"/>
              <a:t>Main </a:t>
            </a:r>
            <a:r>
              <a:rPr lang="en-US" sz="2400" dirty="0"/>
              <a:t>menu no longer </a:t>
            </a:r>
            <a:r>
              <a:rPr lang="en-US" sz="2400" dirty="0" smtClean="0"/>
              <a:t>visible</a:t>
            </a:r>
          </a:p>
          <a:p>
            <a:r>
              <a:rPr lang="en-US" sz="2400" dirty="0" smtClean="0"/>
              <a:t>Return </a:t>
            </a:r>
            <a:r>
              <a:rPr lang="en-US" sz="2400" dirty="0"/>
              <a:t>is possible via back </a:t>
            </a:r>
            <a:r>
              <a:rPr lang="en-US" sz="2400" dirty="0" smtClean="0"/>
              <a:t>option</a:t>
            </a:r>
          </a:p>
          <a:p>
            <a:r>
              <a:rPr lang="en-US" sz="2400" dirty="0" smtClean="0"/>
              <a:t>Especially </a:t>
            </a:r>
            <a:r>
              <a:rPr lang="en-US" sz="2400" dirty="0"/>
              <a:t>for large number of sub levels on mobile devices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314133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sequential menu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29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+ good for deep hierarchy on small screen</a:t>
            </a:r>
            <a:endParaRPr lang="en-US" noProof="0" dirty="0" smtClean="0"/>
          </a:p>
          <a:p>
            <a:pPr marL="0" indent="0">
              <a:buNone/>
            </a:pPr>
            <a:endParaRPr lang="en-US" noProof="0" dirty="0" smtClean="0"/>
          </a:p>
          <a:p>
            <a:pPr marL="0" indent="0">
              <a:buNone/>
            </a:pPr>
            <a:r>
              <a:rPr lang="en-US" dirty="0" smtClean="0"/>
              <a:t>-  navigation </a:t>
            </a:r>
            <a:r>
              <a:rPr lang="en-US" dirty="0"/>
              <a:t>between options on different </a:t>
            </a:r>
            <a:r>
              <a:rPr lang="en-US" dirty="0" smtClean="0"/>
              <a:t>sub-</a:t>
            </a:r>
            <a:br>
              <a:rPr lang="en-US" dirty="0" smtClean="0"/>
            </a:br>
            <a:r>
              <a:rPr lang="en-US" dirty="0" smtClean="0"/>
              <a:t>   levels </a:t>
            </a:r>
            <a:r>
              <a:rPr lang="en-US" dirty="0"/>
              <a:t>is very </a:t>
            </a:r>
            <a:r>
              <a:rPr lang="en-US" dirty="0" smtClean="0"/>
              <a:t>difficult</a:t>
            </a:r>
          </a:p>
          <a:p>
            <a:pPr>
              <a:buFontTx/>
              <a:buChar char="-"/>
            </a:pPr>
            <a:r>
              <a:rPr lang="en-US" dirty="0" smtClean="0"/>
              <a:t>structure </a:t>
            </a:r>
            <a:r>
              <a:rPr lang="en-US" dirty="0"/>
              <a:t>is less clear =&gt; </a:t>
            </a:r>
            <a:r>
              <a:rPr lang="en-US" dirty="0" smtClean="0"/>
              <a:t>disorientation</a:t>
            </a:r>
          </a:p>
          <a:p>
            <a:pPr marL="0" indent="0">
              <a:buNone/>
            </a:pPr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 large screen =&gt; use </a:t>
            </a:r>
            <a:r>
              <a:rPr lang="en-US" dirty="0" smtClean="0"/>
              <a:t>accordion </a:t>
            </a:r>
            <a:r>
              <a:rPr lang="en-US" dirty="0"/>
              <a:t>menu</a:t>
            </a:r>
            <a:endParaRPr lang="en-US" noProof="0" dirty="0" smtClean="0"/>
          </a:p>
          <a:p>
            <a:pPr>
              <a:buFont typeface="Symbol" panose="05050102010706020507" pitchFamily="18" charset="2"/>
              <a:buChar char="Þ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809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2987824" cy="4725272"/>
          </a:xfrm>
        </p:spPr>
        <p:txBody>
          <a:bodyPr>
            <a:noAutofit/>
          </a:bodyPr>
          <a:lstStyle/>
          <a:p>
            <a:r>
              <a:rPr lang="en-US" sz="2000" dirty="0"/>
              <a:t>Number of </a:t>
            </a:r>
            <a:r>
              <a:rPr lang="en-US" sz="2000" dirty="0" smtClean="0"/>
              <a:t>sub </a:t>
            </a:r>
            <a:r>
              <a:rPr lang="en-US" sz="2000" dirty="0"/>
              <a:t>categories too </a:t>
            </a:r>
            <a:r>
              <a:rPr lang="en-US" sz="2000" dirty="0" smtClean="0"/>
              <a:t>large</a:t>
            </a:r>
          </a:p>
          <a:p>
            <a:r>
              <a:rPr lang="en-US" sz="2000" dirty="0" smtClean="0"/>
              <a:t>Actually navigates </a:t>
            </a:r>
            <a:r>
              <a:rPr lang="en-US" sz="2000" dirty="0"/>
              <a:t>to another </a:t>
            </a:r>
            <a:r>
              <a:rPr lang="en-US" sz="2000" dirty="0" smtClean="0"/>
              <a:t>page</a:t>
            </a:r>
          </a:p>
          <a:p>
            <a:r>
              <a:rPr lang="en-US" sz="2000" dirty="0" smtClean="0"/>
              <a:t>Offers </a:t>
            </a:r>
            <a:r>
              <a:rPr lang="en-US" sz="2000" dirty="0"/>
              <a:t>same advantages and disadvantages as sequential menu</a:t>
            </a:r>
            <a:endParaRPr lang="en-US" sz="20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2.8 landing pages by category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3041000" y="1152000"/>
            <a:ext cx="5931694" cy="5364000"/>
            <a:chOff x="180975" y="0"/>
            <a:chExt cx="5443855" cy="4707890"/>
          </a:xfrm>
        </p:grpSpPr>
        <p:pic>
          <p:nvPicPr>
            <p:cNvPr id="7" name="Afbeelding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7980" y="0"/>
              <a:ext cx="2736850" cy="4707890"/>
            </a:xfrm>
            <a:prstGeom prst="rect">
              <a:avLst/>
            </a:prstGeom>
          </p:spPr>
        </p:pic>
        <p:pic>
          <p:nvPicPr>
            <p:cNvPr id="8" name="Afbeelding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975" y="0"/>
              <a:ext cx="2707005" cy="47009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74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50133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Clear, well-</a:t>
            </a:r>
            <a:r>
              <a:rPr lang="en-US" dirty="0" err="1"/>
              <a:t>organised</a:t>
            </a:r>
            <a:r>
              <a:rPr lang="en-US" dirty="0"/>
              <a:t> </a:t>
            </a:r>
            <a:r>
              <a:rPr lang="en-US" dirty="0" smtClean="0"/>
              <a:t>navigation</a:t>
            </a:r>
          </a:p>
          <a:p>
            <a:endParaRPr lang="en-US" noProof="0" dirty="0" smtClean="0"/>
          </a:p>
          <a:p>
            <a:r>
              <a:rPr lang="en-US" noProof="0" dirty="0" smtClean="0"/>
              <a:t>Device dependent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</a:t>
            </a:r>
            <a:r>
              <a:rPr lang="en-US" noProof="0" dirty="0" smtClean="0"/>
              <a:t>mall screen: hamburger, grid, accordion, tabs, pie, </a:t>
            </a:r>
            <a:br>
              <a:rPr lang="en-US" noProof="0" dirty="0" smtClean="0"/>
            </a:br>
            <a:r>
              <a:rPr lang="en-US" noProof="0" dirty="0" smtClean="0"/>
              <a:t>		         sequential, …</a:t>
            </a:r>
          </a:p>
          <a:p>
            <a:pPr lvl="1"/>
            <a:r>
              <a:rPr lang="en-US" noProof="0" dirty="0" smtClean="0"/>
              <a:t>large screen: drop down or mega menu</a:t>
            </a:r>
          </a:p>
          <a:p>
            <a:pPr lvl="1"/>
            <a:endParaRPr lang="en-US" noProof="0" dirty="0" smtClean="0"/>
          </a:p>
          <a:p>
            <a:r>
              <a:rPr lang="en-US" noProof="0" dirty="0" smtClean="0"/>
              <a:t>User dependent:</a:t>
            </a:r>
          </a:p>
          <a:p>
            <a:pPr lvl="1"/>
            <a:r>
              <a:rPr lang="en-US" dirty="0"/>
              <a:t>Frequent internet use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Frequent </a:t>
            </a:r>
            <a:r>
              <a:rPr lang="en-US" dirty="0"/>
              <a:t>use of mobile phone?</a:t>
            </a:r>
            <a:endParaRPr lang="en-US" noProof="0" dirty="0" smtClean="0"/>
          </a:p>
          <a:p>
            <a:pPr lvl="1"/>
            <a:r>
              <a:rPr lang="en-US" noProof="0" dirty="0" smtClean="0"/>
              <a:t>…</a:t>
            </a:r>
          </a:p>
          <a:p>
            <a:pPr lvl="1"/>
            <a:endParaRPr lang="en-US" noProof="0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type of </a:t>
            </a:r>
            <a:r>
              <a:rPr lang="en-US" dirty="0" smtClean="0"/>
              <a:t>navigation for app?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4293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62" y="1268760"/>
            <a:ext cx="4427538" cy="4427538"/>
          </a:xfr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3. icons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90248"/>
            <a:ext cx="1636701" cy="1052736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0" t="16482" r="18222" b="15673"/>
          <a:stretch/>
        </p:blipFill>
        <p:spPr>
          <a:xfrm>
            <a:off x="4906324" y="2475953"/>
            <a:ext cx="4130172" cy="3401319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56500"/>
            <a:ext cx="3356992" cy="335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4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Why?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8" y="1561904"/>
            <a:ext cx="1482736" cy="2767467"/>
          </a:xfrm>
          <a:prstGeom prst="rect">
            <a:avLst/>
          </a:prstGeom>
        </p:spPr>
      </p:pic>
      <p:sp>
        <p:nvSpPr>
          <p:cNvPr id="8" name="Tekstvak 7"/>
          <p:cNvSpPr txBox="1"/>
          <p:nvPr/>
        </p:nvSpPr>
        <p:spPr>
          <a:xfrm>
            <a:off x="2976651" y="4202364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000000"/>
                </a:solidFill>
              </a:rPr>
              <a:t>toolbar</a:t>
            </a:r>
            <a:endParaRPr lang="nl-BE" dirty="0">
              <a:solidFill>
                <a:srgbClr val="000000"/>
              </a:solidFill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187149" y="1142984"/>
            <a:ext cx="1812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>
                <a:solidFill>
                  <a:srgbClr val="000000"/>
                </a:solidFill>
              </a:rPr>
              <a:t>clarify</a:t>
            </a:r>
            <a:r>
              <a:rPr lang="nl-BE" dirty="0">
                <a:solidFill>
                  <a:srgbClr val="000000"/>
                </a:solidFill>
              </a:rPr>
              <a:t> options</a:t>
            </a:r>
          </a:p>
        </p:txBody>
      </p:sp>
      <p:pic>
        <p:nvPicPr>
          <p:cNvPr id="10" name="Afbeelding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440" y="2481652"/>
            <a:ext cx="2932858" cy="324038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1" name="Tekstvak 10"/>
          <p:cNvSpPr txBox="1"/>
          <p:nvPr/>
        </p:nvSpPr>
        <p:spPr>
          <a:xfrm>
            <a:off x="6811170" y="1733910"/>
            <a:ext cx="1403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000000"/>
                </a:solidFill>
              </a:rPr>
              <a:t>increase</a:t>
            </a:r>
            <a:r>
              <a:rPr lang="nl-BE" dirty="0" smtClean="0">
                <a:solidFill>
                  <a:srgbClr val="000000"/>
                </a:solidFill>
              </a:rPr>
              <a:t> </a:t>
            </a:r>
          </a:p>
          <a:p>
            <a:r>
              <a:rPr lang="nl-BE" dirty="0" err="1" smtClean="0">
                <a:solidFill>
                  <a:srgbClr val="000000"/>
                </a:solidFill>
              </a:rPr>
              <a:t>readability</a:t>
            </a:r>
            <a:endParaRPr lang="nl-BE" dirty="0">
              <a:solidFill>
                <a:srgbClr val="000000"/>
              </a:solidFill>
            </a:endParaRPr>
          </a:p>
        </p:txBody>
      </p:sp>
      <p:pic>
        <p:nvPicPr>
          <p:cNvPr id="12" name="Afbeelding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4845" y="1567560"/>
            <a:ext cx="4742733" cy="2077708"/>
          </a:xfrm>
          <a:prstGeom prst="rect">
            <a:avLst/>
          </a:prstGeom>
        </p:spPr>
      </p:pic>
      <p:sp>
        <p:nvSpPr>
          <p:cNvPr id="13" name="Tekstvak 12"/>
          <p:cNvSpPr txBox="1"/>
          <p:nvPr/>
        </p:nvSpPr>
        <p:spPr>
          <a:xfrm>
            <a:off x="3302226" y="1136843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0000"/>
                </a:solidFill>
              </a:rPr>
              <a:t>guide attention</a:t>
            </a:r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230" y="4636170"/>
            <a:ext cx="4640982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8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smtClean="0"/>
              <a:t>Unique icons</a:t>
            </a:r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r>
              <a:rPr lang="en-US" noProof="0" dirty="0" smtClean="0"/>
              <a:t>Universal icons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types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1358278" y="1988840"/>
            <a:ext cx="2827020" cy="1120140"/>
            <a:chOff x="0" y="0"/>
            <a:chExt cx="2827020" cy="1120140"/>
          </a:xfrm>
        </p:grpSpPr>
        <p:pic>
          <p:nvPicPr>
            <p:cNvPr id="7" name="Afbeelding 6" descr="https://vignette.wikia.nocookie.net/logopedia/images/e/e6/Game_Center_logo.png/revision/latest?cb=2013061021312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089660" cy="1089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Afbeelding 7" descr="Afbeeldingsresultaat voor apple game center logo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500" y="7620"/>
              <a:ext cx="1112520" cy="11125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ep 8"/>
          <p:cNvGrpSpPr/>
          <p:nvPr/>
        </p:nvGrpSpPr>
        <p:grpSpPr>
          <a:xfrm>
            <a:off x="1358278" y="4638274"/>
            <a:ext cx="2529841" cy="830580"/>
            <a:chOff x="0" y="0"/>
            <a:chExt cx="2364740" cy="647700"/>
          </a:xfrm>
        </p:grpSpPr>
        <p:pic>
          <p:nvPicPr>
            <p:cNvPr id="10" name="Afbeelding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580" y="0"/>
              <a:ext cx="678180" cy="647700"/>
            </a:xfrm>
            <a:prstGeom prst="rect">
              <a:avLst/>
            </a:prstGeom>
          </p:spPr>
        </p:pic>
        <p:pic>
          <p:nvPicPr>
            <p:cNvPr id="11" name="Afbeelding 1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3060" y="7620"/>
              <a:ext cx="741680" cy="632460"/>
            </a:xfrm>
            <a:prstGeom prst="rect">
              <a:avLst/>
            </a:prstGeom>
          </p:spPr>
        </p:pic>
        <p:pic>
          <p:nvPicPr>
            <p:cNvPr id="12" name="Afbeelding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678180" cy="6324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088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as a start button for an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easy </a:t>
            </a:r>
            <a:r>
              <a:rPr lang="en-US" dirty="0"/>
              <a:t>to </a:t>
            </a:r>
            <a:r>
              <a:rPr lang="en-US" dirty="0" smtClean="0"/>
              <a:t>remember</a:t>
            </a:r>
          </a:p>
          <a:p>
            <a:r>
              <a:rPr lang="en-US" dirty="0" smtClean="0"/>
              <a:t>Attractive</a:t>
            </a:r>
          </a:p>
          <a:p>
            <a:r>
              <a:rPr lang="en-US" dirty="0" smtClean="0"/>
              <a:t>use </a:t>
            </a:r>
            <a:r>
              <a:rPr lang="en-US" dirty="0"/>
              <a:t>meaningful icons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Unique icons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 descr="https://vignette.wikia.nocookie.net/logopedia/images/e/e6/Game_Center_logo.png/revision/latest?cb=201306102131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701" y="3641426"/>
            <a:ext cx="1681166" cy="1681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fbeelding 9" descr="Afbeeldingsresultaat voor apple game center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717032"/>
            <a:ext cx="1716435" cy="1716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4077072"/>
            <a:ext cx="1256952" cy="1256952"/>
          </a:xfrm>
          <a:prstGeom prst="rect">
            <a:avLst/>
          </a:prstGeom>
        </p:spPr>
      </p:pic>
      <p:sp>
        <p:nvSpPr>
          <p:cNvPr id="13" name="Tekstvak 12"/>
          <p:cNvSpPr txBox="1"/>
          <p:nvPr/>
        </p:nvSpPr>
        <p:spPr>
          <a:xfrm>
            <a:off x="3010282" y="5509614"/>
            <a:ext cx="294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000000"/>
                </a:solidFill>
              </a:rPr>
              <a:t>Apple game center logo</a:t>
            </a:r>
            <a:endParaRPr lang="nl-B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4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commonly known </a:t>
            </a:r>
            <a:r>
              <a:rPr lang="en-US" dirty="0" smtClean="0"/>
              <a:t>icons</a:t>
            </a:r>
          </a:p>
          <a:p>
            <a:r>
              <a:rPr lang="en-US" dirty="0" smtClean="0"/>
              <a:t>simple </a:t>
            </a:r>
            <a:r>
              <a:rPr lang="en-US" dirty="0"/>
              <a:t>drawings</a:t>
            </a:r>
            <a:endParaRPr lang="en-US" noProof="0" dirty="0" smtClean="0"/>
          </a:p>
          <a:p>
            <a:pPr marL="0" indent="0">
              <a:buNone/>
            </a:pPr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Making an </a:t>
            </a:r>
            <a:r>
              <a:rPr lang="en-US" dirty="0"/>
              <a:t>icon known worldwide is difficult</a:t>
            </a:r>
            <a:endParaRPr lang="en-US" noProof="0" dirty="0" smtClean="0"/>
          </a:p>
          <a:p>
            <a:pPr marL="0" indent="0">
              <a:buNone/>
            </a:pPr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Meaning can </a:t>
            </a:r>
            <a:r>
              <a:rPr lang="en-US" dirty="0" smtClean="0"/>
              <a:t>differ:</a:t>
            </a:r>
            <a:endParaRPr lang="en-US" noProof="0" dirty="0" smtClean="0"/>
          </a:p>
          <a:p>
            <a:pPr lvl="1"/>
            <a:r>
              <a:rPr lang="en-US" dirty="0"/>
              <a:t>from one person to </a:t>
            </a:r>
            <a:r>
              <a:rPr lang="en-US" dirty="0" smtClean="0"/>
              <a:t>another</a:t>
            </a:r>
          </a:p>
          <a:p>
            <a:pPr lvl="1"/>
            <a:r>
              <a:rPr lang="en-US" dirty="0"/>
              <a:t>based on </a:t>
            </a:r>
            <a:r>
              <a:rPr lang="en-US" dirty="0" smtClean="0"/>
              <a:t>culture</a:t>
            </a:r>
          </a:p>
          <a:p>
            <a:pPr lvl="1"/>
            <a:r>
              <a:rPr lang="en-US" dirty="0" smtClean="0"/>
              <a:t>based </a:t>
            </a:r>
            <a:r>
              <a:rPr lang="en-US" dirty="0"/>
              <a:t>on </a:t>
            </a:r>
            <a:r>
              <a:rPr lang="en-US" dirty="0" smtClean="0"/>
              <a:t>religion</a:t>
            </a:r>
          </a:p>
          <a:p>
            <a:pPr lvl="1"/>
            <a:r>
              <a:rPr lang="en-US" dirty="0" smtClean="0"/>
              <a:t>based </a:t>
            </a:r>
            <a:r>
              <a:rPr lang="en-US" dirty="0"/>
              <a:t>on age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Universal icons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5652120" y="1484784"/>
            <a:ext cx="2529841" cy="830580"/>
            <a:chOff x="0" y="0"/>
            <a:chExt cx="2364740" cy="647700"/>
          </a:xfrm>
        </p:grpSpPr>
        <p:pic>
          <p:nvPicPr>
            <p:cNvPr id="7" name="Afbeelding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0580" y="0"/>
              <a:ext cx="678180" cy="647700"/>
            </a:xfrm>
            <a:prstGeom prst="rect">
              <a:avLst/>
            </a:prstGeom>
          </p:spPr>
        </p:pic>
        <p:pic>
          <p:nvPicPr>
            <p:cNvPr id="8" name="Afbeelding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3060" y="7620"/>
              <a:ext cx="741680" cy="632460"/>
            </a:xfrm>
            <a:prstGeom prst="rect">
              <a:avLst/>
            </a:prstGeom>
          </p:spPr>
        </p:pic>
        <p:pic>
          <p:nvPicPr>
            <p:cNvPr id="9" name="Afbeelding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240"/>
              <a:ext cx="678180" cy="632460"/>
            </a:xfrm>
            <a:prstGeom prst="rect">
              <a:avLst/>
            </a:prstGeom>
          </p:spPr>
        </p:pic>
      </p:grpSp>
      <p:sp>
        <p:nvSpPr>
          <p:cNvPr id="10" name="Bliksemflits 9"/>
          <p:cNvSpPr/>
          <p:nvPr/>
        </p:nvSpPr>
        <p:spPr>
          <a:xfrm>
            <a:off x="395536" y="2780928"/>
            <a:ext cx="432048" cy="504056"/>
          </a:xfrm>
          <a:prstGeom prst="lightningBolt">
            <a:avLst/>
          </a:prstGeom>
          <a:solidFill>
            <a:srgbClr val="EC4B2F"/>
          </a:solidFill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 descr="https://www.smashingmagazine.com/wp-content/uploads/2016/08/hamburger-icon-preview-opt.png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356993"/>
            <a:ext cx="3077138" cy="336671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hthoek 11"/>
          <p:cNvSpPr/>
          <p:nvPr/>
        </p:nvSpPr>
        <p:spPr>
          <a:xfrm>
            <a:off x="4839408" y="5040351"/>
            <a:ext cx="1994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 err="1"/>
              <a:t>Anzaldúa</a:t>
            </a:r>
            <a:r>
              <a:rPr lang="nl-BE" dirty="0"/>
              <a:t>, 2014</a:t>
            </a:r>
          </a:p>
        </p:txBody>
      </p:sp>
    </p:spTree>
    <p:extLst>
      <p:ext uri="{BB962C8B-B14F-4D97-AF65-F5344CB8AC3E}">
        <p14:creationId xmlns:p14="http://schemas.microsoft.com/office/powerpoint/2010/main" val="202736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Unique meaning?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176" y="1175092"/>
            <a:ext cx="4876800" cy="4876800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3" y="1124744"/>
            <a:ext cx="3820837" cy="720080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482512"/>
            <a:ext cx="3962712" cy="3962712"/>
          </a:xfrm>
          <a:prstGeom prst="rect">
            <a:avLst/>
          </a:prstGeom>
        </p:spPr>
      </p:pic>
      <p:pic>
        <p:nvPicPr>
          <p:cNvPr id="10" name="Afbeelding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43" y="1844824"/>
            <a:ext cx="3819600" cy="705157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912" y="1533092"/>
            <a:ext cx="4241264" cy="4241264"/>
          </a:xfrm>
          <a:prstGeom prst="rect">
            <a:avLst/>
          </a:prstGeom>
        </p:spPr>
      </p:pic>
      <p:pic>
        <p:nvPicPr>
          <p:cNvPr id="12" name="Afbeelding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43" y="2492896"/>
            <a:ext cx="3819600" cy="719847"/>
          </a:xfrm>
          <a:prstGeom prst="rect">
            <a:avLst/>
          </a:prstGeom>
        </p:spPr>
      </p:pic>
      <p:pic>
        <p:nvPicPr>
          <p:cNvPr id="16" name="Afbeelding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4008" y="1892924"/>
            <a:ext cx="3494319" cy="3215702"/>
          </a:xfrm>
          <a:prstGeom prst="rect">
            <a:avLst/>
          </a:prstGeom>
        </p:spPr>
      </p:pic>
      <p:pic>
        <p:nvPicPr>
          <p:cNvPr id="17" name="Afbeelding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983" y="3185738"/>
            <a:ext cx="3819600" cy="734538"/>
          </a:xfrm>
          <a:prstGeom prst="rect">
            <a:avLst/>
          </a:prstGeom>
        </p:spPr>
      </p:pic>
      <p:pic>
        <p:nvPicPr>
          <p:cNvPr id="18" name="Afbeelding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983" y="3905818"/>
            <a:ext cx="3819600" cy="21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694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frequently used icons no longer have any meaning in themselves, especially for younger people.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Outdated icons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/>
          <p:nvPr/>
        </p:nvGrpSpPr>
        <p:grpSpPr>
          <a:xfrm>
            <a:off x="3375660" y="2852936"/>
            <a:ext cx="2392680" cy="1120140"/>
            <a:chOff x="0" y="0"/>
            <a:chExt cx="2392680" cy="1120140"/>
          </a:xfrm>
        </p:grpSpPr>
        <p:pic>
          <p:nvPicPr>
            <p:cNvPr id="7" name="Afbeelding 6" descr="http://www.ventureevolved.com/wp-content/uploads/2013/12/6a0120a9370e90970b014e5f81703d970c-800wi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7620"/>
              <a:ext cx="1112520" cy="1112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Afbeelding 7" descr="Afbeeldingsresultaat voor telephone icon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2540" y="0"/>
              <a:ext cx="1120140" cy="112014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8224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search function important part of the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small </a:t>
            </a:r>
            <a:r>
              <a:rPr lang="en-US" dirty="0"/>
              <a:t>screen =&gt; only magnifying glass </a:t>
            </a:r>
            <a:r>
              <a:rPr lang="en-US" dirty="0" smtClean="0"/>
              <a:t>icon</a:t>
            </a:r>
          </a:p>
          <a:p>
            <a:endParaRPr lang="en-US" noProof="0" dirty="0" smtClean="0"/>
          </a:p>
          <a:p>
            <a:r>
              <a:rPr lang="en-US" noProof="0" dirty="0" smtClean="0"/>
              <a:t>Research Sherwin (2014):</a:t>
            </a:r>
          </a:p>
          <a:p>
            <a:pPr lvl="1"/>
            <a:r>
              <a:rPr lang="en-US" dirty="0"/>
              <a:t>Better to have an input field next to the </a:t>
            </a:r>
            <a:r>
              <a:rPr lang="en-US" dirty="0" smtClean="0"/>
              <a:t>icon</a:t>
            </a:r>
          </a:p>
          <a:p>
            <a:pPr lvl="1"/>
            <a:r>
              <a:rPr lang="en-US" dirty="0" smtClean="0"/>
              <a:t>Clicking </a:t>
            </a:r>
            <a:r>
              <a:rPr lang="en-US" dirty="0"/>
              <a:t>on the icon should best start a </a:t>
            </a:r>
            <a:r>
              <a:rPr lang="en-US" dirty="0" smtClean="0"/>
              <a:t>search</a:t>
            </a:r>
          </a:p>
          <a:p>
            <a:pPr lvl="1"/>
            <a:r>
              <a:rPr lang="en-US" dirty="0" smtClean="0"/>
              <a:t>Place </a:t>
            </a:r>
            <a:r>
              <a:rPr lang="en-US" dirty="0"/>
              <a:t>search field and icon at the top </a:t>
            </a:r>
            <a:r>
              <a:rPr lang="en-US" dirty="0" smtClean="0"/>
              <a:t>right</a:t>
            </a:r>
          </a:p>
          <a:p>
            <a:pPr lvl="1"/>
            <a:r>
              <a:rPr lang="en-US" dirty="0" smtClean="0"/>
              <a:t>Use </a:t>
            </a:r>
            <a:r>
              <a:rPr lang="en-US" dirty="0"/>
              <a:t>a simple icon with a lot of contrast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magnifying glass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Afbeeldingsresultaat voor zoek icoo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222309"/>
            <a:ext cx="698366" cy="69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fbeelding 6" descr="Large search ico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178" y="5255936"/>
            <a:ext cx="3055644" cy="576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744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Screen dimensions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grpSp>
        <p:nvGrpSpPr>
          <p:cNvPr id="6" name="Groep 5"/>
          <p:cNvGrpSpPr>
            <a:grpSpLocks noChangeAspect="1"/>
          </p:cNvGrpSpPr>
          <p:nvPr/>
        </p:nvGrpSpPr>
        <p:grpSpPr>
          <a:xfrm>
            <a:off x="467544" y="1340768"/>
            <a:ext cx="8387869" cy="3600400"/>
            <a:chOff x="0" y="0"/>
            <a:chExt cx="5164455" cy="2216785"/>
          </a:xfrm>
        </p:grpSpPr>
        <p:pic>
          <p:nvPicPr>
            <p:cNvPr id="7" name="Afbeelding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615440" cy="2200910"/>
            </a:xfrm>
            <a:prstGeom prst="rect">
              <a:avLst/>
            </a:prstGeom>
          </p:spPr>
        </p:pic>
        <p:pic>
          <p:nvPicPr>
            <p:cNvPr id="8" name="Afbeelding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3080" y="0"/>
              <a:ext cx="3381375" cy="2216785"/>
            </a:xfrm>
            <a:prstGeom prst="rect">
              <a:avLst/>
            </a:prstGeom>
          </p:spPr>
        </p:pic>
      </p:grpSp>
      <p:sp>
        <p:nvSpPr>
          <p:cNvPr id="9" name="Tekstvak 8"/>
          <p:cNvSpPr txBox="1"/>
          <p:nvPr/>
        </p:nvSpPr>
        <p:spPr>
          <a:xfrm>
            <a:off x="2406728" y="5229200"/>
            <a:ext cx="5368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Where does search icon stand out the most?</a:t>
            </a:r>
            <a:endParaRPr lang="nl-B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0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Recognition:</a:t>
            </a:r>
            <a:endParaRPr lang="en-US" noProof="0" dirty="0" smtClean="0"/>
          </a:p>
          <a:p>
            <a:pPr lvl="1"/>
            <a:r>
              <a:rPr lang="en-US" dirty="0"/>
              <a:t>Let users guess what the icon </a:t>
            </a:r>
            <a:r>
              <a:rPr lang="en-US" dirty="0" smtClean="0"/>
              <a:t>means</a:t>
            </a:r>
          </a:p>
          <a:p>
            <a:pPr lvl="1"/>
            <a:r>
              <a:rPr lang="en-US" dirty="0" smtClean="0"/>
              <a:t>Do </a:t>
            </a:r>
            <a:r>
              <a:rPr lang="en-US" dirty="0"/>
              <a:t>not add a label during the </a:t>
            </a:r>
            <a:r>
              <a:rPr lang="en-US" dirty="0" smtClean="0"/>
              <a:t>test</a:t>
            </a:r>
          </a:p>
          <a:p>
            <a:pPr lvl="1"/>
            <a:r>
              <a:rPr lang="en-US" dirty="0" smtClean="0"/>
              <a:t>Concept </a:t>
            </a:r>
            <a:r>
              <a:rPr lang="en-US" dirty="0"/>
              <a:t>phase of the UI </a:t>
            </a:r>
            <a:r>
              <a:rPr lang="en-US" dirty="0" smtClean="0"/>
              <a:t>design</a:t>
            </a:r>
            <a:br>
              <a:rPr lang="en-US" dirty="0" smtClean="0"/>
            </a:br>
            <a:endParaRPr lang="en-US" noProof="0" dirty="0" smtClean="0"/>
          </a:p>
          <a:p>
            <a:r>
              <a:rPr lang="en-US" dirty="0" smtClean="0"/>
              <a:t>Predictability:</a:t>
            </a:r>
            <a:endParaRPr lang="en-US" noProof="0" dirty="0" smtClean="0"/>
          </a:p>
          <a:p>
            <a:pPr lvl="1"/>
            <a:r>
              <a:rPr lang="en-US" noProof="0" dirty="0" smtClean="0"/>
              <a:t>Concept phase: </a:t>
            </a:r>
          </a:p>
          <a:p>
            <a:pPr lvl="2"/>
            <a:r>
              <a:rPr lang="en-US" dirty="0"/>
              <a:t>what function could be behind the icon</a:t>
            </a:r>
            <a:r>
              <a:rPr lang="en-US" dirty="0" smtClean="0"/>
              <a:t>?</a:t>
            </a:r>
          </a:p>
          <a:p>
            <a:pPr lvl="2"/>
            <a:r>
              <a:rPr lang="en-US" dirty="0" smtClean="0"/>
              <a:t>give </a:t>
            </a:r>
            <a:r>
              <a:rPr lang="en-US" dirty="0"/>
              <a:t>some context to test </a:t>
            </a:r>
            <a:r>
              <a:rPr lang="en-US" dirty="0" smtClean="0"/>
              <a:t>subject</a:t>
            </a:r>
          </a:p>
          <a:p>
            <a:pPr lvl="1"/>
            <a:r>
              <a:rPr lang="en-US" dirty="0" smtClean="0"/>
              <a:t>Later design phase</a:t>
            </a:r>
            <a:r>
              <a:rPr lang="en-US" noProof="0" dirty="0" smtClean="0"/>
              <a:t>: </a:t>
            </a:r>
          </a:p>
          <a:p>
            <a:pPr lvl="2">
              <a:lnSpc>
                <a:spcPct val="120000"/>
              </a:lnSpc>
            </a:pPr>
            <a:r>
              <a:rPr lang="en-US" noProof="0" dirty="0" smtClean="0"/>
              <a:t>A/B testing </a:t>
            </a:r>
            <a:r>
              <a:rPr lang="en-US" dirty="0"/>
              <a:t>=&gt; choice between different versions of icon</a:t>
            </a:r>
            <a:endParaRPr lang="en-US" noProof="0" dirty="0" smtClean="0"/>
          </a:p>
          <a:p>
            <a:pPr lvl="2">
              <a:lnSpc>
                <a:spcPct val="120000"/>
              </a:lnSpc>
            </a:pPr>
            <a:r>
              <a:rPr lang="en-US" dirty="0" smtClean="0"/>
              <a:t>exclude </a:t>
            </a:r>
            <a:r>
              <a:rPr lang="en-US" dirty="0"/>
              <a:t>probing (if user goes back to main screen quickly, icon did not give expected result</a:t>
            </a:r>
            <a:r>
              <a:rPr lang="en-US" dirty="0" smtClean="0"/>
              <a:t>)</a:t>
            </a:r>
            <a:endParaRPr lang="en-US" noProof="0" dirty="0" smtClean="0"/>
          </a:p>
          <a:p>
            <a:pPr lvl="1"/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icons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0528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869288"/>
          </a:xfrm>
        </p:spPr>
        <p:txBody>
          <a:bodyPr>
            <a:normAutofit/>
          </a:bodyPr>
          <a:lstStyle/>
          <a:p>
            <a:r>
              <a:rPr lang="en-US" noProof="0" dirty="0" err="1" smtClean="0"/>
              <a:t>postioning</a:t>
            </a:r>
            <a:r>
              <a:rPr lang="en-US" noProof="0" dirty="0" smtClean="0"/>
              <a:t>:</a:t>
            </a:r>
          </a:p>
          <a:p>
            <a:pPr lvl="1"/>
            <a:r>
              <a:rPr lang="en-US" dirty="0"/>
              <a:t>Measure how long it takes for users to click the correct </a:t>
            </a:r>
            <a:r>
              <a:rPr lang="en-US" dirty="0" smtClean="0"/>
              <a:t>icon</a:t>
            </a:r>
          </a:p>
          <a:p>
            <a:pPr lvl="1"/>
            <a:r>
              <a:rPr lang="en-US" dirty="0" smtClean="0"/>
              <a:t>Was </a:t>
            </a:r>
            <a:r>
              <a:rPr lang="en-US" dirty="0"/>
              <a:t>the correct icon clicked first?</a:t>
            </a:r>
            <a:endParaRPr lang="en-US" sz="1000" noProof="0" dirty="0" smtClean="0"/>
          </a:p>
          <a:p>
            <a:pPr lvl="1">
              <a:buFont typeface="Symbol" panose="05050102010706020507" pitchFamily="18" charset="2"/>
              <a:buChar char="Þ"/>
            </a:pPr>
            <a:r>
              <a:rPr lang="en-US" noProof="0" dirty="0" smtClean="0"/>
              <a:t> too long =&gt; icon is badly positioned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 not first =&gt; too little difference from other icons</a:t>
            </a:r>
            <a:endParaRPr lang="en-US" noProof="0" dirty="0" smtClean="0"/>
          </a:p>
          <a:p>
            <a:pPr lvl="1">
              <a:buFont typeface="Symbol" panose="05050102010706020507" pitchFamily="18" charset="2"/>
              <a:buChar char="Þ"/>
            </a:pPr>
            <a:endParaRPr lang="en-US" noProof="0" dirty="0" smtClean="0"/>
          </a:p>
          <a:p>
            <a:r>
              <a:rPr lang="en-US" dirty="0" err="1" smtClean="0"/>
              <a:t>attractivity</a:t>
            </a:r>
            <a:r>
              <a:rPr lang="en-US" dirty="0" smtClean="0"/>
              <a:t>:</a:t>
            </a:r>
            <a:endParaRPr lang="en-US" noProof="0" dirty="0" smtClean="0"/>
          </a:p>
          <a:p>
            <a:pPr lvl="1"/>
            <a:r>
              <a:rPr lang="en-US" dirty="0"/>
              <a:t>How attractive on a scale of </a:t>
            </a:r>
            <a:r>
              <a:rPr lang="en-US" dirty="0" smtClean="0"/>
              <a:t>1-10</a:t>
            </a:r>
          </a:p>
          <a:p>
            <a:pPr lvl="1"/>
            <a:r>
              <a:rPr lang="en-US" dirty="0" smtClean="0"/>
              <a:t>More </a:t>
            </a:r>
            <a:r>
              <a:rPr lang="en-US" dirty="0"/>
              <a:t>versions: Best? Why?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Testing icons: positioning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9502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7090724" cy="4428000"/>
          </a:xfrm>
        </p:spPr>
        <p:txBody>
          <a:bodyPr/>
          <a:lstStyle/>
          <a:p>
            <a:r>
              <a:rPr lang="en-US" noProof="0" dirty="0" smtClean="0"/>
              <a:t>Popular trend </a:t>
            </a:r>
          </a:p>
          <a:p>
            <a:r>
              <a:rPr lang="en-US" noProof="0" dirty="0" smtClean="0"/>
              <a:t>2012</a:t>
            </a:r>
            <a:r>
              <a:rPr lang="en-US" dirty="0"/>
              <a:t>: starts by releasing </a:t>
            </a:r>
            <a:r>
              <a:rPr lang="en-US" dirty="0" smtClean="0"/>
              <a:t>  </a:t>
            </a:r>
            <a:br>
              <a:rPr lang="en-US" dirty="0" smtClean="0"/>
            </a:br>
            <a:r>
              <a:rPr lang="en-US" dirty="0" smtClean="0"/>
              <a:t>         Windows8</a:t>
            </a:r>
          </a:p>
          <a:p>
            <a:r>
              <a:rPr lang="en-US" dirty="0" smtClean="0"/>
              <a:t>2013</a:t>
            </a:r>
            <a:r>
              <a:rPr lang="en-US" noProof="0" dirty="0" smtClean="0"/>
              <a:t>: iOS7 released in flat </a:t>
            </a:r>
            <a:br>
              <a:rPr lang="en-US" noProof="0" dirty="0" smtClean="0"/>
            </a:br>
            <a:r>
              <a:rPr lang="en-US" noProof="0" dirty="0" smtClean="0"/>
              <a:t>         design style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4. Flat design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16" y="3839475"/>
            <a:ext cx="4762500" cy="2676525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216000"/>
            <a:ext cx="1958891" cy="3447040"/>
          </a:xfrm>
          <a:prstGeom prst="rect">
            <a:avLst/>
          </a:prstGeom>
        </p:spPr>
      </p:pic>
      <p:pic>
        <p:nvPicPr>
          <p:cNvPr id="9" name="Afbeelding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942" y="3292879"/>
            <a:ext cx="1966066" cy="3473828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912" y="3273873"/>
            <a:ext cx="1923583" cy="340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43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 smtClean="0"/>
              <a:t>Digital interface was new </a:t>
            </a:r>
            <a:r>
              <a:rPr lang="en-US" dirty="0"/>
              <a:t>=&gt; 3D effects to make clear what was clickable, where the input fields are, ...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3d effects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Windows 95 dialog box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80928"/>
            <a:ext cx="7470679" cy="296189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kstvak 7"/>
          <p:cNvSpPr txBox="1"/>
          <p:nvPr/>
        </p:nvSpPr>
        <p:spPr>
          <a:xfrm>
            <a:off x="5652120" y="2439752"/>
            <a:ext cx="159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smtClean="0">
                <a:solidFill>
                  <a:srgbClr val="00A0AE"/>
                </a:solidFill>
              </a:rPr>
              <a:t>Windows 95</a:t>
            </a:r>
            <a:endParaRPr lang="nl-BE" dirty="0">
              <a:solidFill>
                <a:srgbClr val="00A0AE"/>
              </a:solidFill>
            </a:endParaRPr>
          </a:p>
        </p:txBody>
      </p:sp>
      <p:sp>
        <p:nvSpPr>
          <p:cNvPr id="9" name="Ovaal 8"/>
          <p:cNvSpPr/>
          <p:nvPr/>
        </p:nvSpPr>
        <p:spPr>
          <a:xfrm>
            <a:off x="971600" y="3284984"/>
            <a:ext cx="1584176" cy="57606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Ovaal 9"/>
          <p:cNvSpPr/>
          <p:nvPr/>
        </p:nvSpPr>
        <p:spPr>
          <a:xfrm>
            <a:off x="6948264" y="3546938"/>
            <a:ext cx="1584176" cy="57606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Ovaal 10"/>
          <p:cNvSpPr/>
          <p:nvPr/>
        </p:nvSpPr>
        <p:spPr>
          <a:xfrm>
            <a:off x="1763688" y="4144460"/>
            <a:ext cx="4320480" cy="576064"/>
          </a:xfrm>
          <a:prstGeom prst="ellipse">
            <a:avLst/>
          </a:prstGeom>
          <a:noFill/>
          <a:ln>
            <a:solidFill>
              <a:srgbClr val="EC4B2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5652120" cy="4428000"/>
          </a:xfrm>
        </p:spPr>
        <p:txBody>
          <a:bodyPr/>
          <a:lstStyle/>
          <a:p>
            <a:r>
              <a:rPr lang="en-US" dirty="0"/>
              <a:t>UI elements that look like the real </a:t>
            </a:r>
            <a:r>
              <a:rPr lang="en-US" dirty="0" smtClean="0"/>
              <a:t>world</a:t>
            </a:r>
          </a:p>
          <a:p>
            <a:r>
              <a:rPr lang="en-US" dirty="0" smtClean="0"/>
              <a:t>Shadows </a:t>
            </a:r>
            <a:r>
              <a:rPr lang="en-US" dirty="0"/>
              <a:t>and 3D effects for realism</a:t>
            </a:r>
            <a:endParaRPr lang="en-US" noProof="0" dirty="0" smtClean="0"/>
          </a:p>
          <a:p>
            <a:pPr marL="0" indent="0">
              <a:buNone/>
            </a:pPr>
            <a:r>
              <a:rPr lang="en-US" dirty="0"/>
              <a:t>+ clearly </a:t>
            </a:r>
            <a:r>
              <a:rPr lang="en-US" dirty="0" smtClean="0"/>
              <a:t>recognizable</a:t>
            </a:r>
          </a:p>
          <a:p>
            <a:pPr>
              <a:buFontTx/>
              <a:buChar char="-"/>
            </a:pPr>
            <a:r>
              <a:rPr lang="en-US" dirty="0" smtClean="0"/>
              <a:t>takes </a:t>
            </a:r>
            <a:r>
              <a:rPr lang="en-US" dirty="0"/>
              <a:t>up a lot of </a:t>
            </a:r>
            <a:r>
              <a:rPr lang="en-US" dirty="0" smtClean="0"/>
              <a:t>space</a:t>
            </a:r>
          </a:p>
          <a:p>
            <a:pPr>
              <a:buFontTx/>
              <a:buChar char="-"/>
            </a:pPr>
            <a:r>
              <a:rPr lang="en-US" dirty="0" smtClean="0"/>
              <a:t>longer </a:t>
            </a:r>
            <a:r>
              <a:rPr lang="en-US" dirty="0"/>
              <a:t>loading times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skeuomorphism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Afbeeldingsresultaat voor aldiko book reader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246590"/>
            <a:ext cx="2701440" cy="433105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kstvak 6"/>
          <p:cNvSpPr txBox="1"/>
          <p:nvPr/>
        </p:nvSpPr>
        <p:spPr>
          <a:xfrm>
            <a:off x="5964801" y="5577649"/>
            <a:ext cx="2364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 smtClean="0">
                <a:solidFill>
                  <a:srgbClr val="000000"/>
                </a:solidFill>
              </a:rPr>
              <a:t>Aldiko</a:t>
            </a:r>
            <a:r>
              <a:rPr lang="nl-BE" dirty="0" smtClean="0">
                <a:solidFill>
                  <a:srgbClr val="000000"/>
                </a:solidFill>
              </a:rPr>
              <a:t> </a:t>
            </a:r>
            <a:r>
              <a:rPr lang="nl-BE" dirty="0" err="1" smtClean="0">
                <a:solidFill>
                  <a:srgbClr val="000000"/>
                </a:solidFill>
              </a:rPr>
              <a:t>book</a:t>
            </a:r>
            <a:r>
              <a:rPr lang="nl-BE" dirty="0" smtClean="0">
                <a:solidFill>
                  <a:srgbClr val="000000"/>
                </a:solidFill>
              </a:rPr>
              <a:t> reader</a:t>
            </a:r>
            <a:endParaRPr lang="nl-BE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90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smtClean="0"/>
              <a:t>Digital interface better</a:t>
            </a:r>
            <a:r>
              <a:rPr lang="en-US" dirty="0" smtClean="0"/>
              <a:t> known</a:t>
            </a:r>
            <a:endParaRPr lang="en-US" noProof="0" dirty="0" smtClean="0"/>
          </a:p>
          <a:p>
            <a:pPr marL="0" indent="0">
              <a:buNone/>
            </a:pPr>
            <a:r>
              <a:rPr lang="en-US" noProof="0" dirty="0" smtClean="0"/>
              <a:t>	=&gt; realism is no longer needed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Flat design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Scott Forstall on skeuomorphism: infused in Apple's design sense by Steve Jobs since the original Mac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2780928"/>
            <a:ext cx="4488048" cy="26144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jdelijke aanduiding voor inhoud 1"/>
          <p:cNvSpPr txBox="1">
            <a:spLocks/>
          </p:cNvSpPr>
          <p:nvPr/>
        </p:nvSpPr>
        <p:spPr>
          <a:xfrm>
            <a:off x="4757160" y="2650708"/>
            <a:ext cx="4386840" cy="3154556"/>
          </a:xfrm>
          <a:prstGeom prst="rect">
            <a:avLst/>
          </a:prstGeom>
        </p:spPr>
        <p:txBody>
          <a:bodyPr vert="horz" lIns="432000" tIns="252000" rIns="432000" bIns="144000" rtlCol="0">
            <a:normAutofit/>
          </a:bodyPr>
          <a:lstStyle>
            <a:lvl1pPr marL="323850" indent="-3238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90000"/>
              <a:buFont typeface="Verdana" pitchFamily="34" charset="0"/>
              <a:buChar char="•"/>
              <a:defRPr sz="3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23900" indent="-3683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−"/>
              <a:defRPr sz="25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2pPr>
            <a:lvl3pPr marL="982663" indent="-258763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•"/>
              <a:defRPr sz="23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255713" indent="-27305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itchFamily="34" charset="0"/>
              <a:buChar char="»"/>
              <a:defRPr sz="2000" kern="1200">
                <a:solidFill>
                  <a:srgbClr val="000000"/>
                </a:solidFill>
                <a:latin typeface="Trebuchet MS" pitchFamily="34" charset="0"/>
                <a:ea typeface="+mn-ea"/>
                <a:cs typeface="+mn-cs"/>
              </a:defRPr>
            </a:lvl4pPr>
            <a:lvl5pPr marL="1609725" indent="-25876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None/>
              <a:defRPr sz="17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+ focus on content</a:t>
            </a:r>
          </a:p>
          <a:p>
            <a:pPr marL="0" indent="0">
              <a:buNone/>
            </a:pPr>
            <a:r>
              <a:rPr lang="en-US" sz="2400" dirty="0" smtClean="0"/>
              <a:t>+ grid based layout </a:t>
            </a:r>
            <a:br>
              <a:rPr lang="en-US" sz="2400" dirty="0" smtClean="0"/>
            </a:br>
            <a:r>
              <a:rPr lang="en-US" sz="2400" dirty="0" smtClean="0"/>
              <a:t>   =&gt; responsive design</a:t>
            </a:r>
          </a:p>
          <a:p>
            <a:pPr marL="0" indent="0">
              <a:buNone/>
            </a:pPr>
            <a:r>
              <a:rPr lang="en-US" sz="2400" dirty="0" smtClean="0"/>
              <a:t>+ simple geometric forms </a:t>
            </a:r>
            <a:br>
              <a:rPr lang="en-US" sz="2400" dirty="0" smtClean="0"/>
            </a:br>
            <a:r>
              <a:rPr lang="en-US" sz="2400" dirty="0" smtClean="0"/>
              <a:t>   =&gt; easy to adjust</a:t>
            </a:r>
          </a:p>
          <a:p>
            <a:pPr marL="0" indent="0">
              <a:buNone/>
            </a:pPr>
            <a:r>
              <a:rPr lang="en-US" sz="2400" dirty="0" smtClean="0"/>
              <a:t>+ easier to read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2384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/>
          </a:bodyPr>
          <a:lstStyle/>
          <a:p>
            <a:r>
              <a:rPr lang="en-US" noProof="0" dirty="0" smtClean="0"/>
              <a:t>Kate Meyer (2015):</a:t>
            </a:r>
          </a:p>
          <a:p>
            <a:pPr lvl="1"/>
            <a:r>
              <a:rPr lang="en-US" noProof="0" dirty="0" smtClean="0"/>
              <a:t>User efficiency decreases</a:t>
            </a:r>
          </a:p>
          <a:p>
            <a:pPr lvl="1"/>
            <a:r>
              <a:rPr lang="en-US" dirty="0"/>
              <a:t>Uncertainty about what is </a:t>
            </a:r>
            <a:r>
              <a:rPr lang="en-US" dirty="0" smtClean="0"/>
              <a:t>clickable</a:t>
            </a:r>
          </a:p>
          <a:p>
            <a:pPr lvl="1"/>
            <a:r>
              <a:rPr lang="en-US" dirty="0" smtClean="0"/>
              <a:t>Some </a:t>
            </a:r>
            <a:r>
              <a:rPr lang="en-US" dirty="0"/>
              <a:t>functions are not </a:t>
            </a:r>
            <a:r>
              <a:rPr lang="en-US" dirty="0" smtClean="0"/>
              <a:t>discovered</a:t>
            </a:r>
            <a:br>
              <a:rPr lang="en-US" dirty="0" smtClean="0"/>
            </a:br>
            <a:endParaRPr lang="en-US" noProof="0" dirty="0" smtClean="0"/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/>
              <a:t> Place clickable elements at the </a:t>
            </a:r>
            <a:r>
              <a:rPr lang="en-US" dirty="0" smtClean="0"/>
              <a:t>top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/>
              <a:t> </a:t>
            </a:r>
            <a:r>
              <a:rPr lang="en-US" dirty="0"/>
              <a:t>Use a box, an underline or a </a:t>
            </a:r>
            <a:r>
              <a:rPr lang="en-US" dirty="0" err="1"/>
              <a:t>colour</a:t>
            </a:r>
            <a:r>
              <a:rPr lang="en-US" dirty="0"/>
              <a:t> to </a:t>
            </a:r>
            <a:r>
              <a:rPr lang="en-US" dirty="0" smtClean="0"/>
              <a:t>indicate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dirty="0"/>
              <a:t>clickable elements</a:t>
            </a:r>
            <a:endParaRPr lang="en-US" noProof="0" dirty="0" smtClean="0"/>
          </a:p>
          <a:p>
            <a:endParaRPr lang="en-US" noProof="0" dirty="0" smtClean="0"/>
          </a:p>
          <a:p>
            <a:r>
              <a:rPr lang="en-US" dirty="0"/>
              <a:t>Applications </a:t>
            </a:r>
            <a:r>
              <a:rPr lang="en-US" dirty="0" smtClean="0"/>
              <a:t>look more </a:t>
            </a:r>
            <a:r>
              <a:rPr lang="en-US" dirty="0"/>
              <a:t>and more alike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Flat design: problems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736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5796136" cy="47252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Introducing hints of shadows, highlights, and layering along the z-axis (or third dimension</a:t>
            </a:r>
            <a:r>
              <a:rPr lang="en-US" dirty="0" smtClean="0"/>
              <a:t>) to create depth</a:t>
            </a:r>
          </a:p>
          <a:p>
            <a:endParaRPr lang="nl-BE" dirty="0"/>
          </a:p>
          <a:p>
            <a:r>
              <a:rPr lang="nl-BE" noProof="0" dirty="0" err="1" smtClean="0"/>
              <a:t>Use</a:t>
            </a:r>
            <a:r>
              <a:rPr lang="nl-BE" noProof="0" dirty="0" smtClean="0"/>
              <a:t> of </a:t>
            </a:r>
            <a:r>
              <a:rPr lang="nl-BE" noProof="0" dirty="0" err="1" smtClean="0"/>
              <a:t>gradients</a:t>
            </a:r>
            <a:r>
              <a:rPr lang="nl-BE" noProof="0" dirty="0" smtClean="0"/>
              <a:t>:</a:t>
            </a:r>
          </a:p>
          <a:p>
            <a:pPr marL="0" indent="0">
              <a:buNone/>
            </a:pPr>
            <a:endParaRPr lang="nl-BE" noProof="0" dirty="0" smtClean="0"/>
          </a:p>
          <a:p>
            <a:pPr marL="0" indent="0">
              <a:buNone/>
            </a:pPr>
            <a:endParaRPr lang="nl-BE" noProof="0" dirty="0" smtClean="0"/>
          </a:p>
          <a:p>
            <a:r>
              <a:rPr lang="nl-BE" noProof="0" dirty="0" err="1" smtClean="0"/>
              <a:t>Larger</a:t>
            </a:r>
            <a:r>
              <a:rPr lang="nl-BE" noProof="0" dirty="0" smtClean="0"/>
              <a:t> </a:t>
            </a:r>
            <a:r>
              <a:rPr lang="nl-BE" noProof="0" dirty="0" err="1" smtClean="0"/>
              <a:t>color</a:t>
            </a:r>
            <a:r>
              <a:rPr lang="nl-BE" noProof="0" dirty="0" smtClean="0"/>
              <a:t> palette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Flat design 2.0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15" name="Afbeelding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291628"/>
            <a:ext cx="3232267" cy="2223008"/>
          </a:xfrm>
          <a:prstGeom prst="rect">
            <a:avLst/>
          </a:prstGeom>
        </p:spPr>
      </p:pic>
      <p:pic>
        <p:nvPicPr>
          <p:cNvPr id="6" name="Afbeelding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3140968"/>
            <a:ext cx="1429079" cy="142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0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90" y="1203231"/>
            <a:ext cx="5183820" cy="4541786"/>
          </a:xfrm>
          <a:prstGeom prst="rect">
            <a:avLst/>
          </a:prstGeom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Flat design 2.0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sp>
        <p:nvSpPr>
          <p:cNvPr id="8" name="Tekstvak 7"/>
          <p:cNvSpPr txBox="1"/>
          <p:nvPr/>
        </p:nvSpPr>
        <p:spPr>
          <a:xfrm>
            <a:off x="7308304" y="1545864"/>
            <a:ext cx="1528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00A0AE"/>
                </a:solidFill>
              </a:rPr>
              <a:t>s</a:t>
            </a:r>
            <a:r>
              <a:rPr lang="nl-BE" dirty="0" smtClean="0">
                <a:solidFill>
                  <a:srgbClr val="00A0AE"/>
                </a:solidFill>
              </a:rPr>
              <a:t>emi</a:t>
            </a:r>
          </a:p>
          <a:p>
            <a:r>
              <a:rPr lang="nl-BE" dirty="0" err="1">
                <a:solidFill>
                  <a:srgbClr val="00A0AE"/>
                </a:solidFill>
              </a:rPr>
              <a:t>t</a:t>
            </a:r>
            <a:r>
              <a:rPr lang="nl-BE" dirty="0" err="1" smtClean="0">
                <a:solidFill>
                  <a:srgbClr val="00A0AE"/>
                </a:solidFill>
              </a:rPr>
              <a:t>ransparent</a:t>
            </a:r>
            <a:endParaRPr lang="nl-BE" dirty="0" smtClean="0">
              <a:solidFill>
                <a:srgbClr val="00A0AE"/>
              </a:solidFill>
            </a:endParaRPr>
          </a:p>
          <a:p>
            <a:r>
              <a:rPr lang="nl-BE" dirty="0" err="1">
                <a:solidFill>
                  <a:srgbClr val="00A0AE"/>
                </a:solidFill>
              </a:rPr>
              <a:t>t</a:t>
            </a:r>
            <a:r>
              <a:rPr lang="nl-BE" dirty="0" err="1" smtClean="0">
                <a:solidFill>
                  <a:srgbClr val="00A0AE"/>
                </a:solidFill>
              </a:rPr>
              <a:t>o</a:t>
            </a:r>
            <a:r>
              <a:rPr lang="nl-BE" dirty="0" smtClean="0">
                <a:solidFill>
                  <a:srgbClr val="00A0AE"/>
                </a:solidFill>
              </a:rPr>
              <a:t> </a:t>
            </a:r>
            <a:r>
              <a:rPr lang="nl-BE" dirty="0" err="1" smtClean="0">
                <a:solidFill>
                  <a:srgbClr val="00A0AE"/>
                </a:solidFill>
              </a:rPr>
              <a:t>create</a:t>
            </a:r>
            <a:endParaRPr lang="nl-BE" dirty="0" smtClean="0">
              <a:solidFill>
                <a:srgbClr val="00A0AE"/>
              </a:solidFill>
            </a:endParaRPr>
          </a:p>
          <a:p>
            <a:r>
              <a:rPr lang="nl-BE" dirty="0" err="1" smtClean="0">
                <a:solidFill>
                  <a:srgbClr val="00A0AE"/>
                </a:solidFill>
              </a:rPr>
              <a:t>depth</a:t>
            </a:r>
            <a:endParaRPr lang="nl-BE" dirty="0">
              <a:solidFill>
                <a:srgbClr val="00A0AE"/>
              </a:solidFill>
            </a:endParaRPr>
          </a:p>
        </p:txBody>
      </p:sp>
      <p:cxnSp>
        <p:nvCxnSpPr>
          <p:cNvPr id="10" name="Rechte verbindingslijn met pijl 9"/>
          <p:cNvCxnSpPr/>
          <p:nvPr/>
        </p:nvCxnSpPr>
        <p:spPr>
          <a:xfrm flipV="1">
            <a:off x="6588224" y="1905676"/>
            <a:ext cx="720080" cy="665824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al 10"/>
          <p:cNvSpPr/>
          <p:nvPr/>
        </p:nvSpPr>
        <p:spPr>
          <a:xfrm>
            <a:off x="3563888" y="4982414"/>
            <a:ext cx="1152127" cy="648072"/>
          </a:xfrm>
          <a:prstGeom prst="ellipse">
            <a:avLst/>
          </a:prstGeom>
          <a:noFill/>
          <a:ln>
            <a:solidFill>
              <a:srgbClr val="00A0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kstvak 11"/>
          <p:cNvSpPr txBox="1"/>
          <p:nvPr/>
        </p:nvSpPr>
        <p:spPr>
          <a:xfrm>
            <a:off x="267187" y="3720101"/>
            <a:ext cx="1466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 err="1">
                <a:solidFill>
                  <a:srgbClr val="00A0AE"/>
                </a:solidFill>
              </a:rPr>
              <a:t>s</a:t>
            </a:r>
            <a:r>
              <a:rPr lang="nl-BE" dirty="0" err="1" smtClean="0">
                <a:solidFill>
                  <a:srgbClr val="00A0AE"/>
                </a:solidFill>
              </a:rPr>
              <a:t>hadow</a:t>
            </a:r>
            <a:r>
              <a:rPr lang="nl-BE" dirty="0" smtClean="0">
                <a:solidFill>
                  <a:srgbClr val="00A0AE"/>
                </a:solidFill>
              </a:rPr>
              <a:t> </a:t>
            </a:r>
            <a:r>
              <a:rPr lang="nl-BE" dirty="0" err="1" smtClean="0">
                <a:solidFill>
                  <a:srgbClr val="00A0AE"/>
                </a:solidFill>
              </a:rPr>
              <a:t>to</a:t>
            </a:r>
            <a:r>
              <a:rPr lang="nl-BE" dirty="0" smtClean="0">
                <a:solidFill>
                  <a:srgbClr val="00A0AE"/>
                </a:solidFill>
              </a:rPr>
              <a:t/>
            </a:r>
            <a:br>
              <a:rPr lang="nl-BE" dirty="0" smtClean="0">
                <a:solidFill>
                  <a:srgbClr val="00A0AE"/>
                </a:solidFill>
              </a:rPr>
            </a:br>
            <a:r>
              <a:rPr lang="nl-BE" dirty="0" err="1" smtClean="0">
                <a:solidFill>
                  <a:srgbClr val="00A0AE"/>
                </a:solidFill>
              </a:rPr>
              <a:t>raise</a:t>
            </a:r>
            <a:r>
              <a:rPr lang="nl-BE" dirty="0" smtClean="0">
                <a:solidFill>
                  <a:srgbClr val="00A0AE"/>
                </a:solidFill>
              </a:rPr>
              <a:t> </a:t>
            </a:r>
            <a:r>
              <a:rPr lang="nl-BE" dirty="0" err="1" smtClean="0">
                <a:solidFill>
                  <a:srgbClr val="00A0AE"/>
                </a:solidFill>
              </a:rPr>
              <a:t>the</a:t>
            </a:r>
            <a:r>
              <a:rPr lang="nl-BE" dirty="0" smtClean="0">
                <a:solidFill>
                  <a:srgbClr val="00A0AE"/>
                </a:solidFill>
              </a:rPr>
              <a:t> +</a:t>
            </a:r>
            <a:br>
              <a:rPr lang="nl-BE" dirty="0" smtClean="0">
                <a:solidFill>
                  <a:srgbClr val="00A0AE"/>
                </a:solidFill>
              </a:rPr>
            </a:br>
            <a:r>
              <a:rPr lang="nl-BE" dirty="0" smtClean="0">
                <a:solidFill>
                  <a:srgbClr val="00A0AE"/>
                </a:solidFill>
              </a:rPr>
              <a:t>button</a:t>
            </a:r>
            <a:endParaRPr lang="nl-BE" dirty="0">
              <a:solidFill>
                <a:srgbClr val="00A0AE"/>
              </a:solidFill>
            </a:endParaRPr>
          </a:p>
        </p:txBody>
      </p:sp>
      <p:cxnSp>
        <p:nvCxnSpPr>
          <p:cNvPr id="13" name="Rechte verbindingslijn met pijl 12"/>
          <p:cNvCxnSpPr>
            <a:endCxn id="12" idx="3"/>
          </p:cNvCxnSpPr>
          <p:nvPr/>
        </p:nvCxnSpPr>
        <p:spPr>
          <a:xfrm flipH="1" flipV="1">
            <a:off x="1733422" y="4181766"/>
            <a:ext cx="1846138" cy="906487"/>
          </a:xfrm>
          <a:prstGeom prst="straightConnector1">
            <a:avLst/>
          </a:prstGeom>
          <a:ln w="28575">
            <a:solidFill>
              <a:srgbClr val="00A0A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1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smtClean="0"/>
              <a:t>Card: </a:t>
            </a:r>
          </a:p>
          <a:p>
            <a:pPr lvl="1"/>
            <a:r>
              <a:rPr lang="en-US" dirty="0"/>
              <a:t>groups together pieces of related </a:t>
            </a:r>
            <a:r>
              <a:rPr lang="en-US" dirty="0" smtClean="0"/>
              <a:t>info</a:t>
            </a:r>
          </a:p>
          <a:p>
            <a:pPr lvl="1"/>
            <a:r>
              <a:rPr lang="en-US" dirty="0" smtClean="0"/>
              <a:t>link </a:t>
            </a:r>
            <a:r>
              <a:rPr lang="en-US" dirty="0"/>
              <a:t>to further info or start of </a:t>
            </a:r>
            <a:r>
              <a:rPr lang="en-US" dirty="0" smtClean="0"/>
              <a:t>task</a:t>
            </a:r>
          </a:p>
          <a:p>
            <a:pPr lvl="1"/>
            <a:endParaRPr lang="en-US" noProof="0" dirty="0" smtClean="0"/>
          </a:p>
          <a:p>
            <a:r>
              <a:rPr lang="en-US" noProof="0" dirty="0" smtClean="0"/>
              <a:t>Flat design 2.0:</a:t>
            </a:r>
          </a:p>
          <a:p>
            <a:pPr lvl="1"/>
            <a:r>
              <a:rPr lang="en-US" dirty="0"/>
              <a:t>shadows at the </a:t>
            </a:r>
            <a:r>
              <a:rPr lang="en-US" dirty="0" smtClean="0"/>
              <a:t>edges</a:t>
            </a:r>
          </a:p>
          <a:p>
            <a:pPr lvl="1"/>
            <a:r>
              <a:rPr lang="en-US" dirty="0" err="1" smtClean="0"/>
              <a:t>colour</a:t>
            </a:r>
            <a:r>
              <a:rPr lang="en-US" dirty="0" smtClean="0"/>
              <a:t> </a:t>
            </a:r>
            <a:r>
              <a:rPr lang="en-US" dirty="0"/>
              <a:t>differences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5. Card layout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https://lh6.ggpht.com/-LDUSYN_KCJoLlQ5192Fz1p-H1Tbt8WF042CjrVHdRbpWqrSdp0wKm4zmSGSNg1XJ2E=h90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54"/>
          <a:stretch/>
        </p:blipFill>
        <p:spPr bwMode="auto">
          <a:xfrm>
            <a:off x="4683128" y="2780928"/>
            <a:ext cx="4362228" cy="391516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2666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</a:t>
            </a:r>
            <a:r>
              <a:rPr lang="en-US" dirty="0" smtClean="0"/>
              <a:t>borders:</a:t>
            </a:r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endParaRPr lang="en-US" noProof="0" dirty="0" smtClean="0"/>
          </a:p>
          <a:p>
            <a:r>
              <a:rPr lang="en-US" dirty="0"/>
              <a:t>w</a:t>
            </a:r>
            <a:r>
              <a:rPr lang="en-US" noProof="0" dirty="0" err="1" smtClean="0"/>
              <a:t>ith</a:t>
            </a:r>
            <a:r>
              <a:rPr lang="en-US" noProof="0" dirty="0" smtClean="0"/>
              <a:t> borders:</a:t>
            </a:r>
            <a:endParaRPr lang="en-US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Why?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51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 descr="triangles demonstrating the law of proximi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12" y="2060849"/>
            <a:ext cx="6840000" cy="124607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7" name="Afbeelding 6" descr="triangles demonstrating the common regions princip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3959757"/>
            <a:ext cx="7200000" cy="15914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183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+ grouping possible without loss of </a:t>
            </a:r>
            <a:r>
              <a:rPr lang="en-US" sz="2400" dirty="0" smtClean="0"/>
              <a:t>space</a:t>
            </a:r>
          </a:p>
          <a:p>
            <a:pPr marL="0" indent="0">
              <a:buNone/>
            </a:pPr>
            <a:r>
              <a:rPr lang="en-US" sz="2400" dirty="0" smtClean="0"/>
              <a:t>+ </a:t>
            </a:r>
            <a:r>
              <a:rPr lang="en-US" sz="2400" dirty="0"/>
              <a:t>easily adaptable to different </a:t>
            </a:r>
            <a:r>
              <a:rPr lang="en-US" sz="2400" dirty="0" smtClean="0"/>
              <a:t>screen sizes</a:t>
            </a:r>
          </a:p>
          <a:p>
            <a:pPr marL="0" indent="0">
              <a:buNone/>
            </a:pPr>
            <a:endParaRPr lang="en-US" sz="2400" noProof="0" dirty="0" smtClean="0"/>
          </a:p>
          <a:p>
            <a:pPr marL="0" indent="0">
              <a:buNone/>
            </a:pPr>
            <a:r>
              <a:rPr lang="en-US" sz="2400" dirty="0"/>
              <a:t>− </a:t>
            </a:r>
            <a:r>
              <a:rPr lang="en-US" sz="2400" dirty="0" smtClean="0"/>
              <a:t>larger </a:t>
            </a:r>
            <a:r>
              <a:rPr lang="en-US" sz="2400" dirty="0"/>
              <a:t>than list </a:t>
            </a:r>
            <a:r>
              <a:rPr lang="en-US" sz="2400" dirty="0" smtClean="0"/>
              <a:t>elements</a:t>
            </a:r>
          </a:p>
          <a:p>
            <a:pPr marL="0" indent="0">
              <a:buNone/>
            </a:pPr>
            <a:r>
              <a:rPr lang="en-US" sz="2400" noProof="0" dirty="0" smtClean="0"/>
              <a:t>− </a:t>
            </a:r>
            <a:r>
              <a:rPr lang="en-US" sz="2400" dirty="0"/>
              <a:t>different form factors =&gt; no ranking</a:t>
            </a:r>
          </a:p>
          <a:p>
            <a:pPr marL="0" indent="0">
              <a:buNone/>
            </a:pPr>
            <a:endParaRPr lang="en-US" sz="2400" noProof="0" dirty="0" smtClean="0"/>
          </a:p>
          <a:p>
            <a:pPr marL="0" indent="0">
              <a:buNone/>
            </a:pPr>
            <a:endParaRPr lang="en-US" sz="2400" noProof="0" dirty="0" smtClean="0"/>
          </a:p>
          <a:p>
            <a:pPr>
              <a:buFont typeface="Symbol" panose="05050102010706020507" pitchFamily="18" charset="2"/>
              <a:buChar char="Þ"/>
            </a:pPr>
            <a:r>
              <a:rPr lang="en-US" sz="2400" dirty="0"/>
              <a:t> Better for unrelated subjects</a:t>
            </a:r>
            <a:r>
              <a:rPr lang="en-US" sz="2400" noProof="0" dirty="0" smtClean="0"/>
              <a:t/>
            </a:r>
            <a:br>
              <a:rPr lang="en-US" sz="2400" noProof="0" dirty="0" smtClean="0"/>
            </a:br>
            <a:r>
              <a:rPr lang="en-US" sz="2400" noProof="0" dirty="0" smtClean="0"/>
              <a:t> (e.g. dashboard applications, </a:t>
            </a:r>
            <a:br>
              <a:rPr lang="en-US" sz="2400" noProof="0" dirty="0" smtClean="0"/>
            </a:br>
            <a:r>
              <a:rPr lang="en-US" sz="2400" noProof="0" dirty="0" smtClean="0"/>
              <a:t>        list unrelated info)</a:t>
            </a:r>
          </a:p>
          <a:p>
            <a:pPr>
              <a:buFont typeface="Symbol" panose="05050102010706020507" pitchFamily="18" charset="2"/>
              <a:buChar char="Þ"/>
            </a:pPr>
            <a:endParaRPr lang="en-US" sz="2400" noProof="0" dirty="0" smtClean="0"/>
          </a:p>
          <a:p>
            <a:endParaRPr lang="en-US" sz="2400" noProof="0" dirty="0" smtClean="0"/>
          </a:p>
          <a:p>
            <a:pPr marL="0" indent="0">
              <a:buNone/>
            </a:pPr>
            <a:endParaRPr lang="en-US" sz="2400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smtClean="0"/>
              <a:t>Why?</a:t>
            </a:r>
            <a:endParaRPr lang="en-US" noProof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52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8" name="Afbeelding 7" descr="Afbeeldingsresultaat voor dashboard example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501008"/>
            <a:ext cx="3962792" cy="33569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55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Chatbots</a:t>
            </a:r>
            <a:r>
              <a:rPr lang="en-US" i="1" dirty="0"/>
              <a:t> are domain-specific </a:t>
            </a:r>
            <a:r>
              <a:rPr lang="en-US" b="1" i="1" dirty="0"/>
              <a:t>conversational</a:t>
            </a:r>
            <a:r>
              <a:rPr lang="en-US" i="1" dirty="0"/>
              <a:t> </a:t>
            </a:r>
            <a:r>
              <a:rPr lang="en-US" b="1" i="1" dirty="0"/>
              <a:t>user interfaces </a:t>
            </a:r>
            <a:r>
              <a:rPr lang="en-US" i="1" dirty="0"/>
              <a:t>that </a:t>
            </a:r>
            <a:r>
              <a:rPr lang="en-US" b="1" i="1" dirty="0"/>
              <a:t>mimic chatting </a:t>
            </a:r>
            <a:r>
              <a:rPr lang="en-US" i="1" dirty="0"/>
              <a:t>with another human to help and guide users.</a:t>
            </a:r>
            <a:endParaRPr lang="nl-BE" i="1" dirty="0" smtClean="0"/>
          </a:p>
          <a:p>
            <a:endParaRPr lang="nl-BE" dirty="0" smtClean="0"/>
          </a:p>
          <a:p>
            <a:r>
              <a:rPr lang="nl-BE" dirty="0" err="1" smtClean="0"/>
              <a:t>Mainly</a:t>
            </a:r>
            <a:r>
              <a:rPr lang="nl-BE" dirty="0" smtClean="0"/>
              <a:t> 2 types:</a:t>
            </a:r>
            <a:endParaRPr lang="nl-BE" dirty="0"/>
          </a:p>
          <a:p>
            <a:pPr lvl="1"/>
            <a:r>
              <a:rPr lang="nl-BE" dirty="0" smtClean="0"/>
              <a:t>Customer service: </a:t>
            </a:r>
          </a:p>
          <a:p>
            <a:pPr lvl="1"/>
            <a:r>
              <a:rPr lang="nl-BE" dirty="0" err="1" smtClean="0"/>
              <a:t>Interaction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chatbot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53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924944"/>
            <a:ext cx="5309989" cy="28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699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3491880" cy="4428000"/>
          </a:xfrm>
        </p:spPr>
        <p:txBody>
          <a:bodyPr/>
          <a:lstStyle/>
          <a:p>
            <a:r>
              <a:rPr lang="nl-BE" dirty="0" err="1"/>
              <a:t>t</a:t>
            </a:r>
            <a:r>
              <a:rPr lang="nl-BE" dirty="0" err="1" smtClean="0"/>
              <a:t>ypically</a:t>
            </a:r>
            <a:r>
              <a:rPr lang="nl-BE" dirty="0" smtClean="0"/>
              <a:t> </a:t>
            </a:r>
            <a:r>
              <a:rPr lang="nl-BE" dirty="0" err="1" smtClean="0"/>
              <a:t>text-only</a:t>
            </a:r>
            <a:endParaRPr lang="nl-BE" dirty="0" smtClean="0"/>
          </a:p>
          <a:p>
            <a:r>
              <a:rPr lang="nl-BE" dirty="0" err="1"/>
              <a:t>o</a:t>
            </a:r>
            <a:r>
              <a:rPr lang="nl-BE" dirty="0" err="1" smtClean="0"/>
              <a:t>ffload</a:t>
            </a:r>
            <a:r>
              <a:rPr lang="nl-BE" dirty="0" smtClean="0"/>
              <a:t> support team </a:t>
            </a:r>
            <a:r>
              <a:rPr lang="nl-BE" dirty="0" err="1" smtClean="0"/>
              <a:t>by</a:t>
            </a:r>
            <a:r>
              <a:rPr lang="nl-BE" dirty="0" smtClean="0"/>
              <a:t> chat </a:t>
            </a:r>
            <a:r>
              <a:rPr lang="nl-BE" dirty="0" err="1" smtClean="0"/>
              <a:t>between</a:t>
            </a:r>
            <a:r>
              <a:rPr lang="nl-BE" dirty="0" smtClean="0"/>
              <a:t> business and customer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Customer-service </a:t>
            </a:r>
            <a:r>
              <a:rPr lang="nl-BE" dirty="0" err="1" smtClean="0"/>
              <a:t>chatbot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54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1186970"/>
            <a:ext cx="5524031" cy="557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030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5940152" cy="4428000"/>
          </a:xfrm>
        </p:spPr>
        <p:txBody>
          <a:bodyPr/>
          <a:lstStyle/>
          <a:p>
            <a:r>
              <a:rPr lang="en-US" dirty="0" smtClean="0"/>
              <a:t>contributes </a:t>
            </a:r>
            <a:r>
              <a:rPr lang="en-US" dirty="0"/>
              <a:t>additional functionality and </a:t>
            </a:r>
            <a:r>
              <a:rPr lang="en-US" dirty="0" smtClean="0"/>
              <a:t>helps </a:t>
            </a:r>
            <a:r>
              <a:rPr lang="en-US" dirty="0"/>
              <a:t>provide a </a:t>
            </a:r>
            <a:r>
              <a:rPr lang="en-US" dirty="0" smtClean="0"/>
              <a:t>service</a:t>
            </a:r>
          </a:p>
          <a:p>
            <a:pPr lvl="1"/>
            <a:r>
              <a:rPr lang="nl-BE" dirty="0" smtClean="0"/>
              <a:t>Get a quote</a:t>
            </a:r>
          </a:p>
          <a:p>
            <a:pPr lvl="1"/>
            <a:r>
              <a:rPr lang="nl-BE" dirty="0" err="1" smtClean="0"/>
              <a:t>Place</a:t>
            </a:r>
            <a:r>
              <a:rPr lang="nl-BE" dirty="0" smtClean="0"/>
              <a:t> an order</a:t>
            </a:r>
          </a:p>
          <a:p>
            <a:pPr lvl="1"/>
            <a:r>
              <a:rPr lang="nl-BE" dirty="0" smtClean="0"/>
              <a:t>…</a:t>
            </a:r>
          </a:p>
          <a:p>
            <a:r>
              <a:rPr lang="nl-BE" dirty="0" smtClean="0"/>
              <a:t>More </a:t>
            </a:r>
            <a:r>
              <a:rPr lang="nl-BE" dirty="0" err="1" smtClean="0"/>
              <a:t>visual</a:t>
            </a:r>
            <a:r>
              <a:rPr lang="nl-BE" dirty="0" smtClean="0"/>
              <a:t> </a:t>
            </a:r>
            <a:r>
              <a:rPr lang="nl-BE" dirty="0" err="1" smtClean="0"/>
              <a:t>elements</a:t>
            </a:r>
            <a:endParaRPr lang="nl-B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Interaction</a:t>
            </a:r>
            <a:r>
              <a:rPr lang="nl-BE" dirty="0" smtClean="0"/>
              <a:t> bot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55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225270"/>
            <a:ext cx="3007831" cy="64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332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9144000" cy="4797280"/>
          </a:xfrm>
        </p:spPr>
        <p:txBody>
          <a:bodyPr>
            <a:normAutofit fontScale="62500" lnSpcReduction="20000"/>
          </a:bodyPr>
          <a:lstStyle/>
          <a:p>
            <a:r>
              <a:rPr lang="nl-BE" dirty="0" err="1" smtClean="0"/>
              <a:t>Faster</a:t>
            </a:r>
            <a:r>
              <a:rPr lang="nl-BE" dirty="0" smtClean="0"/>
              <a:t> response </a:t>
            </a:r>
            <a:r>
              <a:rPr lang="nl-BE" dirty="0" err="1" smtClean="0"/>
              <a:t>times</a:t>
            </a:r>
            <a:r>
              <a:rPr lang="nl-BE" dirty="0" smtClean="0"/>
              <a:t>: </a:t>
            </a:r>
          </a:p>
          <a:p>
            <a:pPr lvl="1"/>
            <a:r>
              <a:rPr lang="nl-BE" dirty="0" smtClean="0"/>
              <a:t>24/7</a:t>
            </a:r>
          </a:p>
          <a:p>
            <a:pPr lvl="1"/>
            <a:r>
              <a:rPr lang="nl-BE" dirty="0" err="1"/>
              <a:t>c</a:t>
            </a:r>
            <a:r>
              <a:rPr lang="nl-BE" dirty="0" err="1" smtClean="0"/>
              <a:t>an</a:t>
            </a:r>
            <a:r>
              <a:rPr lang="nl-BE" dirty="0" smtClean="0"/>
              <a:t> handle more </a:t>
            </a:r>
            <a:r>
              <a:rPr lang="nl-BE" dirty="0" err="1" smtClean="0"/>
              <a:t>questions</a:t>
            </a:r>
            <a:r>
              <a:rPr lang="nl-BE" dirty="0" smtClean="0"/>
              <a:t> at </a:t>
            </a:r>
            <a:r>
              <a:rPr lang="nl-BE" dirty="0" err="1" smtClean="0"/>
              <a:t>once</a:t>
            </a:r>
            <a:endParaRPr lang="nl-BE" dirty="0" smtClean="0"/>
          </a:p>
          <a:p>
            <a:pPr>
              <a:lnSpc>
                <a:spcPct val="170000"/>
              </a:lnSpc>
            </a:pPr>
            <a:r>
              <a:rPr lang="nl-BE" dirty="0" err="1" smtClean="0"/>
              <a:t>Simplified</a:t>
            </a:r>
            <a:r>
              <a:rPr lang="nl-BE" dirty="0" smtClean="0"/>
              <a:t> </a:t>
            </a:r>
            <a:r>
              <a:rPr lang="nl-BE" dirty="0" err="1" smtClean="0"/>
              <a:t>tasks</a:t>
            </a:r>
            <a:r>
              <a:rPr lang="nl-BE" dirty="0" smtClean="0"/>
              <a:t>: </a:t>
            </a:r>
          </a:p>
          <a:p>
            <a:pPr lvl="1"/>
            <a:r>
              <a:rPr lang="nl-BE" dirty="0"/>
              <a:t>b</a:t>
            </a:r>
            <a:r>
              <a:rPr lang="nl-BE" dirty="0" smtClean="0"/>
              <a:t>ot directs users </a:t>
            </a:r>
            <a:r>
              <a:rPr lang="nl-BE" dirty="0" err="1" smtClean="0"/>
              <a:t>through</a:t>
            </a:r>
            <a:r>
              <a:rPr lang="nl-BE" dirty="0" smtClean="0"/>
              <a:t> </a:t>
            </a:r>
            <a:r>
              <a:rPr lang="nl-BE" dirty="0" err="1" smtClean="0"/>
              <a:t>each</a:t>
            </a:r>
            <a:r>
              <a:rPr lang="nl-BE" dirty="0" smtClean="0"/>
              <a:t> step</a:t>
            </a:r>
          </a:p>
          <a:p>
            <a:pPr lvl="1"/>
            <a:r>
              <a:rPr lang="nl-BE" dirty="0"/>
              <a:t>m</a:t>
            </a:r>
            <a:r>
              <a:rPr lang="nl-BE" dirty="0" smtClean="0"/>
              <a:t>ore </a:t>
            </a:r>
            <a:r>
              <a:rPr lang="nl-BE" dirty="0" err="1" smtClean="0"/>
              <a:t>likely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> complete </a:t>
            </a:r>
            <a:r>
              <a:rPr lang="nl-BE" dirty="0" err="1" smtClean="0"/>
              <a:t>tasks</a:t>
            </a:r>
            <a:r>
              <a:rPr lang="nl-BE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nl-BE" dirty="0"/>
              <a:t>Brand </a:t>
            </a:r>
            <a:r>
              <a:rPr lang="nl-BE" dirty="0" err="1"/>
              <a:t>humanization</a:t>
            </a:r>
            <a:r>
              <a:rPr lang="nl-BE" dirty="0"/>
              <a:t>:</a:t>
            </a:r>
          </a:p>
          <a:p>
            <a:pPr lvl="1"/>
            <a:r>
              <a:rPr lang="nl-BE" dirty="0" err="1"/>
              <a:t>e</a:t>
            </a:r>
            <a:r>
              <a:rPr lang="nl-BE" dirty="0" err="1" smtClean="0"/>
              <a:t>nhance</a:t>
            </a:r>
            <a:r>
              <a:rPr lang="nl-BE" dirty="0" smtClean="0"/>
              <a:t> </a:t>
            </a:r>
            <a:r>
              <a:rPr lang="nl-BE" dirty="0" err="1" smtClean="0"/>
              <a:t>experience</a:t>
            </a:r>
            <a:r>
              <a:rPr lang="nl-BE" dirty="0" smtClean="0"/>
              <a:t> of </a:t>
            </a:r>
            <a:r>
              <a:rPr lang="nl-BE" dirty="0" err="1" smtClean="0"/>
              <a:t>interacting</a:t>
            </a:r>
            <a:r>
              <a:rPr lang="nl-BE" dirty="0" smtClean="0"/>
              <a:t> </a:t>
            </a:r>
            <a:r>
              <a:rPr lang="nl-BE" dirty="0" err="1" smtClean="0"/>
              <a:t>with</a:t>
            </a:r>
            <a:r>
              <a:rPr lang="nl-BE" dirty="0" smtClean="0"/>
              <a:t> brand</a:t>
            </a:r>
          </a:p>
          <a:p>
            <a:pPr>
              <a:lnSpc>
                <a:spcPct val="170000"/>
              </a:lnSpc>
            </a:pPr>
            <a:r>
              <a:rPr lang="nl-BE" dirty="0" err="1"/>
              <a:t>P</a:t>
            </a:r>
            <a:r>
              <a:rPr lang="nl-BE" dirty="0" err="1"/>
              <a:t>ersonalization</a:t>
            </a:r>
            <a:r>
              <a:rPr lang="nl-BE" dirty="0"/>
              <a:t>:</a:t>
            </a:r>
          </a:p>
          <a:p>
            <a:pPr lvl="1"/>
            <a:r>
              <a:rPr lang="nl-BE" dirty="0"/>
              <a:t>u</a:t>
            </a:r>
            <a:r>
              <a:rPr lang="nl-BE" dirty="0" smtClean="0"/>
              <a:t>ser </a:t>
            </a:r>
            <a:r>
              <a:rPr lang="nl-BE" dirty="0" err="1" smtClean="0"/>
              <a:t>experience</a:t>
            </a:r>
            <a:r>
              <a:rPr lang="nl-BE" dirty="0" smtClean="0"/>
              <a:t> </a:t>
            </a:r>
            <a:r>
              <a:rPr lang="nl-BE" dirty="0" err="1" smtClean="0"/>
              <a:t>feels</a:t>
            </a:r>
            <a:r>
              <a:rPr lang="nl-BE" dirty="0" smtClean="0"/>
              <a:t> more </a:t>
            </a:r>
            <a:r>
              <a:rPr lang="nl-BE" dirty="0" err="1" smtClean="0"/>
              <a:t>one</a:t>
            </a:r>
            <a:r>
              <a:rPr lang="nl-BE" dirty="0" smtClean="0"/>
              <a:t>-on-</a:t>
            </a:r>
            <a:r>
              <a:rPr lang="nl-BE" dirty="0" err="1" smtClean="0"/>
              <a:t>one</a:t>
            </a:r>
            <a:endParaRPr lang="nl-BE" dirty="0" smtClean="0"/>
          </a:p>
          <a:p>
            <a:pPr>
              <a:lnSpc>
                <a:spcPct val="170000"/>
              </a:lnSpc>
            </a:pPr>
            <a:r>
              <a:rPr lang="nl-BE" dirty="0" err="1"/>
              <a:t>Informative</a:t>
            </a:r>
            <a:r>
              <a:rPr lang="nl-BE" dirty="0"/>
              <a:t> data:</a:t>
            </a:r>
          </a:p>
          <a:p>
            <a:pPr lvl="1"/>
            <a:r>
              <a:rPr lang="nl-BE" dirty="0" err="1"/>
              <a:t>g</a:t>
            </a:r>
            <a:r>
              <a:rPr lang="nl-BE" dirty="0" err="1" smtClean="0"/>
              <a:t>ather</a:t>
            </a:r>
            <a:r>
              <a:rPr lang="nl-BE" dirty="0" smtClean="0"/>
              <a:t> </a:t>
            </a:r>
            <a:r>
              <a:rPr lang="nl-BE" dirty="0" err="1" smtClean="0"/>
              <a:t>useful</a:t>
            </a:r>
            <a:r>
              <a:rPr lang="nl-BE" dirty="0" smtClean="0"/>
              <a:t> data </a:t>
            </a:r>
            <a:r>
              <a:rPr lang="nl-BE" dirty="0" err="1" smtClean="0"/>
              <a:t>about</a:t>
            </a:r>
            <a:r>
              <a:rPr lang="nl-BE" dirty="0" smtClean="0"/>
              <a:t> </a:t>
            </a:r>
            <a:r>
              <a:rPr lang="nl-BE" dirty="0" err="1" smtClean="0"/>
              <a:t>people</a:t>
            </a:r>
            <a:r>
              <a:rPr lang="nl-BE" dirty="0" smtClean="0"/>
              <a:t> </a:t>
            </a:r>
            <a:r>
              <a:rPr lang="nl-BE" dirty="0" err="1" smtClean="0"/>
              <a:t>using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app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improve</a:t>
            </a:r>
            <a:r>
              <a:rPr lang="nl-BE" dirty="0" smtClean="0"/>
              <a:t> UX</a:t>
            </a:r>
          </a:p>
          <a:p>
            <a:endParaRPr lang="nl-BE" dirty="0" smtClean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Chatbot</a:t>
            </a:r>
            <a:r>
              <a:rPr lang="nl-BE" dirty="0" smtClean="0"/>
              <a:t> Benefits for UX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56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55" y="1051955"/>
            <a:ext cx="4555945" cy="272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78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52000"/>
            <a:ext cx="5436096" cy="4869288"/>
          </a:xfrm>
        </p:spPr>
        <p:txBody>
          <a:bodyPr>
            <a:normAutofit fontScale="92500"/>
          </a:bodyPr>
          <a:lstStyle/>
          <a:p>
            <a:r>
              <a:rPr lang="nl-BE" dirty="0" smtClean="0"/>
              <a:t>Language </a:t>
            </a:r>
            <a:r>
              <a:rPr lang="nl-BE" dirty="0" err="1" smtClean="0"/>
              <a:t>complexity</a:t>
            </a:r>
            <a:r>
              <a:rPr lang="nl-BE" dirty="0" smtClean="0"/>
              <a:t>:</a:t>
            </a:r>
          </a:p>
          <a:p>
            <a:pPr lvl="1"/>
            <a:r>
              <a:rPr lang="nl-BE" dirty="0" smtClean="0"/>
              <a:t>Human </a:t>
            </a:r>
            <a:r>
              <a:rPr lang="nl-BE" dirty="0" err="1" smtClean="0"/>
              <a:t>language</a:t>
            </a:r>
            <a:r>
              <a:rPr lang="nl-BE" dirty="0" smtClean="0"/>
              <a:t> is complex </a:t>
            </a:r>
          </a:p>
          <a:p>
            <a:pPr lvl="1"/>
            <a:r>
              <a:rPr lang="nl-BE" dirty="0" err="1" smtClean="0"/>
              <a:t>Synonyms</a:t>
            </a:r>
            <a:r>
              <a:rPr lang="nl-BE" dirty="0" smtClean="0"/>
              <a:t> </a:t>
            </a:r>
            <a:r>
              <a:rPr lang="nl-BE" dirty="0" err="1" smtClean="0"/>
              <a:t>not</a:t>
            </a:r>
            <a:r>
              <a:rPr lang="nl-BE" dirty="0" smtClean="0"/>
              <a:t> </a:t>
            </a:r>
            <a:r>
              <a:rPr lang="nl-BE" dirty="0" err="1" smtClean="0"/>
              <a:t>recognized</a:t>
            </a:r>
            <a:r>
              <a:rPr lang="nl-BE" dirty="0" smtClean="0"/>
              <a:t> </a:t>
            </a:r>
            <a:r>
              <a:rPr lang="nl-BE" dirty="0" err="1" smtClean="0"/>
              <a:t>since</a:t>
            </a:r>
            <a:r>
              <a:rPr lang="nl-BE" dirty="0" smtClean="0"/>
              <a:t> </a:t>
            </a:r>
            <a:r>
              <a:rPr lang="nl-BE" dirty="0" err="1" smtClean="0"/>
              <a:t>not</a:t>
            </a:r>
            <a:r>
              <a:rPr lang="nl-BE" dirty="0" smtClean="0"/>
              <a:t> </a:t>
            </a:r>
            <a:r>
              <a:rPr lang="nl-BE" dirty="0" err="1" smtClean="0"/>
              <a:t>stored</a:t>
            </a:r>
            <a:r>
              <a:rPr lang="nl-BE" dirty="0" smtClean="0"/>
              <a:t> as a </a:t>
            </a:r>
            <a:r>
              <a:rPr lang="nl-BE" dirty="0" err="1" smtClean="0"/>
              <a:t>keyword</a:t>
            </a:r>
            <a:endParaRPr lang="nl-BE" dirty="0" smtClean="0"/>
          </a:p>
          <a:p>
            <a:pPr>
              <a:lnSpc>
                <a:spcPct val="150000"/>
              </a:lnSpc>
            </a:pPr>
            <a:r>
              <a:rPr lang="nl-BE" dirty="0" err="1" smtClean="0"/>
              <a:t>Strict</a:t>
            </a:r>
            <a:r>
              <a:rPr lang="nl-BE" dirty="0" smtClean="0"/>
              <a:t> script =&gt; include AI</a:t>
            </a:r>
          </a:p>
          <a:p>
            <a:pPr lvl="1"/>
            <a:r>
              <a:rPr lang="nl-BE" dirty="0" smtClean="0"/>
              <a:t>No support for flow different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</a:t>
            </a:r>
            <a:r>
              <a:rPr lang="nl-BE" dirty="0" err="1" smtClean="0"/>
              <a:t>scripted</a:t>
            </a:r>
            <a:r>
              <a:rPr lang="nl-BE" dirty="0" smtClean="0"/>
              <a:t> </a:t>
            </a:r>
            <a:r>
              <a:rPr lang="nl-BE" dirty="0" err="1" smtClean="0"/>
              <a:t>one</a:t>
            </a:r>
            <a:endParaRPr lang="nl-BE" dirty="0" smtClean="0"/>
          </a:p>
          <a:p>
            <a:pPr lvl="1"/>
            <a:r>
              <a:rPr lang="nl-BE" dirty="0" err="1" smtClean="0"/>
              <a:t>Unnecessarily</a:t>
            </a:r>
            <a:r>
              <a:rPr lang="nl-BE" dirty="0" smtClean="0"/>
              <a:t> long </a:t>
            </a:r>
            <a:r>
              <a:rPr lang="nl-BE" dirty="0" err="1" smtClean="0"/>
              <a:t>path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find</a:t>
            </a:r>
            <a:r>
              <a:rPr lang="nl-BE" dirty="0" smtClean="0"/>
              <a:t> an </a:t>
            </a:r>
            <a:r>
              <a:rPr lang="nl-BE" dirty="0" err="1" smtClean="0"/>
              <a:t>answer</a:t>
            </a:r>
            <a:endParaRPr lang="nl-BE" dirty="0" smtClean="0"/>
          </a:p>
          <a:p>
            <a:pPr lvl="1"/>
            <a:endParaRPr lang="nl-BE" dirty="0" smtClean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Chatbot</a:t>
            </a:r>
            <a:r>
              <a:rPr lang="nl-BE" dirty="0" smtClean="0"/>
              <a:t> UX </a:t>
            </a:r>
            <a:r>
              <a:rPr lang="nl-BE" dirty="0" err="1" smtClean="0"/>
              <a:t>problems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57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090" y="1152000"/>
            <a:ext cx="3760910" cy="48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554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142984"/>
            <a:ext cx="5724128" cy="5392074"/>
          </a:xfrm>
        </p:spPr>
        <p:txBody>
          <a:bodyPr>
            <a:normAutofit fontScale="77500" lnSpcReduction="20000"/>
          </a:bodyPr>
          <a:lstStyle/>
          <a:p>
            <a:r>
              <a:rPr lang="nl-BE" dirty="0" smtClean="0"/>
              <a:t>Design </a:t>
            </a:r>
            <a:r>
              <a:rPr lang="nl-BE" dirty="0" err="1" smtClean="0"/>
              <a:t>limitations</a:t>
            </a:r>
            <a:r>
              <a:rPr lang="nl-BE" dirty="0" smtClean="0"/>
              <a:t>:</a:t>
            </a:r>
          </a:p>
          <a:p>
            <a:pPr lvl="1">
              <a:lnSpc>
                <a:spcPct val="120000"/>
              </a:lnSpc>
            </a:pPr>
            <a:r>
              <a:rPr lang="nl-BE" dirty="0" smtClean="0"/>
              <a:t>Limited </a:t>
            </a:r>
            <a:r>
              <a:rPr lang="nl-BE" dirty="0" err="1" smtClean="0"/>
              <a:t>space</a:t>
            </a:r>
            <a:r>
              <a:rPr lang="nl-BE" dirty="0" smtClean="0"/>
              <a:t> in chat bot </a:t>
            </a:r>
            <a:r>
              <a:rPr lang="nl-BE" dirty="0" err="1" smtClean="0"/>
              <a:t>to</a:t>
            </a:r>
            <a:r>
              <a:rPr lang="nl-BE" dirty="0" smtClean="0"/>
              <a:t> e.g. show different options</a:t>
            </a:r>
          </a:p>
          <a:p>
            <a:pPr>
              <a:lnSpc>
                <a:spcPct val="160000"/>
              </a:lnSpc>
            </a:pPr>
            <a:r>
              <a:rPr lang="nl-BE" dirty="0" err="1"/>
              <a:t>Questionable</a:t>
            </a:r>
            <a:r>
              <a:rPr lang="nl-BE" dirty="0"/>
              <a:t> benefit:</a:t>
            </a:r>
          </a:p>
          <a:p>
            <a:pPr lvl="1">
              <a:lnSpc>
                <a:spcPct val="120000"/>
              </a:lnSpc>
            </a:pPr>
            <a:r>
              <a:rPr lang="nl-BE" dirty="0" err="1" smtClean="0"/>
              <a:t>Not</a:t>
            </a:r>
            <a:r>
              <a:rPr lang="nl-BE" dirty="0" smtClean="0"/>
              <a:t> </a:t>
            </a:r>
            <a:r>
              <a:rPr lang="nl-BE" dirty="0" err="1" smtClean="0"/>
              <a:t>always</a:t>
            </a:r>
            <a:r>
              <a:rPr lang="nl-BE" dirty="0" smtClean="0"/>
              <a:t> </a:t>
            </a:r>
            <a:r>
              <a:rPr lang="nl-BE" dirty="0" err="1" smtClean="0"/>
              <a:t>better</a:t>
            </a:r>
            <a:r>
              <a:rPr lang="nl-BE" dirty="0" smtClean="0"/>
              <a:t> or more user </a:t>
            </a:r>
            <a:r>
              <a:rPr lang="nl-BE" dirty="0" err="1" smtClean="0"/>
              <a:t>friendly</a:t>
            </a:r>
            <a:r>
              <a:rPr lang="nl-BE" dirty="0" smtClean="0"/>
              <a:t> </a:t>
            </a:r>
            <a:r>
              <a:rPr lang="nl-BE" dirty="0" err="1" smtClean="0"/>
              <a:t>than</a:t>
            </a:r>
            <a:r>
              <a:rPr lang="nl-BE" dirty="0" smtClean="0"/>
              <a:t> </a:t>
            </a:r>
            <a:r>
              <a:rPr lang="nl-BE" dirty="0" err="1" smtClean="0"/>
              <a:t>conventional</a:t>
            </a:r>
            <a:r>
              <a:rPr lang="nl-BE" dirty="0" smtClean="0"/>
              <a:t> </a:t>
            </a:r>
            <a:r>
              <a:rPr lang="nl-BE" dirty="0" err="1" smtClean="0"/>
              <a:t>methods</a:t>
            </a:r>
            <a:endParaRPr lang="nl-BE" dirty="0"/>
          </a:p>
          <a:p>
            <a:pPr lvl="1">
              <a:lnSpc>
                <a:spcPct val="120000"/>
              </a:lnSpc>
            </a:pPr>
            <a:r>
              <a:rPr lang="en-US" dirty="0"/>
              <a:t>For example, a shopping bot may not be faster or more convenient when you have already spent years optimizing your site’s UX to include features like auto-login, wish lists or saved billing information.</a:t>
            </a:r>
            <a:endParaRPr lang="nl-BE" dirty="0"/>
          </a:p>
          <a:p>
            <a:pPr lvl="1"/>
            <a:endParaRPr lang="nl-BE" dirty="0" smtClean="0"/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Chatbot</a:t>
            </a:r>
            <a:r>
              <a:rPr lang="nl-BE" dirty="0" smtClean="0"/>
              <a:t> UX </a:t>
            </a:r>
            <a:r>
              <a:rPr lang="nl-BE" dirty="0" err="1" smtClean="0"/>
              <a:t>problems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58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12" y="219774"/>
            <a:ext cx="3053595" cy="652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126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>
          <a:xfrm>
            <a:off x="0" y="1556792"/>
            <a:ext cx="9144000" cy="4650425"/>
          </a:xfrm>
        </p:spPr>
        <p:txBody>
          <a:bodyPr>
            <a:normAutofit fontScale="77500" lnSpcReduction="20000"/>
          </a:bodyPr>
          <a:lstStyle/>
          <a:p>
            <a:r>
              <a:rPr lang="nl-BE" dirty="0" smtClean="0"/>
              <a:t>UI </a:t>
            </a:r>
            <a:r>
              <a:rPr lang="nl-BE" dirty="0" err="1" smtClean="0"/>
              <a:t>enhanced</a:t>
            </a:r>
            <a:r>
              <a:rPr lang="nl-BE" dirty="0" smtClean="0"/>
              <a:t> </a:t>
            </a:r>
            <a:r>
              <a:rPr lang="nl-BE" dirty="0" err="1" smtClean="0"/>
              <a:t>with</a:t>
            </a:r>
            <a:r>
              <a:rPr lang="nl-BE" dirty="0" smtClean="0"/>
              <a:t/>
            </a:r>
            <a:br>
              <a:rPr lang="nl-BE" dirty="0" smtClean="0"/>
            </a:br>
            <a:r>
              <a:rPr lang="nl-BE" dirty="0" smtClean="0"/>
              <a:t>AI </a:t>
            </a:r>
            <a:r>
              <a:rPr lang="nl-BE" dirty="0" err="1" smtClean="0"/>
              <a:t>functions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/>
            </a:r>
            <a:br>
              <a:rPr lang="nl-BE" dirty="0" smtClean="0"/>
            </a:br>
            <a:r>
              <a:rPr lang="nl-BE" dirty="0" err="1" smtClean="0"/>
              <a:t>improve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</a:t>
            </a:r>
            <a:br>
              <a:rPr lang="nl-BE" dirty="0" smtClean="0"/>
            </a:br>
            <a:r>
              <a:rPr lang="nl-BE" dirty="0" err="1" smtClean="0"/>
              <a:t>interaction</a:t>
            </a:r>
            <a:r>
              <a:rPr lang="nl-BE" dirty="0" smtClean="0"/>
              <a:t> </a:t>
            </a:r>
            <a:r>
              <a:rPr lang="nl-BE" dirty="0" err="1" smtClean="0"/>
              <a:t>between</a:t>
            </a:r>
            <a:r>
              <a:rPr lang="nl-BE" dirty="0" smtClean="0"/>
              <a:t> </a:t>
            </a:r>
            <a:br>
              <a:rPr lang="nl-BE" dirty="0" smtClean="0"/>
            </a:br>
            <a:r>
              <a:rPr lang="nl-BE" dirty="0" err="1" smtClean="0"/>
              <a:t>humans</a:t>
            </a:r>
            <a:r>
              <a:rPr lang="nl-BE" dirty="0" smtClean="0"/>
              <a:t> and machines</a:t>
            </a:r>
          </a:p>
          <a:p>
            <a:r>
              <a:rPr lang="en-US" dirty="0"/>
              <a:t>the AI has the ability to understand user’s commands and present the user the best possible predictions based on all the available data it has</a:t>
            </a:r>
            <a:r>
              <a:rPr lang="en-US" dirty="0" smtClean="0"/>
              <a:t>.</a:t>
            </a:r>
          </a:p>
          <a:p>
            <a:r>
              <a:rPr lang="nl-BE" dirty="0" smtClean="0"/>
              <a:t>Beter interface </a:t>
            </a:r>
            <a:r>
              <a:rPr lang="nl-BE" dirty="0" err="1" smtClean="0"/>
              <a:t>personalisation</a:t>
            </a:r>
            <a:endParaRPr lang="nl-BE" dirty="0" smtClean="0"/>
          </a:p>
          <a:p>
            <a:r>
              <a:rPr lang="nl-BE" dirty="0" smtClean="0"/>
              <a:t>BUT:</a:t>
            </a:r>
          </a:p>
          <a:p>
            <a:pPr lvl="1"/>
            <a:r>
              <a:rPr lang="nl-BE" dirty="0" smtClean="0"/>
              <a:t>AI </a:t>
            </a:r>
            <a:r>
              <a:rPr lang="nl-BE" dirty="0" err="1" smtClean="0"/>
              <a:t>will</a:t>
            </a:r>
            <a:r>
              <a:rPr lang="nl-BE" dirty="0" smtClean="0"/>
              <a:t> make mistakes =&gt; make </a:t>
            </a:r>
            <a:r>
              <a:rPr lang="nl-BE" dirty="0" err="1" smtClean="0"/>
              <a:t>sure</a:t>
            </a:r>
            <a:r>
              <a:rPr lang="nl-BE" dirty="0" smtClean="0"/>
              <a:t> user </a:t>
            </a:r>
            <a:r>
              <a:rPr lang="nl-BE" dirty="0" err="1" smtClean="0"/>
              <a:t>can</a:t>
            </a:r>
            <a:r>
              <a:rPr lang="nl-BE" dirty="0" smtClean="0"/>
              <a:t> </a:t>
            </a:r>
            <a:r>
              <a:rPr lang="nl-BE" dirty="0" err="1" smtClean="0"/>
              <a:t>easily</a:t>
            </a:r>
            <a:r>
              <a:rPr lang="nl-BE" dirty="0" smtClean="0"/>
              <a:t> </a:t>
            </a:r>
            <a:r>
              <a:rPr lang="nl-BE" dirty="0" err="1" smtClean="0"/>
              <a:t>recover</a:t>
            </a:r>
            <a:r>
              <a:rPr lang="nl-BE" dirty="0" smtClean="0"/>
              <a:t> </a:t>
            </a:r>
            <a:r>
              <a:rPr lang="nl-BE" dirty="0" err="1" smtClean="0"/>
              <a:t>from</a:t>
            </a:r>
            <a:r>
              <a:rPr lang="nl-BE" dirty="0" smtClean="0"/>
              <a:t> </a:t>
            </a:r>
            <a:r>
              <a:rPr lang="nl-BE" dirty="0" err="1" smtClean="0"/>
              <a:t>them</a:t>
            </a:r>
            <a:endParaRPr lang="nl-BE" dirty="0" smtClean="0"/>
          </a:p>
          <a:p>
            <a:pPr lvl="1"/>
            <a:r>
              <a:rPr lang="nl-BE" dirty="0" smtClean="0"/>
              <a:t>Correct </a:t>
            </a:r>
            <a:r>
              <a:rPr lang="nl-BE" dirty="0" err="1" smtClean="0"/>
              <a:t>expectations</a:t>
            </a:r>
            <a:r>
              <a:rPr lang="nl-BE" dirty="0" smtClean="0"/>
              <a:t> (</a:t>
            </a:r>
            <a:r>
              <a:rPr lang="nl-BE" dirty="0" err="1" smtClean="0"/>
              <a:t>what</a:t>
            </a:r>
            <a:r>
              <a:rPr lang="nl-BE" dirty="0" smtClean="0"/>
              <a:t> </a:t>
            </a:r>
            <a:r>
              <a:rPr lang="nl-BE" dirty="0" err="1" smtClean="0"/>
              <a:t>can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tool do and </a:t>
            </a:r>
            <a:r>
              <a:rPr lang="nl-BE" dirty="0" err="1" smtClean="0"/>
              <a:t>what</a:t>
            </a:r>
            <a:r>
              <a:rPr lang="nl-BE" dirty="0" smtClean="0"/>
              <a:t> </a:t>
            </a:r>
            <a:r>
              <a:rPr lang="nl-BE" dirty="0" err="1" smtClean="0"/>
              <a:t>not</a:t>
            </a:r>
            <a:r>
              <a:rPr lang="nl-BE" dirty="0" smtClean="0"/>
              <a:t>?)</a:t>
            </a:r>
          </a:p>
          <a:p>
            <a:pPr lvl="1"/>
            <a:r>
              <a:rPr lang="nl-BE" dirty="0" err="1" smtClean="0"/>
              <a:t>Not</a:t>
            </a:r>
            <a:r>
              <a:rPr lang="nl-BE" dirty="0" smtClean="0"/>
              <a:t> </a:t>
            </a:r>
            <a:r>
              <a:rPr lang="nl-BE" dirty="0" err="1" smtClean="0"/>
              <a:t>fully</a:t>
            </a:r>
            <a:r>
              <a:rPr lang="nl-BE" dirty="0" smtClean="0"/>
              <a:t> </a:t>
            </a:r>
            <a:r>
              <a:rPr lang="nl-BE" dirty="0" err="1" smtClean="0"/>
              <a:t>trusted</a:t>
            </a:r>
            <a:r>
              <a:rPr lang="nl-BE" dirty="0" smtClean="0"/>
              <a:t> </a:t>
            </a:r>
            <a:r>
              <a:rPr lang="nl-BE" dirty="0" err="1" smtClean="0"/>
              <a:t>yet</a:t>
            </a:r>
            <a:r>
              <a:rPr lang="nl-BE" dirty="0" smtClean="0"/>
              <a:t> (privacy, </a:t>
            </a:r>
            <a:r>
              <a:rPr lang="nl-BE" dirty="0" err="1" smtClean="0"/>
              <a:t>what</a:t>
            </a:r>
            <a:r>
              <a:rPr lang="nl-BE" dirty="0" smtClean="0"/>
              <a:t> data is </a:t>
            </a:r>
            <a:r>
              <a:rPr lang="nl-BE" dirty="0" err="1" smtClean="0"/>
              <a:t>stored</a:t>
            </a:r>
            <a:r>
              <a:rPr lang="nl-BE" dirty="0" smtClean="0"/>
              <a:t>, …)</a:t>
            </a:r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Use</a:t>
            </a:r>
            <a:r>
              <a:rPr lang="nl-BE" dirty="0" smtClean="0"/>
              <a:t> of AI in UI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59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41" y="0"/>
            <a:ext cx="5279850" cy="293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578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smtClean="0"/>
              <a:t>User research in UX design =&gt; </a:t>
            </a:r>
            <a:r>
              <a:rPr lang="nl-BE" dirty="0" err="1" smtClean="0"/>
              <a:t>lots</a:t>
            </a:r>
            <a:r>
              <a:rPr lang="nl-BE" dirty="0" smtClean="0"/>
              <a:t> of data and video </a:t>
            </a:r>
            <a:r>
              <a:rPr lang="nl-BE" dirty="0" err="1" smtClean="0"/>
              <a:t>material</a:t>
            </a:r>
            <a:r>
              <a:rPr lang="nl-BE" dirty="0" smtClean="0"/>
              <a:t> =&gt; </a:t>
            </a:r>
            <a:r>
              <a:rPr lang="nl-BE" dirty="0" err="1" smtClean="0"/>
              <a:t>use</a:t>
            </a:r>
            <a:r>
              <a:rPr lang="nl-BE" dirty="0" smtClean="0"/>
              <a:t> of AI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interprete</a:t>
            </a:r>
            <a:r>
              <a:rPr lang="nl-BE" dirty="0" smtClean="0"/>
              <a:t> data </a:t>
            </a:r>
            <a:r>
              <a:rPr lang="nl-BE" dirty="0" err="1" smtClean="0"/>
              <a:t>gives</a:t>
            </a:r>
            <a:r>
              <a:rPr lang="nl-BE" dirty="0" smtClean="0"/>
              <a:t> </a:t>
            </a:r>
            <a:r>
              <a:rPr lang="nl-BE" dirty="0" err="1" smtClean="0"/>
              <a:t>better</a:t>
            </a:r>
            <a:r>
              <a:rPr lang="nl-BE" dirty="0" smtClean="0"/>
              <a:t> </a:t>
            </a:r>
            <a:r>
              <a:rPr lang="nl-BE" dirty="0" err="1" smtClean="0"/>
              <a:t>insides</a:t>
            </a:r>
            <a:endParaRPr lang="nl-BE" dirty="0" smtClean="0"/>
          </a:p>
          <a:p>
            <a:r>
              <a:rPr lang="nl-BE" dirty="0" smtClean="0"/>
              <a:t>AI </a:t>
            </a:r>
            <a:r>
              <a:rPr lang="nl-BE" dirty="0" err="1" smtClean="0"/>
              <a:t>incorporated</a:t>
            </a:r>
            <a:r>
              <a:rPr lang="nl-BE" dirty="0" smtClean="0"/>
              <a:t> in </a:t>
            </a:r>
            <a:r>
              <a:rPr lang="nl-BE" dirty="0" err="1" smtClean="0"/>
              <a:t>application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gather</a:t>
            </a:r>
            <a:r>
              <a:rPr lang="nl-BE" dirty="0" smtClean="0"/>
              <a:t> and </a:t>
            </a:r>
            <a:r>
              <a:rPr lang="nl-BE" dirty="0" err="1" smtClean="0"/>
              <a:t>interprete</a:t>
            </a:r>
            <a:r>
              <a:rPr lang="nl-BE" dirty="0" smtClean="0"/>
              <a:t> data on </a:t>
            </a:r>
            <a:r>
              <a:rPr lang="nl-BE" dirty="0" err="1" smtClean="0"/>
              <a:t>what</a:t>
            </a:r>
            <a:r>
              <a:rPr lang="nl-BE" dirty="0" smtClean="0"/>
              <a:t> </a:t>
            </a:r>
            <a:r>
              <a:rPr lang="nl-BE" dirty="0" err="1" smtClean="0"/>
              <a:t>elements</a:t>
            </a:r>
            <a:r>
              <a:rPr lang="nl-BE" dirty="0" smtClean="0"/>
              <a:t> of </a:t>
            </a:r>
            <a:r>
              <a:rPr lang="nl-BE" dirty="0" err="1" smtClean="0"/>
              <a:t>the</a:t>
            </a:r>
            <a:r>
              <a:rPr lang="nl-BE" dirty="0" smtClean="0"/>
              <a:t> UI </a:t>
            </a:r>
            <a:r>
              <a:rPr lang="nl-BE" dirty="0" err="1" smtClean="0"/>
              <a:t>work</a:t>
            </a:r>
            <a:r>
              <a:rPr lang="nl-BE" dirty="0" smtClean="0"/>
              <a:t> and </a:t>
            </a:r>
            <a:r>
              <a:rPr lang="nl-BE" dirty="0" err="1" smtClean="0"/>
              <a:t>which</a:t>
            </a:r>
            <a:r>
              <a:rPr lang="nl-BE" dirty="0" smtClean="0"/>
              <a:t> </a:t>
            </a:r>
            <a:r>
              <a:rPr lang="nl-BE" dirty="0" err="1" smtClean="0"/>
              <a:t>ones</a:t>
            </a:r>
            <a:r>
              <a:rPr lang="nl-BE" dirty="0" smtClean="0"/>
              <a:t> </a:t>
            </a:r>
            <a:r>
              <a:rPr lang="nl-BE" dirty="0" err="1" smtClean="0"/>
              <a:t>don’t</a:t>
            </a:r>
            <a:endParaRPr lang="nl-BE" dirty="0" smtClean="0"/>
          </a:p>
          <a:p>
            <a:r>
              <a:rPr lang="nl-BE" dirty="0" smtClean="0"/>
              <a:t>New tools are </a:t>
            </a:r>
            <a:r>
              <a:rPr lang="nl-BE" dirty="0" err="1" smtClean="0"/>
              <a:t>being</a:t>
            </a:r>
            <a:r>
              <a:rPr lang="nl-BE" dirty="0" smtClean="0"/>
              <a:t> </a:t>
            </a:r>
            <a:r>
              <a:rPr lang="nl-BE" smtClean="0"/>
              <a:t>developed</a:t>
            </a:r>
            <a:r>
              <a:rPr lang="nl-BE" dirty="0" smtClean="0"/>
              <a:t>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ease</a:t>
            </a:r>
            <a:r>
              <a:rPr lang="nl-BE" dirty="0" smtClean="0"/>
              <a:t> </a:t>
            </a:r>
            <a:r>
              <a:rPr lang="nl-BE" dirty="0" err="1" smtClean="0"/>
              <a:t>the</a:t>
            </a:r>
            <a:r>
              <a:rPr lang="nl-BE" dirty="0" smtClean="0"/>
              <a:t> UI design </a:t>
            </a:r>
            <a:r>
              <a:rPr lang="nl-BE" dirty="0" err="1" smtClean="0"/>
              <a:t>process</a:t>
            </a:r>
            <a:r>
              <a:rPr lang="nl-BE" dirty="0" smtClean="0"/>
              <a:t> </a:t>
            </a:r>
            <a:r>
              <a:rPr lang="nl-BE" dirty="0" err="1" smtClean="0"/>
              <a:t>based</a:t>
            </a:r>
            <a:r>
              <a:rPr lang="nl-BE" dirty="0" smtClean="0"/>
              <a:t> on AI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 smtClean="0"/>
              <a:t>Use</a:t>
            </a:r>
            <a:r>
              <a:rPr lang="nl-BE" dirty="0" smtClean="0"/>
              <a:t> of AI </a:t>
            </a:r>
            <a:r>
              <a:rPr lang="nl-BE" dirty="0" err="1" smtClean="0"/>
              <a:t>to</a:t>
            </a:r>
            <a:r>
              <a:rPr lang="nl-BE" dirty="0" smtClean="0"/>
              <a:t> </a:t>
            </a:r>
            <a:r>
              <a:rPr lang="nl-BE" dirty="0" err="1" smtClean="0"/>
              <a:t>improve</a:t>
            </a:r>
            <a:r>
              <a:rPr lang="nl-BE" dirty="0" smtClean="0"/>
              <a:t> UX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60</a:t>
            </a:fld>
            <a:endParaRPr lang="nl-BE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l-BE" smtClean="0"/>
              <a:t>GUI design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46554061"/>
      </p:ext>
    </p:extLst>
  </p:cSld>
  <p:clrMapOvr>
    <a:masterClrMapping/>
  </p:clrMapOvr>
</p:sld>
</file>

<file path=ppt/theme/theme1.xml><?xml version="1.0" encoding="utf-8"?>
<a:theme xmlns:a="http://schemas.openxmlformats.org/drawingml/2006/main" name="TM_presentatie_eng">
  <a:themeElements>
    <a:clrScheme name="Lessius">
      <a:dk1>
        <a:srgbClr val="003C72"/>
      </a:dk1>
      <a:lt1>
        <a:srgbClr val="FFFFFF"/>
      </a:lt1>
      <a:dk2>
        <a:srgbClr val="003C72"/>
      </a:dk2>
      <a:lt2>
        <a:srgbClr val="FFFFFF"/>
      </a:lt2>
      <a:accent1>
        <a:srgbClr val="00A9E5"/>
      </a:accent1>
      <a:accent2>
        <a:srgbClr val="67CBEF"/>
      </a:accent2>
      <a:accent3>
        <a:srgbClr val="CCEEFA"/>
      </a:accent3>
      <a:accent4>
        <a:srgbClr val="406D96"/>
      </a:accent4>
      <a:accent5>
        <a:srgbClr val="7F9DB9"/>
      </a:accent5>
      <a:accent6>
        <a:srgbClr val="BECEDD"/>
      </a:accent6>
      <a:hlink>
        <a:srgbClr val="118EFF"/>
      </a:hlink>
      <a:folHlink>
        <a:srgbClr val="7030A0"/>
      </a:folHlink>
    </a:clrScheme>
    <a:fontScheme name="Less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_presentatie" id="{D2EAC29B-01B7-40FD-8A4F-4E7A64B06768}" vid="{EECA68F5-A7C3-4820-B6D5-696F87D1BD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C_aanvullingen</Template>
  <TotalTime>13059</TotalTime>
  <Words>2363</Words>
  <Application>Microsoft Office PowerPoint</Application>
  <PresentationFormat>Diavoorstelling (4:3)</PresentationFormat>
  <Paragraphs>523</Paragraphs>
  <Slides>60</Slides>
  <Notes>11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60</vt:i4>
      </vt:variant>
    </vt:vector>
  </HeadingPairs>
  <TitlesOfParts>
    <vt:vector size="67" baseType="lpstr">
      <vt:lpstr>Arial</vt:lpstr>
      <vt:lpstr>Calibri</vt:lpstr>
      <vt:lpstr>Symbol</vt:lpstr>
      <vt:lpstr>Tahoma</vt:lpstr>
      <vt:lpstr>Trebuchet MS</vt:lpstr>
      <vt:lpstr>Verdana</vt:lpstr>
      <vt:lpstr>TM_presentatie_eng</vt:lpstr>
      <vt:lpstr>UI trends</vt:lpstr>
      <vt:lpstr>overview</vt:lpstr>
      <vt:lpstr>1. Design methodologies</vt:lpstr>
      <vt:lpstr>1.1 Responsive design</vt:lpstr>
      <vt:lpstr>Mobile?</vt:lpstr>
      <vt:lpstr>1.2 Mobile first</vt:lpstr>
      <vt:lpstr>Mobile first</vt:lpstr>
      <vt:lpstr>Mobile first: pros / cons</vt:lpstr>
      <vt:lpstr>Hamburger menu</vt:lpstr>
      <vt:lpstr>1.3 Journey driven</vt:lpstr>
      <vt:lpstr>1.4 Offline first</vt:lpstr>
      <vt:lpstr>Frontend frameworks</vt:lpstr>
      <vt:lpstr>Offline first</vt:lpstr>
      <vt:lpstr>2. navigation</vt:lpstr>
      <vt:lpstr>2.1 Grid menu</vt:lpstr>
      <vt:lpstr>Grid menu</vt:lpstr>
      <vt:lpstr>Grid menu</vt:lpstr>
      <vt:lpstr>2.2 Tab menu</vt:lpstr>
      <vt:lpstr>Tab menu: pros and cons</vt:lpstr>
      <vt:lpstr>Tab menu: positioning and layout</vt:lpstr>
      <vt:lpstr>Tab menu: positioning and layout</vt:lpstr>
      <vt:lpstr>2.3 Pull/drop down menu</vt:lpstr>
      <vt:lpstr>Pull/drop down menu</vt:lpstr>
      <vt:lpstr>2.4 Mega menu</vt:lpstr>
      <vt:lpstr>2.5 Pie menu</vt:lpstr>
      <vt:lpstr>Marking menu</vt:lpstr>
      <vt:lpstr>2.6 accordion</vt:lpstr>
      <vt:lpstr>2.7 sequential menu</vt:lpstr>
      <vt:lpstr>sequential menu</vt:lpstr>
      <vt:lpstr>2.8 landing pages by category</vt:lpstr>
      <vt:lpstr>What type of navigation for app?</vt:lpstr>
      <vt:lpstr>3. icons</vt:lpstr>
      <vt:lpstr>Why?</vt:lpstr>
      <vt:lpstr>types</vt:lpstr>
      <vt:lpstr>Unique icons</vt:lpstr>
      <vt:lpstr>Universal icons</vt:lpstr>
      <vt:lpstr>Unique meaning?</vt:lpstr>
      <vt:lpstr>Outdated icons</vt:lpstr>
      <vt:lpstr>magnifying glass</vt:lpstr>
      <vt:lpstr>Screen dimensions</vt:lpstr>
      <vt:lpstr>Testing icons</vt:lpstr>
      <vt:lpstr>Testing icons: positioning</vt:lpstr>
      <vt:lpstr>4. Flat design</vt:lpstr>
      <vt:lpstr>3d effects</vt:lpstr>
      <vt:lpstr>skeuomorphism</vt:lpstr>
      <vt:lpstr>Flat design</vt:lpstr>
      <vt:lpstr>Flat design: problems</vt:lpstr>
      <vt:lpstr>Flat design 2.0</vt:lpstr>
      <vt:lpstr>Flat design 2.0</vt:lpstr>
      <vt:lpstr>5. Card layout</vt:lpstr>
      <vt:lpstr>Why?</vt:lpstr>
      <vt:lpstr>Why?</vt:lpstr>
      <vt:lpstr>chatbot</vt:lpstr>
      <vt:lpstr>Customer-service chatbot</vt:lpstr>
      <vt:lpstr>Interaction bot</vt:lpstr>
      <vt:lpstr>Chatbot Benefits for UX</vt:lpstr>
      <vt:lpstr>Chatbot UX problems</vt:lpstr>
      <vt:lpstr>Chatbot UX problems</vt:lpstr>
      <vt:lpstr>Use of AI in UI</vt:lpstr>
      <vt:lpstr>Use of AI to improve UX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Aanvullingen basis C</dc:title>
  <dc:creator>Sofie Beerens</dc:creator>
  <cp:lastModifiedBy>Sofie Beerens</cp:lastModifiedBy>
  <cp:revision>497</cp:revision>
  <dcterms:created xsi:type="dcterms:W3CDTF">2014-10-29T14:20:18Z</dcterms:created>
  <dcterms:modified xsi:type="dcterms:W3CDTF">2022-02-23T17:17:49Z</dcterms:modified>
</cp:coreProperties>
</file>