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36"/>
  </p:notesMasterIdLst>
  <p:handoutMasterIdLst>
    <p:handoutMasterId r:id="rId37"/>
  </p:handoutMasterIdLst>
  <p:sldIdLst>
    <p:sldId id="543" r:id="rId7"/>
    <p:sldId id="564" r:id="rId8"/>
    <p:sldId id="565" r:id="rId9"/>
    <p:sldId id="568" r:id="rId10"/>
    <p:sldId id="588" r:id="rId11"/>
    <p:sldId id="571" r:id="rId12"/>
    <p:sldId id="570" r:id="rId13"/>
    <p:sldId id="572" r:id="rId14"/>
    <p:sldId id="583" r:id="rId15"/>
    <p:sldId id="556" r:id="rId16"/>
    <p:sldId id="573" r:id="rId17"/>
    <p:sldId id="574" r:id="rId18"/>
    <p:sldId id="575" r:id="rId19"/>
    <p:sldId id="557" r:id="rId20"/>
    <p:sldId id="576" r:id="rId21"/>
    <p:sldId id="578" r:id="rId22"/>
    <p:sldId id="577" r:id="rId23"/>
    <p:sldId id="579" r:id="rId24"/>
    <p:sldId id="585" r:id="rId25"/>
    <p:sldId id="586" r:id="rId26"/>
    <p:sldId id="554" r:id="rId27"/>
    <p:sldId id="584" r:id="rId28"/>
    <p:sldId id="580" r:id="rId29"/>
    <p:sldId id="581" r:id="rId30"/>
    <p:sldId id="582" r:id="rId31"/>
    <p:sldId id="589" r:id="rId32"/>
    <p:sldId id="590" r:id="rId33"/>
    <p:sldId id="591" r:id="rId34"/>
    <p:sldId id="592" r:id="rId3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619"/>
    <a:srgbClr val="606060"/>
    <a:srgbClr val="00283C"/>
    <a:srgbClr val="FA6432"/>
    <a:srgbClr val="000A1E"/>
    <a:srgbClr val="DEE1E4"/>
    <a:srgbClr val="000000"/>
    <a:srgbClr val="E8EBEE"/>
    <a:srgbClr val="F2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9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03/13/2025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03/13/2025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58E10-9200-4F75-9549-CABC36F22A04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61540E-37AB-D5CA-06CD-8CA08C09F30B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649CC2-58DD-A6AB-995D-D28DDA10F0E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3B5800-D547-14D0-C885-BC839820B83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69BCF-6B41-B8EA-1497-FA16C74DDD8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95F28ED-AE7C-37C4-6B6A-EB1BA8B32F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C3A06-E3D7-703D-2240-66AC8B8EAF4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CD2EA5-C77E-1DE8-B784-AFCAEC26033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5643DD-A295-5E93-79DC-FE2833C7264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26B9DDC-A060-AF2A-880D-799C17A3712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2F84484-ACBC-1C81-4F94-5CDA1A9C061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B547A9-6DD8-9683-8350-5C89DD95D975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CBC2-4C73-7900-1669-9A28BCDDA5C7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3C43FDF-6E5C-23CB-C84B-69CFBD5FAF5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1D3473-7EB4-C2B8-D216-47B0D4FC135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BF4F9E-B9E0-E3B0-6DFC-2A2EF1E5413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C16924DF-87D9-3A78-3AC7-B29C141DAF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3C7DE0-A707-1555-E9BC-26C6B92416F9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E26B1B9-F304-1942-97C9-9CAEE42D6038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62E5C0E-71C1-4937-D2A0-614B42AA2AC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5256B-AABF-C1FF-7484-49832FF05C6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BA4F45-5FD7-A1E2-AACA-1F54A63493A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CD33336-3D8D-022A-E63C-986C7F046AE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AE9486-45F7-A00D-5927-E77D0EE4949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26782D-59DA-C846-BF4A-BE26FD69D3DD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49756-2944-B689-5C93-F1F2DFCDB45F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CD78EF-541A-2BBB-0B28-03F174465CA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BA7C5FD-D0DC-C6E1-1863-81E921C3B05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7ADA07-595F-813E-E656-4334F6AF270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4DEE43-D307-DFC4-FDEA-B3D380095C1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735E34E-9DF8-5AE9-FB61-2FA0F2625A7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33A227-D886-E123-3CBB-0B044424F63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F3839E-B179-B34C-37D4-827A2DA62AD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CB7AE3-C1EC-C72E-EC20-593BC07D692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428FE4E-8A8A-1E7C-761E-EB7941E14D2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EEE9E1-1793-E0E0-A058-6959A2414F6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B1D97B-C02C-9FEE-263F-06619DF1490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54191-0ECD-9AC8-82BD-EA7F5D0CDE88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3E31F2-CAAE-4D04-35F1-67035EB040CF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B2F9C1-4A2C-9217-CD70-19B3DB1A38F5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7B0353E-6E30-7855-F8CD-74694ED738F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1D2E-8DD4-22BC-DE36-E40A2F8FBCA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D2C795E-C9EC-72A0-2B80-81EB152E94A7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99E033-C315-426E-2B6D-52FA2032383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AFBB5A-33FB-9524-5163-E11202404D2F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45A8EB69-421E-0FA3-3D30-E7C9A039BD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D406C-3AB0-5F8C-B79E-B3BDB29B4170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C72ADAE-5A19-65CD-1C39-33056943F06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E1EFEE-D708-1D50-72BA-5D23EAB8788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F0E477F-404D-4A7E-D96D-AD5F43187C5E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FBC0559-26D9-5DF7-3896-3751A065801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822F08-787C-D402-7CB0-2DBCEEFCA96C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DAD9BC-155A-76EA-E50B-F08948E92B7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D007AA-A637-C086-8A7F-6DAADCB1488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91087C3-FF38-5144-619A-D2C24D5060E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AEDF7A-016A-BBA4-6B79-99D771185C5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5422A5C-506A-E3C6-99E5-A56CF5CC5829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B0DADC-0BA9-D34A-EADA-0F8581BC3A3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945392B-DC74-07AC-F46D-C97255BA1352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340B1-AF7E-BA14-5B2C-298C07BBE6F3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1ECDB4-5502-8798-B39A-CA12F88685E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C98289-A779-7202-EE3D-17CA002EAA7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95148D7-2DEE-E33C-A3BB-480397489D10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EA26B-468C-A3E0-D2F0-00263630018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72E8BC3-9F71-6054-71E1-9359DB51978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FC8B2C-1927-714D-A112-ACDB60C0D792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DCA36-3409-4CE4-BE24-E2950290A63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E0EF85-E9C2-1E47-7D9D-7481B72C370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3CD9E5-989E-5324-5F29-26D97B0664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7F0918-B715-D7FA-5F7F-2D27725D816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8B9CAF-E0DD-0B2A-1B7A-49F7A8CE28A3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771A-4855-C4DF-F3E1-6B60957D479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32C11C-FC33-A2A4-9F9C-A4F7644661F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C7F57F1-BFFC-8DF9-F999-3970D6D06B27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15B1F8-B3CB-9766-E622-4D638B82A26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2043F8A-F25A-B2D8-9041-A6D8752A3A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231F66-1E81-776C-BB29-A6B1D64A74D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7BFFD71-E67E-8702-21E5-134FDBAABD5A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495D389-8CDE-5F31-504F-B3C7A617FCD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47C8BF-AFD9-E008-9EE7-AB6E7F889F3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DC87EB1-3842-16D6-F58F-ECB76E173B0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B21A1-0E57-4541-5215-E9323C8F727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7054DBD-AFF8-2156-FA0F-6560F2AC5E9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2B912A6-81AF-53E5-19C5-CF48B7AD18A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FAD59-AD7C-DC7A-99BA-42B8124CBABB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F3B43A-16B2-9FFD-7BF9-28583D80960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5DE3DD6-1B79-FCD1-23E2-461E0EEC24B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00E5F7-B3AB-EF16-CFE7-FCC369ED1D7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FDEE70D-4147-73A1-F2C3-1CCED1CEA32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13 maart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src/assets/react.svg" TargetMode="External"/><Relationship Id="rId2" Type="http://schemas.openxmlformats.org/officeDocument/2006/relationships/hyperlink" Target="http://localhost:5173/game-logo.png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JavaScript/Reference/Functions/Arrow_functions" TargetMode="Externa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content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7FC5-A4E7-04A4-F460-CC73A7255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B1139-9E6F-A2B8-8A8E-C63D1051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Dynamic</a:t>
            </a:r>
            <a:r>
              <a:rPr lang="nl-NL" dirty="0"/>
              <a:t> content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EED18C8-E3FF-26DF-CC30-05E07C8F33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43830F-26C9-3F7E-EE8D-E99AEF33D9B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399255" cy="4716463"/>
          </a:xfrm>
        </p:spPr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include </a:t>
            </a:r>
            <a:r>
              <a:rPr lang="nl-NL" dirty="0" err="1"/>
              <a:t>dynamic</a:t>
            </a:r>
            <a:r>
              <a:rPr lang="nl-NL" dirty="0"/>
              <a:t> content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HTML template of a component </a:t>
            </a:r>
            <a:r>
              <a:rPr lang="nl-NL" dirty="0" err="1"/>
              <a:t>use</a:t>
            </a:r>
            <a:r>
              <a:rPr lang="nl-NL" dirty="0"/>
              <a:t> {    }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Inside { }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regular</a:t>
            </a:r>
            <a:r>
              <a:rPr lang="nl-NL" dirty="0"/>
              <a:t> JavaScript </a:t>
            </a:r>
            <a:r>
              <a:rPr lang="nl-NL" dirty="0" err="1"/>
              <a:t>expressions</a:t>
            </a:r>
            <a:r>
              <a:rPr lang="nl-NL" dirty="0"/>
              <a:t> are </a:t>
            </a:r>
            <a:r>
              <a:rPr lang="nl-NL" dirty="0" err="1"/>
              <a:t>possible</a:t>
            </a:r>
            <a:r>
              <a:rPr lang="nl-NL" dirty="0"/>
              <a:t> but: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dirty="0" err="1"/>
              <a:t>Only</a:t>
            </a:r>
            <a:r>
              <a:rPr lang="nl-NL" dirty="0"/>
              <a:t> for </a:t>
            </a:r>
            <a:r>
              <a:rPr lang="nl-NL" dirty="0" err="1"/>
              <a:t>expressions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 in a </a:t>
            </a:r>
            <a:r>
              <a:rPr lang="nl-NL" dirty="0" err="1"/>
              <a:t>value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for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definitions</a:t>
            </a:r>
            <a:r>
              <a:rPr lang="nl-NL" dirty="0"/>
              <a:t>!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,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names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{ } and put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corresponding</a:t>
            </a:r>
            <a:r>
              <a:rPr lang="nl-NL" dirty="0"/>
              <a:t> </a:t>
            </a:r>
            <a:r>
              <a:rPr lang="nl-NL" dirty="0" err="1"/>
              <a:t>calculatons</a:t>
            </a:r>
            <a:r>
              <a:rPr lang="nl-NL" dirty="0"/>
              <a:t> </a:t>
            </a:r>
            <a:r>
              <a:rPr lang="nl-NL" dirty="0" err="1"/>
              <a:t>outside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{ }</a:t>
            </a:r>
          </a:p>
          <a:p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8FD18EF-18D2-D85A-0F41-E2D5D6D3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049" b="32852"/>
          <a:stretch/>
        </p:blipFill>
        <p:spPr>
          <a:xfrm>
            <a:off x="622317" y="3291427"/>
            <a:ext cx="10607625" cy="103748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C3B79D38-AE7D-7EEA-A18B-F0662BF3573C}"/>
              </a:ext>
            </a:extLst>
          </p:cNvPr>
          <p:cNvSpPr/>
          <p:nvPr/>
        </p:nvSpPr>
        <p:spPr>
          <a:xfrm>
            <a:off x="4050861" y="3690215"/>
            <a:ext cx="941015" cy="353668"/>
          </a:xfrm>
          <a:prstGeom prst="rect">
            <a:avLst/>
          </a:prstGeom>
          <a:noFill/>
          <a:ln w="19050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6DF74381-17B6-7A0A-4CD6-A881486FCC65}"/>
              </a:ext>
            </a:extLst>
          </p:cNvPr>
          <p:cNvCxnSpPr>
            <a:cxnSpLocks/>
          </p:cNvCxnSpPr>
          <p:nvPr/>
        </p:nvCxnSpPr>
        <p:spPr>
          <a:xfrm flipH="1">
            <a:off x="5067897" y="3867049"/>
            <a:ext cx="961054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13CCDE-C2FD-9699-13C7-D120134E8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45" y="2246083"/>
            <a:ext cx="10626797" cy="70316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969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5F1D-3785-6AEC-C995-80373F87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8D7252-2DD9-C7BC-966E-F23EDE0BB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attributes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E8F11C0-30B1-D013-7FBE-F8BE8D45001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426A69-B288-0271-D1E4-DC3EFA659C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330045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{ }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JS </a:t>
            </a:r>
            <a:r>
              <a:rPr lang="nl-NL" dirty="0" err="1"/>
              <a:t>const</a:t>
            </a:r>
            <a:r>
              <a:rPr lang="nl-NL" dirty="0"/>
              <a:t> or var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attribute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endParaRPr lang="nl-NL" dirty="0"/>
          </a:p>
          <a:p>
            <a:endParaRPr lang="nl-BE" dirty="0"/>
          </a:p>
        </p:txBody>
      </p:sp>
      <p:grpSp>
        <p:nvGrpSpPr>
          <p:cNvPr id="19" name="Groep 18">
            <a:extLst>
              <a:ext uri="{FF2B5EF4-FFF2-40B4-BE49-F238E27FC236}">
                <a16:creationId xmlns:a16="http://schemas.microsoft.com/office/drawing/2014/main" id="{72349277-CDD1-2BED-F24F-B89BDC8E8720}"/>
              </a:ext>
            </a:extLst>
          </p:cNvPr>
          <p:cNvGrpSpPr/>
          <p:nvPr/>
        </p:nvGrpSpPr>
        <p:grpSpPr>
          <a:xfrm>
            <a:off x="8195770" y="2553885"/>
            <a:ext cx="3174959" cy="1433121"/>
            <a:chOff x="8052357" y="3088000"/>
            <a:chExt cx="3174959" cy="1433121"/>
          </a:xfrm>
        </p:grpSpPr>
        <p:pic>
          <p:nvPicPr>
            <p:cNvPr id="13" name="Afbeelding 12">
              <a:extLst>
                <a:ext uri="{FF2B5EF4-FFF2-40B4-BE49-F238E27FC236}">
                  <a16:creationId xmlns:a16="http://schemas.microsoft.com/office/drawing/2014/main" id="{F5C55212-0833-370F-2FC4-E2B465E85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52357" y="3879061"/>
              <a:ext cx="2996278" cy="642060"/>
            </a:xfrm>
            <a:prstGeom prst="rect">
              <a:avLst/>
            </a:prstGeom>
          </p:spPr>
        </p:pic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4268D6D3-0808-5A1F-E11B-7FE2B79FDDCB}"/>
                </a:ext>
              </a:extLst>
            </p:cNvPr>
            <p:cNvGrpSpPr/>
            <p:nvPr/>
          </p:nvGrpSpPr>
          <p:grpSpPr>
            <a:xfrm>
              <a:off x="8266045" y="3088000"/>
              <a:ext cx="2961271" cy="817165"/>
              <a:chOff x="8828671" y="3778466"/>
              <a:chExt cx="2961271" cy="817165"/>
            </a:xfrm>
          </p:grpSpPr>
          <p:sp>
            <p:nvSpPr>
              <p:cNvPr id="16" name="Tijdelijke aanduiding voor tekst 3">
                <a:extLst>
                  <a:ext uri="{FF2B5EF4-FFF2-40B4-BE49-F238E27FC236}">
                    <a16:creationId xmlns:a16="http://schemas.microsoft.com/office/drawing/2014/main" id="{1A0D283C-E4CD-4AEC-B006-4376A39FD9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28671" y="3778466"/>
                <a:ext cx="2961271" cy="4167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bg2"/>
                  </a:buClr>
                  <a:buFont typeface="Arial" panose="020B0604020202020204" pitchFamily="34" charset="0"/>
                  <a:buNone/>
                  <a:defRPr lang="nl-BE" sz="2400" b="0" i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3600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500"/>
                  </a:spcAft>
                  <a:buClr>
                    <a:schemeClr val="bg2"/>
                  </a:buClr>
                  <a:buFont typeface="Arial" panose="020B0604020202020204" pitchFamily="34" charset="0"/>
                  <a:buChar char="•"/>
                  <a:tabLst/>
                  <a:defRPr lang="nl-BE" sz="2400" b="0" i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000" indent="-3600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  <a:tabLst/>
                  <a:defRPr lang="nl-NL" sz="2400" b="0" i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80000" indent="-3600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-"/>
                  <a:tabLst/>
                  <a:defRPr lang="nl-NL" sz="2000" b="0" i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64400" indent="-28575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-"/>
                  <a:tabLst/>
                  <a:defRPr lang="nl-BE" sz="1800" b="0" i="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80400" indent="-28575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-"/>
                  <a:tabLst/>
                  <a:defRPr lang="nl-BE" sz="16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32400" indent="-28575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-"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84400" indent="-28575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-"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44400" indent="-28575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  <a:buClr>
                    <a:schemeClr val="tx1"/>
                  </a:buClr>
                  <a:buSzPct val="80000"/>
                  <a:buFont typeface="Arial" panose="020B0604020202020204" pitchFamily="34" charset="0"/>
                  <a:buChar char="-"/>
                  <a:tabLst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00283C"/>
                    </a:solidFill>
                  </a:rPr>
                  <a:t>No quotes allowed!!</a:t>
                </a:r>
              </a:p>
              <a:p>
                <a:endParaRPr lang="en-US" dirty="0">
                  <a:solidFill>
                    <a:srgbClr val="00283C"/>
                  </a:solidFill>
                </a:endParaRPr>
              </a:p>
              <a:p>
                <a:endParaRPr lang="en-US" dirty="0">
                  <a:solidFill>
                    <a:srgbClr val="00283C"/>
                  </a:solidFill>
                </a:endParaRPr>
              </a:p>
            </p:txBody>
          </p:sp>
          <p:cxnSp>
            <p:nvCxnSpPr>
              <p:cNvPr id="21" name="Rechte verbindingslijn met pijl 20">
                <a:extLst>
                  <a:ext uri="{FF2B5EF4-FFF2-40B4-BE49-F238E27FC236}">
                    <a16:creationId xmlns:a16="http://schemas.microsoft.com/office/drawing/2014/main" id="{74C75BE2-B162-5277-830C-B3BE3CA747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2922" y="4195262"/>
                <a:ext cx="817807" cy="400369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Rechte verbindingslijn met pijl 23">
                <a:extLst>
                  <a:ext uri="{FF2B5EF4-FFF2-40B4-BE49-F238E27FC236}">
                    <a16:creationId xmlns:a16="http://schemas.microsoft.com/office/drawing/2014/main" id="{0AE8EA04-19E6-E379-9E11-5166A4FA0A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97617" y="4195262"/>
                <a:ext cx="855305" cy="400369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Afbeelding 7">
            <a:extLst>
              <a:ext uri="{FF2B5EF4-FFF2-40B4-BE49-F238E27FC236}">
                <a16:creationId xmlns:a16="http://schemas.microsoft.com/office/drawing/2014/main" id="{966C8581-229B-98C5-4413-E2960BF0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84" y="2207924"/>
            <a:ext cx="6638925" cy="3791659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A40C0AF6-C392-3EDD-29EB-4741172CC8F6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337864" y="4187190"/>
            <a:ext cx="3761831" cy="63949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7">
            <a:extLst>
              <a:ext uri="{FF2B5EF4-FFF2-40B4-BE49-F238E27FC236}">
                <a16:creationId xmlns:a16="http://schemas.microsoft.com/office/drawing/2014/main" id="{D16D59A1-27AC-8157-271D-FE5DAF087AFA}"/>
              </a:ext>
            </a:extLst>
          </p:cNvPr>
          <p:cNvSpPr txBox="1"/>
          <p:nvPr/>
        </p:nvSpPr>
        <p:spPr>
          <a:xfrm>
            <a:off x="8099695" y="4472743"/>
            <a:ext cx="391164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nl-NL" sz="2000" dirty="0"/>
              <a:t>avatar is a string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represents</a:t>
            </a:r>
            <a:r>
              <a:rPr lang="nl-NL" sz="2000" dirty="0"/>
              <a:t> </a:t>
            </a:r>
          </a:p>
          <a:p>
            <a:r>
              <a:rPr lang="nl-NL" sz="2000" dirty="0" err="1"/>
              <a:t>the</a:t>
            </a:r>
            <a:r>
              <a:rPr lang="nl-NL" sz="2000" dirty="0"/>
              <a:t> name of a CSS class</a:t>
            </a:r>
            <a:endParaRPr lang="nl-BE" sz="2000" dirty="0"/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62CAEF50-B5A1-D283-E0DE-3D5E7FD9812D}"/>
              </a:ext>
            </a:extLst>
          </p:cNvPr>
          <p:cNvCxnSpPr>
            <a:cxnSpLocks/>
          </p:cNvCxnSpPr>
          <p:nvPr/>
        </p:nvCxnSpPr>
        <p:spPr>
          <a:xfrm flipH="1" flipV="1">
            <a:off x="3557202" y="4548014"/>
            <a:ext cx="4495155" cy="12089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BFFCF7A2-69AD-1936-673B-5F474C66E213}"/>
              </a:ext>
            </a:extLst>
          </p:cNvPr>
          <p:cNvSpPr txBox="1"/>
          <p:nvPr/>
        </p:nvSpPr>
        <p:spPr>
          <a:xfrm>
            <a:off x="8052358" y="5403045"/>
            <a:ext cx="3958986" cy="10156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value</a:t>
            </a:r>
            <a:r>
              <a:rPr lang="nl-NL" sz="2000" dirty="0"/>
              <a:t> of </a:t>
            </a:r>
            <a:r>
              <a:rPr lang="nl-NL" sz="2000" dirty="0" err="1"/>
              <a:t>the</a:t>
            </a:r>
            <a:r>
              <a:rPr lang="nl-NL" sz="2000" dirty="0"/>
              <a:t> JS </a:t>
            </a:r>
            <a:r>
              <a:rPr lang="nl-NL" sz="2000" dirty="0" err="1"/>
              <a:t>variable</a:t>
            </a:r>
            <a:r>
              <a:rPr lang="nl-NL" sz="2000" dirty="0"/>
              <a:t> avatar is </a:t>
            </a:r>
            <a:r>
              <a:rPr lang="nl-NL" sz="2000" dirty="0" err="1"/>
              <a:t>read</a:t>
            </a:r>
            <a:r>
              <a:rPr lang="nl-NL" sz="2000" dirty="0"/>
              <a:t> and </a:t>
            </a:r>
            <a:r>
              <a:rPr lang="nl-NL" sz="2000" dirty="0" err="1"/>
              <a:t>used</a:t>
            </a:r>
            <a:r>
              <a:rPr lang="nl-NL" sz="2000" dirty="0"/>
              <a:t> as </a:t>
            </a:r>
            <a:r>
              <a:rPr lang="nl-NL" sz="2000" dirty="0" err="1"/>
              <a:t>src</a:t>
            </a:r>
            <a:r>
              <a:rPr lang="nl-NL" sz="2000" dirty="0"/>
              <a:t> for </a:t>
            </a:r>
            <a:r>
              <a:rPr lang="nl-NL" sz="2000" dirty="0" err="1"/>
              <a:t>this</a:t>
            </a:r>
            <a:r>
              <a:rPr lang="nl-NL" sz="2000" dirty="0"/>
              <a:t> </a:t>
            </a:r>
            <a:r>
              <a:rPr lang="nl-NL" sz="2000" dirty="0" err="1"/>
              <a:t>img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20746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E53E-B899-7C85-9AD8-400EEC6D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B32E8A-D345-C4F7-B3E2-D82E8B29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 =&gt; import images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0E2D549-413E-D945-42F2-C8EB131CA8A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85AEEF7-D637-CA84-329F-562910DF769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330045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Store images </a:t>
            </a:r>
            <a:r>
              <a:rPr lang="nl-NL" dirty="0" err="1"/>
              <a:t>inside</a:t>
            </a:r>
            <a:r>
              <a:rPr lang="nl-NL" dirty="0"/>
              <a:t> assets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import statement and { }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image </a:t>
            </a:r>
            <a:r>
              <a:rPr lang="nl-NL" dirty="0" err="1"/>
              <a:t>path</a:t>
            </a:r>
            <a:endParaRPr lang="nl-NL" dirty="0"/>
          </a:p>
          <a:p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ABBD90F-4484-59F7-DF48-FE673BC79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411"/>
          <a:stretch/>
        </p:blipFill>
        <p:spPr>
          <a:xfrm>
            <a:off x="989046" y="2502523"/>
            <a:ext cx="7557795" cy="410979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44AE1F5-222D-F805-CE4D-7764D14084E1}"/>
              </a:ext>
            </a:extLst>
          </p:cNvPr>
          <p:cNvSpPr/>
          <p:nvPr/>
        </p:nvSpPr>
        <p:spPr>
          <a:xfrm>
            <a:off x="2254898" y="2976464"/>
            <a:ext cx="974204" cy="242590"/>
          </a:xfrm>
          <a:prstGeom prst="rect">
            <a:avLst/>
          </a:prstGeom>
          <a:noFill/>
          <a:ln w="19050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5008E922-405A-6C30-DB22-50E769A2D0F7}"/>
              </a:ext>
            </a:extLst>
          </p:cNvPr>
          <p:cNvCxnSpPr>
            <a:cxnSpLocks/>
          </p:cNvCxnSpPr>
          <p:nvPr/>
        </p:nvCxnSpPr>
        <p:spPr>
          <a:xfrm flipH="1">
            <a:off x="5756988" y="3097763"/>
            <a:ext cx="3862873" cy="0"/>
          </a:xfrm>
          <a:prstGeom prst="straightConnector1">
            <a:avLst/>
          </a:prstGeom>
          <a:ln w="28575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hoek 9">
            <a:extLst>
              <a:ext uri="{FF2B5EF4-FFF2-40B4-BE49-F238E27FC236}">
                <a16:creationId xmlns:a16="http://schemas.microsoft.com/office/drawing/2014/main" id="{186A78B3-DD00-5210-EF3A-0C9A1366DC6C}"/>
              </a:ext>
            </a:extLst>
          </p:cNvPr>
          <p:cNvSpPr/>
          <p:nvPr/>
        </p:nvSpPr>
        <p:spPr>
          <a:xfrm>
            <a:off x="3387013" y="6053173"/>
            <a:ext cx="1101012" cy="353783"/>
          </a:xfrm>
          <a:prstGeom prst="rect">
            <a:avLst/>
          </a:prstGeom>
          <a:noFill/>
          <a:ln w="19050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FEBA8343-035D-0D89-333A-05FCF800304A}"/>
              </a:ext>
            </a:extLst>
          </p:cNvPr>
          <p:cNvCxnSpPr>
            <a:cxnSpLocks/>
          </p:cNvCxnSpPr>
          <p:nvPr/>
        </p:nvCxnSpPr>
        <p:spPr>
          <a:xfrm flipH="1">
            <a:off x="8714792" y="6255041"/>
            <a:ext cx="982825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ep 25">
            <a:extLst>
              <a:ext uri="{FF2B5EF4-FFF2-40B4-BE49-F238E27FC236}">
                <a16:creationId xmlns:a16="http://schemas.microsoft.com/office/drawing/2014/main" id="{9593B430-A89A-93A7-3192-4215C9BF2EBF}"/>
              </a:ext>
            </a:extLst>
          </p:cNvPr>
          <p:cNvGrpSpPr/>
          <p:nvPr/>
        </p:nvGrpSpPr>
        <p:grpSpPr>
          <a:xfrm>
            <a:off x="8828671" y="3778466"/>
            <a:ext cx="2961271" cy="1322777"/>
            <a:chOff x="8828671" y="3778466"/>
            <a:chExt cx="2961271" cy="1322777"/>
          </a:xfrm>
        </p:grpSpPr>
        <p:sp>
          <p:nvSpPr>
            <p:cNvPr id="16" name="Tijdelijke aanduiding voor tekst 3">
              <a:extLst>
                <a:ext uri="{FF2B5EF4-FFF2-40B4-BE49-F238E27FC236}">
                  <a16:creationId xmlns:a16="http://schemas.microsoft.com/office/drawing/2014/main" id="{9608E58A-8A68-A75C-B04A-778A1835150C}"/>
                </a:ext>
              </a:extLst>
            </p:cNvPr>
            <p:cNvSpPr txBox="1">
              <a:spLocks/>
            </p:cNvSpPr>
            <p:nvPr/>
          </p:nvSpPr>
          <p:spPr>
            <a:xfrm>
              <a:off x="8828671" y="3778466"/>
              <a:ext cx="2961271" cy="41679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2"/>
                </a:buClr>
                <a:buFont typeface="Arial" panose="020B0604020202020204" pitchFamily="34" charset="0"/>
                <a:buNone/>
                <a:defRPr lang="nl-BE" sz="2400" b="0" i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3600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500"/>
                </a:spcAft>
                <a:buClr>
                  <a:schemeClr val="bg2"/>
                </a:buClr>
                <a:buFont typeface="Arial" panose="020B0604020202020204" pitchFamily="34" charset="0"/>
                <a:buChar char="•"/>
                <a:tabLst/>
                <a:defRPr lang="nl-BE" sz="2400" b="0" i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000" indent="-3600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tabLst/>
                <a:defRPr lang="nl-NL" sz="2400" b="0" i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0000" indent="-3600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-"/>
                <a:tabLst/>
                <a:defRPr lang="nl-NL" sz="2000" b="0" i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64400" indent="-28575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-"/>
                <a:tabLst/>
                <a:defRPr lang="nl-BE" sz="1800" b="0" i="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80400" indent="-28575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-"/>
                <a:tabLst/>
                <a:defRPr lang="nl-BE" sz="16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32400" indent="-28575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-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84400" indent="-28575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-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44400" indent="-28575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  <a:buClr>
                  <a:schemeClr val="tx1"/>
                </a:buClr>
                <a:buSzPct val="80000"/>
                <a:buFont typeface="Arial" panose="020B0604020202020204" pitchFamily="34" charset="0"/>
                <a:buChar char="-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00283C"/>
                  </a:solidFill>
                </a:rPr>
                <a:t>No quotes allowed!!</a:t>
              </a:r>
            </a:p>
            <a:p>
              <a:endParaRPr lang="en-US" dirty="0">
                <a:solidFill>
                  <a:srgbClr val="00283C"/>
                </a:solidFill>
              </a:endParaRPr>
            </a:p>
            <a:p>
              <a:endParaRPr lang="en-US" dirty="0">
                <a:solidFill>
                  <a:srgbClr val="00283C"/>
                </a:solidFill>
              </a:endParaRPr>
            </a:p>
          </p:txBody>
        </p:sp>
        <p:pic>
          <p:nvPicPr>
            <p:cNvPr id="20" name="Afbeelding 19">
              <a:extLst>
                <a:ext uri="{FF2B5EF4-FFF2-40B4-BE49-F238E27FC236}">
                  <a16:creationId xmlns:a16="http://schemas.microsoft.com/office/drawing/2014/main" id="{838F1C04-D1CF-A732-08D6-DC4A9D367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8671" y="4595631"/>
              <a:ext cx="2847391" cy="505612"/>
            </a:xfrm>
            <a:prstGeom prst="rect">
              <a:avLst/>
            </a:prstGeom>
          </p:spPr>
        </p:pic>
        <p:cxnSp>
          <p:nvCxnSpPr>
            <p:cNvPr id="21" name="Rechte verbindingslijn met pijl 20">
              <a:extLst>
                <a:ext uri="{FF2B5EF4-FFF2-40B4-BE49-F238E27FC236}">
                  <a16:creationId xmlns:a16="http://schemas.microsoft.com/office/drawing/2014/main" id="{A8707DCE-01EB-A32C-024C-64C995D00C2E}"/>
                </a:ext>
              </a:extLst>
            </p:cNvPr>
            <p:cNvCxnSpPr>
              <a:cxnSpLocks/>
            </p:cNvCxnSpPr>
            <p:nvPr/>
          </p:nvCxnSpPr>
          <p:spPr>
            <a:xfrm>
              <a:off x="10552922" y="4195262"/>
              <a:ext cx="817807" cy="400369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Rechte verbindingslijn met pijl 23">
              <a:extLst>
                <a:ext uri="{FF2B5EF4-FFF2-40B4-BE49-F238E27FC236}">
                  <a16:creationId xmlns:a16="http://schemas.microsoft.com/office/drawing/2014/main" id="{46EB3339-F5F7-EE53-F3CE-B594695F3E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7617" y="4195262"/>
              <a:ext cx="855305" cy="400369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797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1EB2B-5107-7D1D-1CC7-19C79871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store images?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9E09F4B-1F89-4EEE-0B10-0E106AA4D81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53DCCE2-36EA-FAAD-566D-A9B54AB8370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676064" cy="471646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public folder:</a:t>
            </a:r>
          </a:p>
          <a:p>
            <a:pPr marL="702900" lvl="1" indent="-342900"/>
            <a:r>
              <a:rPr lang="nl-NL" dirty="0" err="1"/>
              <a:t>everything</a:t>
            </a:r>
            <a:r>
              <a:rPr lang="nl-NL" dirty="0"/>
              <a:t> </a:t>
            </a:r>
            <a:r>
              <a:rPr lang="nl-NL" dirty="0" err="1"/>
              <a:t>stored</a:t>
            </a:r>
            <a:r>
              <a:rPr lang="nl-NL" dirty="0"/>
              <a:t> in public is made </a:t>
            </a:r>
            <a:r>
              <a:rPr lang="nl-NL" dirty="0" err="1"/>
              <a:t>publicly</a:t>
            </a:r>
            <a:r>
              <a:rPr lang="nl-NL" dirty="0"/>
              <a:t> </a:t>
            </a:r>
            <a:r>
              <a:rPr lang="nl-NL" dirty="0" err="1"/>
              <a:t>available</a:t>
            </a:r>
            <a:endParaRPr lang="nl-NL" dirty="0"/>
          </a:p>
          <a:p>
            <a:pPr marL="702900" lvl="1" indent="-342900"/>
            <a:r>
              <a:rPr lang="nl-NL" dirty="0">
                <a:hlinkClick r:id="rId2"/>
              </a:rPr>
              <a:t>http://localhost:5173/game-logo.png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show </a:t>
            </a:r>
            <a:r>
              <a:rPr lang="nl-NL" dirty="0" err="1"/>
              <a:t>that</a:t>
            </a:r>
            <a:r>
              <a:rPr lang="nl-NL" dirty="0"/>
              <a:t> image</a:t>
            </a:r>
          </a:p>
          <a:p>
            <a:pPr marL="702900" lvl="1" indent="-342900"/>
            <a:r>
              <a:rPr lang="nl-NL" dirty="0" err="1"/>
              <a:t>inside</a:t>
            </a:r>
            <a:r>
              <a:rPr lang="nl-NL" dirty="0"/>
              <a:t> index.html or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,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file</a:t>
            </a:r>
            <a:br>
              <a:rPr lang="nl-NL" dirty="0"/>
            </a:br>
            <a:r>
              <a:rPr lang="nl-NL" dirty="0"/>
              <a:t>name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marL="702900" lvl="1" indent="-342900"/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src</a:t>
            </a:r>
            <a:r>
              <a:rPr lang="nl-NL" dirty="0"/>
              <a:t>/assets folder:</a:t>
            </a:r>
          </a:p>
          <a:p>
            <a:pPr marL="702900" lvl="1" indent="-342900"/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publicly</a:t>
            </a:r>
            <a:r>
              <a:rPr lang="nl-NL" dirty="0"/>
              <a:t> </a:t>
            </a:r>
            <a:r>
              <a:rPr lang="nl-NL" dirty="0" err="1"/>
              <a:t>available</a:t>
            </a:r>
            <a:endParaRPr lang="nl-NL" dirty="0"/>
          </a:p>
          <a:p>
            <a:pPr marL="702900" lvl="1" indent="-342900"/>
            <a:r>
              <a:rPr lang="nl-NL" dirty="0">
                <a:hlinkClick r:id="rId3"/>
              </a:rPr>
              <a:t>http://localhost:5173/src/assets/react.svg</a:t>
            </a:r>
            <a:r>
              <a:rPr lang="nl-NL" dirty="0"/>
              <a:t> =&gt; error</a:t>
            </a:r>
          </a:p>
          <a:p>
            <a:pPr marL="702900" lvl="1" indent="-342900"/>
            <a:r>
              <a:rPr lang="nl-NL" dirty="0" err="1"/>
              <a:t>addressed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importing</a:t>
            </a:r>
            <a:r>
              <a:rPr lang="nl-NL" dirty="0"/>
              <a:t> in component via </a:t>
            </a:r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path</a:t>
            </a:r>
            <a:endParaRPr lang="nl-NL" dirty="0"/>
          </a:p>
          <a:p>
            <a:pPr marL="702900" lvl="1" indent="-342900"/>
            <a:endParaRPr lang="nl-NL" dirty="0"/>
          </a:p>
          <a:p>
            <a:pPr marL="342900" indent="-342900"/>
            <a:r>
              <a:rPr lang="nl-NL" dirty="0"/>
              <a:t>=&gt; </a:t>
            </a:r>
            <a:r>
              <a:rPr lang="nl-NL" dirty="0" err="1"/>
              <a:t>Use</a:t>
            </a:r>
            <a:r>
              <a:rPr lang="nl-NL" dirty="0"/>
              <a:t> public folder </a:t>
            </a:r>
            <a:r>
              <a:rPr lang="nl-NL" dirty="0" err="1"/>
              <a:t>only</a:t>
            </a:r>
            <a:r>
              <a:rPr lang="nl-NL" dirty="0"/>
              <a:t> for images </a:t>
            </a:r>
            <a:r>
              <a:rPr lang="nl-NL" dirty="0" err="1"/>
              <a:t>that</a:t>
            </a:r>
            <a:r>
              <a:rPr lang="nl-NL" dirty="0"/>
              <a:t> are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index.html, </a:t>
            </a:r>
            <a:r>
              <a:rPr lang="nl-NL" dirty="0" err="1"/>
              <a:t>not</a:t>
            </a:r>
            <a:r>
              <a:rPr lang="nl-NL" dirty="0"/>
              <a:t> for component images</a:t>
            </a:r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9261445-82D2-CC0C-82D3-C88C2F5DC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808" y="840075"/>
            <a:ext cx="2915057" cy="299126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6834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92371-4672-09D4-8A6D-B749DC25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Javascript </a:t>
            </a:r>
            <a:r>
              <a:rPr lang="nl-BE" dirty="0" err="1"/>
              <a:t>Objects</a:t>
            </a:r>
            <a:r>
              <a:rPr lang="nl-BE" dirty="0"/>
              <a:t> (</a:t>
            </a:r>
            <a:r>
              <a:rPr lang="nl-BE" dirty="0" err="1"/>
              <a:t>key:value</a:t>
            </a:r>
            <a:r>
              <a:rPr lang="nl-BE" dirty="0"/>
              <a:t>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1E6F8AF-348F-409B-E98A-18122A057E0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AECC34E-3EC7-D436-81E6-815CAA11C7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5033282"/>
          </a:xfrm>
        </p:spPr>
        <p:txBody>
          <a:bodyPr>
            <a:normAutofit/>
          </a:bodyPr>
          <a:lstStyle/>
          <a:p>
            <a:r>
              <a:rPr lang="nl-BE" sz="2400" dirty="0"/>
              <a:t>An object </a:t>
            </a:r>
            <a:r>
              <a:rPr lang="nl-BE" sz="2400" dirty="0" err="1"/>
              <a:t>can</a:t>
            </a:r>
            <a:r>
              <a:rPr lang="nl-BE" sz="2400" dirty="0"/>
              <a:t> </a:t>
            </a:r>
            <a:r>
              <a:rPr lang="nl-BE" sz="2400" dirty="0" err="1"/>
              <a:t>contain</a:t>
            </a:r>
            <a:r>
              <a:rPr lang="nl-BE" sz="2400" dirty="0"/>
              <a:t> </a:t>
            </a:r>
            <a:r>
              <a:rPr lang="nl-BE" sz="2400" dirty="0" err="1"/>
              <a:t>values</a:t>
            </a:r>
            <a:r>
              <a:rPr lang="nl-BE" sz="2400" dirty="0"/>
              <a:t> for </a:t>
            </a:r>
            <a:r>
              <a:rPr lang="nl-BE" sz="2400" dirty="0" err="1"/>
              <a:t>many</a:t>
            </a:r>
            <a:r>
              <a:rPr lang="nl-BE" sz="2400" dirty="0"/>
              <a:t> </a:t>
            </a:r>
            <a:r>
              <a:rPr lang="nl-BE" sz="2400" dirty="0" err="1"/>
              <a:t>properties</a:t>
            </a:r>
            <a:r>
              <a:rPr lang="nl-BE" sz="2400" dirty="0"/>
              <a:t>:</a:t>
            </a:r>
          </a:p>
          <a:p>
            <a:endParaRPr lang="nl-BE" dirty="0"/>
          </a:p>
          <a:p>
            <a:endParaRPr lang="nl-BE" sz="2400" dirty="0"/>
          </a:p>
          <a:p>
            <a:endParaRPr lang="nl-BE" dirty="0"/>
          </a:p>
          <a:p>
            <a:r>
              <a:rPr lang="nl-BE" sz="2400" dirty="0"/>
              <a:t>Or </a:t>
            </a:r>
            <a:r>
              <a:rPr lang="nl-BE" sz="2400" dirty="0" err="1"/>
              <a:t>with</a:t>
            </a:r>
            <a:r>
              <a:rPr lang="nl-BE" sz="2400" dirty="0"/>
              <a:t> extra line breaks for </a:t>
            </a:r>
            <a:r>
              <a:rPr lang="nl-BE" sz="2400" dirty="0" err="1"/>
              <a:t>readability</a:t>
            </a:r>
            <a:r>
              <a:rPr lang="nl-BE" sz="2400" dirty="0"/>
              <a:t>:</a:t>
            </a:r>
          </a:p>
          <a:p>
            <a:endParaRPr lang="nl-BE" dirty="0"/>
          </a:p>
          <a:p>
            <a:endParaRPr lang="nl-BE" sz="2400" dirty="0"/>
          </a:p>
          <a:p>
            <a:endParaRPr lang="nl-BE" dirty="0"/>
          </a:p>
          <a:p>
            <a:endParaRPr lang="nl-BE" sz="2400" dirty="0"/>
          </a:p>
          <a:p>
            <a:endParaRPr lang="nl-BE" dirty="0"/>
          </a:p>
          <a:p>
            <a:endParaRPr lang="nl-BE" sz="2400" dirty="0"/>
          </a:p>
          <a:p>
            <a:r>
              <a:rPr lang="nl-BE" sz="2400" dirty="0"/>
              <a:t>Access object </a:t>
            </a:r>
            <a:r>
              <a:rPr lang="nl-BE" sz="2400" dirty="0" err="1"/>
              <a:t>properties</a:t>
            </a:r>
            <a:r>
              <a:rPr lang="nl-BE" sz="2400" dirty="0"/>
              <a:t>:</a:t>
            </a:r>
          </a:p>
          <a:p>
            <a:endParaRPr lang="nl-BE" sz="1600" dirty="0"/>
          </a:p>
          <a:p>
            <a:r>
              <a:rPr lang="nl-BE" sz="2400" dirty="0"/>
              <a:t>                      or </a:t>
            </a:r>
          </a:p>
          <a:p>
            <a:r>
              <a:rPr lang="nl-BE" sz="2400" dirty="0"/>
              <a:t>    </a:t>
            </a:r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413D51D-F835-F985-C902-B071B12AE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2253980"/>
            <a:ext cx="11554733" cy="31193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EDD5500-876A-47CC-294E-20A761A40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5" y="3429000"/>
            <a:ext cx="3580203" cy="150418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97AC8FCA-AF47-D55D-0ED3-0F7D44743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24" y="5796264"/>
            <a:ext cx="1723412" cy="364569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453E405F-BEC2-3C39-5B99-200DA514B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7258" y="5796264"/>
            <a:ext cx="2078121" cy="43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9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E22F8-90E5-56A0-06D2-C10BF512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Dynamic</a:t>
            </a:r>
            <a:r>
              <a:rPr lang="nl-NL" dirty="0"/>
              <a:t> content </a:t>
            </a:r>
            <a:r>
              <a:rPr lang="nl-NL" dirty="0" err="1"/>
              <a:t>functions</a:t>
            </a:r>
            <a:r>
              <a:rPr lang="nl-NL" dirty="0"/>
              <a:t> and </a:t>
            </a:r>
            <a:r>
              <a:rPr lang="nl-NL" dirty="0" err="1"/>
              <a:t>objects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BB1FE5E-55FF-114B-709B-1400CB4421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237E7E0-3707-0673-88D5-95FD7F4A0A9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ctr"/>
            <a:r>
              <a:rPr lang="nl-NL" dirty="0"/>
              <a:t>Using </a:t>
            </a:r>
            <a:r>
              <a:rPr lang="nl-NL" dirty="0" err="1"/>
              <a:t>function</a:t>
            </a:r>
            <a:r>
              <a:rPr lang="nl-NL" dirty="0"/>
              <a:t> calls</a:t>
            </a:r>
            <a:endParaRPr lang="nl-BE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8CE2AFF-DB7E-00B3-172A-BB6C964996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ctr"/>
            <a:r>
              <a:rPr lang="nl-NL" dirty="0"/>
              <a:t>Using </a:t>
            </a:r>
            <a:r>
              <a:rPr lang="nl-NL" dirty="0" err="1"/>
              <a:t>objects</a:t>
            </a:r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DA616E8-689D-5E5B-E41D-7631F1230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66" y="2068699"/>
            <a:ext cx="4766268" cy="373207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4E854AC-A53E-8A9B-AB53-C68D679E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101" y="5937319"/>
            <a:ext cx="5172797" cy="847843"/>
          </a:xfrm>
          <a:prstGeom prst="rect">
            <a:avLst/>
          </a:prstGeom>
        </p:spPr>
      </p:pic>
      <p:grpSp>
        <p:nvGrpSpPr>
          <p:cNvPr id="16" name="Groep 15">
            <a:extLst>
              <a:ext uri="{FF2B5EF4-FFF2-40B4-BE49-F238E27FC236}">
                <a16:creationId xmlns:a16="http://schemas.microsoft.com/office/drawing/2014/main" id="{96AC73B1-0BDD-C0A2-6126-9959E71076B1}"/>
              </a:ext>
            </a:extLst>
          </p:cNvPr>
          <p:cNvGrpSpPr/>
          <p:nvPr/>
        </p:nvGrpSpPr>
        <p:grpSpPr>
          <a:xfrm>
            <a:off x="7048588" y="2068699"/>
            <a:ext cx="3772426" cy="3445538"/>
            <a:chOff x="7048588" y="2068699"/>
            <a:chExt cx="3772426" cy="3445538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E1AFAE10-36C0-3B24-546B-38828BA17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8588" y="2068699"/>
              <a:ext cx="3395183" cy="24251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Afbeelding 11">
              <a:extLst>
                <a:ext uri="{FF2B5EF4-FFF2-40B4-BE49-F238E27FC236}">
                  <a16:creationId xmlns:a16="http://schemas.microsoft.com/office/drawing/2014/main" id="{3EC8DD92-0A6B-48D9-7987-B77832059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48588" y="4692387"/>
              <a:ext cx="3772426" cy="821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2B112E9-79A3-89C6-B543-6FAB59311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681" y="5903976"/>
            <a:ext cx="3772426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7DBC-1662-DE04-94F8-B20BF5AB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D0969-2A4D-EB0D-CB69-08DB7AD0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Dynamic</a:t>
            </a:r>
            <a:r>
              <a:rPr lang="nl-NL" dirty="0"/>
              <a:t> content </a:t>
            </a:r>
            <a:r>
              <a:rPr lang="nl-NL" dirty="0" err="1"/>
              <a:t>functions</a:t>
            </a:r>
            <a:r>
              <a:rPr lang="nl-NL" dirty="0"/>
              <a:t> and </a:t>
            </a:r>
            <a:r>
              <a:rPr lang="nl-NL" dirty="0" err="1"/>
              <a:t>objects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C8F19C6-A859-033A-02C8-E2F9982F511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8B9F3C-6528-AAB6-0FB4-587C0FF3ED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9300" y="1586321"/>
            <a:ext cx="7094439" cy="4716463"/>
          </a:xfrm>
        </p:spPr>
        <p:txBody>
          <a:bodyPr/>
          <a:lstStyle/>
          <a:p>
            <a:pPr algn="ctr"/>
            <a:r>
              <a:rPr lang="nl-NL" dirty="0"/>
              <a:t>Using complete object </a:t>
            </a:r>
            <a:r>
              <a:rPr lang="nl-NL" dirty="0" err="1"/>
              <a:t>inside</a:t>
            </a:r>
            <a:r>
              <a:rPr lang="nl-NL" dirty="0"/>
              <a:t> { } =&gt; {{ }}</a:t>
            </a:r>
            <a:endParaRPr lang="nl-BE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76A5B86-B6F0-9395-2B95-B0B093B04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00" y="2385939"/>
            <a:ext cx="6208031" cy="4064947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B8A3BDF2-B6FF-C4EE-1C2D-8D2EC659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90" y="2741762"/>
            <a:ext cx="6621555" cy="1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40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5262-9E98-4B20-9E68-FD98037D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8E0A6-ABF2-23B8-E355-2984F721E9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E7783E-ADCB-9852-E3AB-A5D99D5F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props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259549-B8EB-E1FC-DA7A-40389FC715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76672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9722F5-0DCC-37AF-A2B6-C5B609E9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Reusable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input data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7474307-BBA6-7BC4-9B1B-D74CA71BC8D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6E295F-8818-A3E8-2181-55F8EF4F3EC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93886" y="1628775"/>
            <a:ext cx="5582177" cy="4716463"/>
          </a:xfrm>
        </p:spPr>
        <p:txBody>
          <a:bodyPr/>
          <a:lstStyle/>
          <a:p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reused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course component </a:t>
            </a:r>
            <a:r>
              <a:rPr lang="nl-NL" dirty="0" err="1"/>
              <a:t>to</a:t>
            </a:r>
            <a:r>
              <a:rPr lang="nl-NL" dirty="0"/>
              <a:t> show content of 1 course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how</a:t>
            </a:r>
            <a:r>
              <a:rPr lang="nl-NL" dirty="0"/>
              <a:t> do </a:t>
            </a:r>
            <a:r>
              <a:rPr lang="nl-NL" dirty="0" err="1"/>
              <a:t>you</a:t>
            </a:r>
            <a:r>
              <a:rPr lang="nl-NL" dirty="0"/>
              <a:t> pass info of 1 course </a:t>
            </a:r>
            <a:r>
              <a:rPr lang="nl-NL" dirty="0" err="1"/>
              <a:t>into</a:t>
            </a:r>
            <a:r>
              <a:rPr lang="nl-NL" dirty="0"/>
              <a:t> course component?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/>
              <a:t>		       </a:t>
            </a:r>
            <a:r>
              <a:rPr lang="nl-NL" dirty="0" err="1"/>
              <a:t>props</a:t>
            </a:r>
            <a:endParaRPr lang="nl-BE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E0014AEF-6866-768A-2439-AE511DD40190}"/>
              </a:ext>
            </a:extLst>
          </p:cNvPr>
          <p:cNvGrpSpPr/>
          <p:nvPr/>
        </p:nvGrpSpPr>
        <p:grpSpPr>
          <a:xfrm>
            <a:off x="883793" y="1628774"/>
            <a:ext cx="4797339" cy="3976159"/>
            <a:chOff x="107504" y="1247324"/>
            <a:chExt cx="4824536" cy="3787414"/>
          </a:xfrm>
        </p:grpSpPr>
        <p:sp>
          <p:nvSpPr>
            <p:cNvPr id="6" name="Afgeronde rechthoek 7">
              <a:extLst>
                <a:ext uri="{FF2B5EF4-FFF2-40B4-BE49-F238E27FC236}">
                  <a16:creationId xmlns:a16="http://schemas.microsoft.com/office/drawing/2014/main" id="{C929FD97-2289-9A27-6176-6F559FC65F1B}"/>
                </a:ext>
              </a:extLst>
            </p:cNvPr>
            <p:cNvSpPr/>
            <p:nvPr/>
          </p:nvSpPr>
          <p:spPr>
            <a:xfrm>
              <a:off x="1591469" y="1387126"/>
              <a:ext cx="1584176" cy="943175"/>
            </a:xfrm>
            <a:prstGeom prst="roundRect">
              <a:avLst/>
            </a:prstGeom>
            <a:solidFill>
              <a:srgbClr val="EC4B2F"/>
            </a:solidFill>
            <a:ln>
              <a:solidFill>
                <a:srgbClr val="EC4B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app component</a:t>
              </a:r>
              <a:endParaRPr lang="nl-BE"/>
            </a:p>
          </p:txBody>
        </p:sp>
        <p:sp>
          <p:nvSpPr>
            <p:cNvPr id="7" name="Afgeronde rechthoek 8">
              <a:extLst>
                <a:ext uri="{FF2B5EF4-FFF2-40B4-BE49-F238E27FC236}">
                  <a16:creationId xmlns:a16="http://schemas.microsoft.com/office/drawing/2014/main" id="{8749B554-64E5-FCAA-42BB-6534F2DE6E0D}"/>
                </a:ext>
              </a:extLst>
            </p:cNvPr>
            <p:cNvSpPr/>
            <p:nvPr/>
          </p:nvSpPr>
          <p:spPr>
            <a:xfrm>
              <a:off x="218964" y="2965334"/>
              <a:ext cx="1073224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Header</a:t>
              </a:r>
              <a:endParaRPr lang="nl-BE" dirty="0"/>
            </a:p>
          </p:txBody>
        </p:sp>
        <p:sp>
          <p:nvSpPr>
            <p:cNvPr id="8" name="Afgeronde rechthoek 10">
              <a:extLst>
                <a:ext uri="{FF2B5EF4-FFF2-40B4-BE49-F238E27FC236}">
                  <a16:creationId xmlns:a16="http://schemas.microsoft.com/office/drawing/2014/main" id="{D0AD7838-107B-4A99-2DF2-000DF72365D1}"/>
                </a:ext>
              </a:extLst>
            </p:cNvPr>
            <p:cNvSpPr/>
            <p:nvPr/>
          </p:nvSpPr>
          <p:spPr>
            <a:xfrm>
              <a:off x="1792933" y="2946775"/>
              <a:ext cx="1181248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Courses</a:t>
              </a:r>
              <a:endParaRPr lang="nl-BE" dirty="0"/>
            </a:p>
          </p:txBody>
        </p:sp>
        <p:sp>
          <p:nvSpPr>
            <p:cNvPr id="9" name="Afgeronde rechthoek 11">
              <a:extLst>
                <a:ext uri="{FF2B5EF4-FFF2-40B4-BE49-F238E27FC236}">
                  <a16:creationId xmlns:a16="http://schemas.microsoft.com/office/drawing/2014/main" id="{670CCFBA-6FCF-0E61-D9CC-D8E7DF86516E}"/>
                </a:ext>
              </a:extLst>
            </p:cNvPr>
            <p:cNvSpPr/>
            <p:nvPr/>
          </p:nvSpPr>
          <p:spPr>
            <a:xfrm>
              <a:off x="3474926" y="2958903"/>
              <a:ext cx="1176300" cy="648157"/>
            </a:xfrm>
            <a:prstGeom prst="roundRect">
              <a:avLst/>
            </a:prstGeom>
            <a:solidFill>
              <a:srgbClr val="00A0AE"/>
            </a:solidFill>
            <a:ln>
              <a:solidFill>
                <a:srgbClr val="00A0A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Sidebar</a:t>
              </a:r>
              <a:endParaRPr lang="nl-BE" dirty="0"/>
            </a:p>
          </p:txBody>
        </p:sp>
        <p:sp>
          <p:nvSpPr>
            <p:cNvPr id="10" name="Afgeronde rechthoek 12">
              <a:extLst>
                <a:ext uri="{FF2B5EF4-FFF2-40B4-BE49-F238E27FC236}">
                  <a16:creationId xmlns:a16="http://schemas.microsoft.com/office/drawing/2014/main" id="{A705E479-0311-315A-C987-9B5BF48F79E4}"/>
                </a:ext>
              </a:extLst>
            </p:cNvPr>
            <p:cNvSpPr/>
            <p:nvPr/>
          </p:nvSpPr>
          <p:spPr>
            <a:xfrm>
              <a:off x="1792933" y="4149080"/>
              <a:ext cx="1181248" cy="648157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8680">
                <a:spcAft>
                  <a:spcPts val="600"/>
                </a:spcAft>
              </a:pPr>
              <a:r>
                <a:rPr lang="nl-BE" sz="171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Course</a:t>
              </a:r>
              <a:endParaRPr lang="nl-BE" dirty="0"/>
            </a:p>
          </p:txBody>
        </p: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F9C80E4D-E372-63FD-6C46-BEE79AF9E269}"/>
                </a:ext>
              </a:extLst>
            </p:cNvPr>
            <p:cNvCxnSpPr/>
            <p:nvPr/>
          </p:nvCxnSpPr>
          <p:spPr>
            <a:xfrm flipH="1">
              <a:off x="1292188" y="2420010"/>
              <a:ext cx="831540" cy="454602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Rechte verbindingslijn 11">
              <a:extLst>
                <a:ext uri="{FF2B5EF4-FFF2-40B4-BE49-F238E27FC236}">
                  <a16:creationId xmlns:a16="http://schemas.microsoft.com/office/drawing/2014/main" id="{45E5E899-7979-D37E-6976-56D6C86524B7}"/>
                </a:ext>
              </a:extLst>
            </p:cNvPr>
            <p:cNvCxnSpPr/>
            <p:nvPr/>
          </p:nvCxnSpPr>
          <p:spPr>
            <a:xfrm>
              <a:off x="2826855" y="2420010"/>
              <a:ext cx="831540" cy="454602"/>
            </a:xfrm>
            <a:prstGeom prst="line">
              <a:avLst/>
            </a:prstGeom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C53EBF7D-B2ED-1118-2D3C-47D2787CBB98}"/>
                </a:ext>
              </a:extLst>
            </p:cNvPr>
            <p:cNvCxnSpPr/>
            <p:nvPr/>
          </p:nvCxnSpPr>
          <p:spPr>
            <a:xfrm>
              <a:off x="2411760" y="2420898"/>
              <a:ext cx="0" cy="426945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F5DEC5FF-3146-6334-D21F-7F9AFA17856F}"/>
                </a:ext>
              </a:extLst>
            </p:cNvPr>
            <p:cNvCxnSpPr/>
            <p:nvPr/>
          </p:nvCxnSpPr>
          <p:spPr>
            <a:xfrm>
              <a:off x="2390061" y="3650127"/>
              <a:ext cx="0" cy="426945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fgeronde rechthoek 1">
              <a:extLst>
                <a:ext uri="{FF2B5EF4-FFF2-40B4-BE49-F238E27FC236}">
                  <a16:creationId xmlns:a16="http://schemas.microsoft.com/office/drawing/2014/main" id="{A58EBA4C-1A32-405A-8B05-9B7C540AE677}"/>
                </a:ext>
              </a:extLst>
            </p:cNvPr>
            <p:cNvSpPr/>
            <p:nvPr/>
          </p:nvSpPr>
          <p:spPr>
            <a:xfrm>
              <a:off x="107504" y="1247324"/>
              <a:ext cx="4824536" cy="3787414"/>
            </a:xfrm>
            <a:prstGeom prst="round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Afgeronde rechthoek 12">
            <a:extLst>
              <a:ext uri="{FF2B5EF4-FFF2-40B4-BE49-F238E27FC236}">
                <a16:creationId xmlns:a16="http://schemas.microsoft.com/office/drawing/2014/main" id="{1D722E08-6C5F-2A77-3A61-5470A2F018B0}"/>
              </a:ext>
            </a:extLst>
          </p:cNvPr>
          <p:cNvSpPr/>
          <p:nvPr/>
        </p:nvSpPr>
        <p:spPr>
          <a:xfrm>
            <a:off x="3934639" y="4675138"/>
            <a:ext cx="1174589" cy="68045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8680">
              <a:spcAft>
                <a:spcPts val="600"/>
              </a:spcAft>
            </a:pPr>
            <a:r>
              <a:rPr lang="nl-BE" sz="171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Course</a:t>
            </a:r>
            <a:endParaRPr lang="nl-BE" dirty="0"/>
          </a:p>
        </p:txBody>
      </p:sp>
      <p:sp>
        <p:nvSpPr>
          <p:cNvPr id="17" name="Afgeronde rechthoek 12">
            <a:extLst>
              <a:ext uri="{FF2B5EF4-FFF2-40B4-BE49-F238E27FC236}">
                <a16:creationId xmlns:a16="http://schemas.microsoft.com/office/drawing/2014/main" id="{87307500-1391-39DD-C14A-1157FFF22939}"/>
              </a:ext>
            </a:extLst>
          </p:cNvPr>
          <p:cNvSpPr/>
          <p:nvPr/>
        </p:nvSpPr>
        <p:spPr>
          <a:xfrm>
            <a:off x="1201203" y="4667247"/>
            <a:ext cx="1174589" cy="680458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68680">
              <a:spcAft>
                <a:spcPts val="600"/>
              </a:spcAft>
            </a:pPr>
            <a:r>
              <a:rPr lang="nl-BE" sz="171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Course</a:t>
            </a:r>
            <a:endParaRPr lang="nl-BE" dirty="0"/>
          </a:p>
        </p:txBody>
      </p: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81D66A39-2CFA-6A5E-F8D6-6853844816ED}"/>
              </a:ext>
            </a:extLst>
          </p:cNvPr>
          <p:cNvCxnSpPr>
            <a:cxnSpLocks/>
          </p:cNvCxnSpPr>
          <p:nvPr/>
        </p:nvCxnSpPr>
        <p:spPr>
          <a:xfrm>
            <a:off x="3371197" y="4151320"/>
            <a:ext cx="724942" cy="44822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E5459881-729B-7B97-38A0-18EEE3770EF7}"/>
              </a:ext>
            </a:extLst>
          </p:cNvPr>
          <p:cNvCxnSpPr>
            <a:cxnSpLocks/>
          </p:cNvCxnSpPr>
          <p:nvPr/>
        </p:nvCxnSpPr>
        <p:spPr>
          <a:xfrm flipH="1">
            <a:off x="2163709" y="4151320"/>
            <a:ext cx="724942" cy="44822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jl: omlaag 20">
            <a:extLst>
              <a:ext uri="{FF2B5EF4-FFF2-40B4-BE49-F238E27FC236}">
                <a16:creationId xmlns:a16="http://schemas.microsoft.com/office/drawing/2014/main" id="{03545123-9A33-96DB-7934-11C59406DAFA}"/>
              </a:ext>
            </a:extLst>
          </p:cNvPr>
          <p:cNvSpPr/>
          <p:nvPr/>
        </p:nvSpPr>
        <p:spPr>
          <a:xfrm>
            <a:off x="8836090" y="3498980"/>
            <a:ext cx="317241" cy="72778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118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BEBA91-F043-511C-AB9D-0D488E88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Call component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props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DFE4A0B-1C4C-3BBA-09E2-E6802DC4A2A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A791EC0-9035-B905-47C8-532BAA12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298964"/>
            <a:ext cx="8220815" cy="530589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090675C5-5558-3A2B-42BF-897280426778}"/>
              </a:ext>
            </a:extLst>
          </p:cNvPr>
          <p:cNvSpPr txBox="1"/>
          <p:nvPr/>
        </p:nvSpPr>
        <p:spPr>
          <a:xfrm>
            <a:off x="8965690" y="513969"/>
            <a:ext cx="30700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component as </a:t>
            </a:r>
          </a:p>
          <a:p>
            <a:r>
              <a:rPr lang="nl-NL" dirty="0" err="1"/>
              <a:t>attributes</a:t>
            </a:r>
            <a:r>
              <a:rPr lang="nl-NL" dirty="0"/>
              <a:t>:</a:t>
            </a:r>
            <a:br>
              <a:rPr lang="nl-NL" dirty="0"/>
            </a:br>
            <a:r>
              <a:rPr lang="nl-NL" dirty="0" err="1"/>
              <a:t>propname</a:t>
            </a:r>
            <a:r>
              <a:rPr lang="nl-NL" dirty="0"/>
              <a:t> = </a:t>
            </a:r>
            <a:r>
              <a:rPr lang="nl-NL" dirty="0" err="1"/>
              <a:t>value</a:t>
            </a:r>
            <a:endParaRPr lang="nl-NL" dirty="0"/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78F6C86E-E769-01A2-8B6E-F3F34455C9F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589253" y="975634"/>
            <a:ext cx="4376437" cy="21557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jl: omlaag 10">
            <a:extLst>
              <a:ext uri="{FF2B5EF4-FFF2-40B4-BE49-F238E27FC236}">
                <a16:creationId xmlns:a16="http://schemas.microsoft.com/office/drawing/2014/main" id="{FDC1F6B6-79E5-1337-87F1-82209326A4E8}"/>
              </a:ext>
            </a:extLst>
          </p:cNvPr>
          <p:cNvSpPr/>
          <p:nvPr/>
        </p:nvSpPr>
        <p:spPr>
          <a:xfrm>
            <a:off x="10342105" y="1507676"/>
            <a:ext cx="317241" cy="72778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3E662858-97DF-2D6E-78D6-C5069A5AA8CB}"/>
              </a:ext>
            </a:extLst>
          </p:cNvPr>
          <p:cNvSpPr txBox="1"/>
          <p:nvPr/>
        </p:nvSpPr>
        <p:spPr>
          <a:xfrm>
            <a:off x="9007400" y="2260653"/>
            <a:ext cx="32239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Listed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converted</a:t>
            </a:r>
            <a:br>
              <a:rPr lang="nl-NL" dirty="0"/>
            </a:br>
            <a:r>
              <a:rPr lang="nl-NL" dirty="0" err="1"/>
              <a:t>into</a:t>
            </a:r>
            <a:r>
              <a:rPr lang="nl-NL" dirty="0"/>
              <a:t> a JS object </a:t>
            </a:r>
            <a:r>
              <a:rPr lang="nl-NL" dirty="0" err="1"/>
              <a:t>by</a:t>
            </a:r>
            <a:r>
              <a:rPr lang="nl-NL" dirty="0"/>
              <a:t> React: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    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5BB7218C-AFC5-9E68-FB69-F367CD565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539" y="2874193"/>
            <a:ext cx="2710372" cy="1213158"/>
          </a:xfrm>
          <a:prstGeom prst="rect">
            <a:avLst/>
          </a:prstGeom>
        </p:spPr>
      </p:pic>
      <p:sp>
        <p:nvSpPr>
          <p:cNvPr id="15" name="Pijl: omlaag 14">
            <a:extLst>
              <a:ext uri="{FF2B5EF4-FFF2-40B4-BE49-F238E27FC236}">
                <a16:creationId xmlns:a16="http://schemas.microsoft.com/office/drawing/2014/main" id="{8C6A27A7-AFBB-5751-2775-9EC6FF269FBB}"/>
              </a:ext>
            </a:extLst>
          </p:cNvPr>
          <p:cNvSpPr/>
          <p:nvPr/>
        </p:nvSpPr>
        <p:spPr>
          <a:xfrm>
            <a:off x="10342105" y="4157728"/>
            <a:ext cx="317241" cy="72778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A510DC0-E76E-246A-3FB1-00E8FCCD5586}"/>
              </a:ext>
            </a:extLst>
          </p:cNvPr>
          <p:cNvSpPr txBox="1"/>
          <p:nvPr/>
        </p:nvSpPr>
        <p:spPr>
          <a:xfrm>
            <a:off x="8888745" y="4955892"/>
            <a:ext cx="28264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Access </a:t>
            </a:r>
            <a:r>
              <a:rPr lang="nl-NL" dirty="0" err="1"/>
              <a:t>props</a:t>
            </a:r>
            <a:r>
              <a:rPr lang="nl-NL" dirty="0"/>
              <a:t> in </a:t>
            </a:r>
            <a:r>
              <a:rPr lang="nl-NL" dirty="0" err="1"/>
              <a:t>child</a:t>
            </a:r>
            <a:r>
              <a:rPr lang="nl-NL" dirty="0"/>
              <a:t> </a:t>
            </a:r>
            <a:r>
              <a:rPr lang="nl-NL" dirty="0" err="1"/>
              <a:t>with</a:t>
            </a:r>
            <a:br>
              <a:rPr lang="nl-NL" dirty="0"/>
            </a:br>
            <a:r>
              <a:rPr lang="nl-NL" dirty="0" err="1"/>
              <a:t>props</a:t>
            </a:r>
            <a:r>
              <a:rPr lang="nl-NL" dirty="0"/>
              <a:t> input parameter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500755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C696-6647-F4B2-A686-90175F7E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AD3B3-CD35-A695-5786-002912D3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54CA4BA-7130-D971-6CA3-491E0CD081F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FB414D2-F881-EA55-CA87-B31203FE69AE}"/>
              </a:ext>
            </a:extLst>
          </p:cNvPr>
          <p:cNvSpPr txBox="1"/>
          <p:nvPr/>
        </p:nvSpPr>
        <p:spPr>
          <a:xfrm>
            <a:off x="8191272" y="1224993"/>
            <a:ext cx="289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input parameter</a:t>
            </a:r>
          </a:p>
        </p:txBody>
      </p:sp>
      <p:sp>
        <p:nvSpPr>
          <p:cNvPr id="11" name="Pijl: omlaag 10">
            <a:extLst>
              <a:ext uri="{FF2B5EF4-FFF2-40B4-BE49-F238E27FC236}">
                <a16:creationId xmlns:a16="http://schemas.microsoft.com/office/drawing/2014/main" id="{11E79DF7-96F7-6BCA-7E68-A239C0F92E50}"/>
              </a:ext>
            </a:extLst>
          </p:cNvPr>
          <p:cNvSpPr/>
          <p:nvPr/>
        </p:nvSpPr>
        <p:spPr>
          <a:xfrm>
            <a:off x="9477762" y="1672473"/>
            <a:ext cx="317241" cy="72778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D8C9A89-C3D5-052F-456B-0641C47E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196" y="2701907"/>
            <a:ext cx="2710372" cy="1213158"/>
          </a:xfrm>
          <a:prstGeom prst="rect">
            <a:avLst/>
          </a:prstGeom>
        </p:spPr>
      </p:pic>
      <p:sp>
        <p:nvSpPr>
          <p:cNvPr id="15" name="Pijl: omlaag 14">
            <a:extLst>
              <a:ext uri="{FF2B5EF4-FFF2-40B4-BE49-F238E27FC236}">
                <a16:creationId xmlns:a16="http://schemas.microsoft.com/office/drawing/2014/main" id="{4884F545-9DCD-FA45-5313-26FB7776AE84}"/>
              </a:ext>
            </a:extLst>
          </p:cNvPr>
          <p:cNvSpPr/>
          <p:nvPr/>
        </p:nvSpPr>
        <p:spPr>
          <a:xfrm>
            <a:off x="9477762" y="4071585"/>
            <a:ext cx="317241" cy="727787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C73C9D9A-4834-2F29-7026-15E3958B3814}"/>
              </a:ext>
            </a:extLst>
          </p:cNvPr>
          <p:cNvSpPr txBox="1"/>
          <p:nvPr/>
        </p:nvSpPr>
        <p:spPr>
          <a:xfrm>
            <a:off x="7220309" y="4955892"/>
            <a:ext cx="46291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Access </a:t>
            </a:r>
            <a:r>
              <a:rPr lang="nl-NL" dirty="0" err="1"/>
              <a:t>props</a:t>
            </a:r>
            <a:r>
              <a:rPr lang="nl-NL" dirty="0"/>
              <a:t> fields like </a:t>
            </a:r>
            <a:r>
              <a:rPr lang="nl-NL" dirty="0" err="1"/>
              <a:t>any</a:t>
            </a:r>
            <a:r>
              <a:rPr lang="nl-NL" dirty="0"/>
              <a:t> JS object fields</a:t>
            </a:r>
            <a:br>
              <a:rPr lang="nl-NL" dirty="0"/>
            </a:br>
            <a:br>
              <a:rPr lang="nl-NL" dirty="0"/>
            </a:br>
            <a:r>
              <a:rPr lang="nl-NL" dirty="0"/>
              <a:t>      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8BD584D-EF34-DF99-0D38-CE95C41BD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0" y="1307592"/>
            <a:ext cx="6983947" cy="3006195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F9C1F513-C4E4-6930-4C85-EEA61B0A8736}"/>
              </a:ext>
            </a:extLst>
          </p:cNvPr>
          <p:cNvCxnSpPr>
            <a:cxnSpLocks/>
          </p:cNvCxnSpPr>
          <p:nvPr/>
        </p:nvCxnSpPr>
        <p:spPr>
          <a:xfrm>
            <a:off x="4097547" y="1507676"/>
            <a:ext cx="382150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B83DE171-8372-6FEC-9544-8B0263FACF08}"/>
              </a:ext>
            </a:extLst>
          </p:cNvPr>
          <p:cNvSpPr txBox="1"/>
          <p:nvPr/>
        </p:nvSpPr>
        <p:spPr>
          <a:xfrm>
            <a:off x="7740565" y="2366877"/>
            <a:ext cx="410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received</a:t>
            </a:r>
            <a:r>
              <a:rPr lang="nl-NL" dirty="0"/>
              <a:t> object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parent</a:t>
            </a:r>
            <a:endParaRPr lang="nl-NL" dirty="0"/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243DF628-E34A-FE05-1148-6BFB0414AB6A}"/>
              </a:ext>
            </a:extLst>
          </p:cNvPr>
          <p:cNvCxnSpPr>
            <a:cxnSpLocks/>
          </p:cNvCxnSpPr>
          <p:nvPr/>
        </p:nvCxnSpPr>
        <p:spPr>
          <a:xfrm flipH="1" flipV="1">
            <a:off x="6245525" y="2400260"/>
            <a:ext cx="2114213" cy="255742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Afbeelding 27">
            <a:extLst>
              <a:ext uri="{FF2B5EF4-FFF2-40B4-BE49-F238E27FC236}">
                <a16:creationId xmlns:a16="http://schemas.microsoft.com/office/drawing/2014/main" id="{12772BA6-9954-EEF9-287F-97C95E86C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9" y="4408422"/>
            <a:ext cx="7107020" cy="238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2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1EB5F-2B02-2A88-A58E-F2B517D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Solve</a:t>
            </a:r>
            <a:r>
              <a:rPr lang="nl-NL" dirty="0"/>
              <a:t> VS code error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A30343A-2A35-C14B-B27A-419AF6A3E2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B606B19-6315-8D3E-2198-825130DF6D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an error </a:t>
            </a:r>
            <a:r>
              <a:rPr lang="nl-NL" dirty="0" err="1"/>
              <a:t>shown</a:t>
            </a:r>
            <a:r>
              <a:rPr lang="nl-NL" dirty="0"/>
              <a:t> in VS code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is </a:t>
            </a: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missing type </a:t>
            </a:r>
            <a:r>
              <a:rPr lang="nl-NL" dirty="0" err="1"/>
              <a:t>checking</a:t>
            </a:r>
            <a:r>
              <a:rPr lang="nl-NL" dirty="0"/>
              <a:t> for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. </a:t>
            </a:r>
            <a:r>
              <a:rPr lang="nl-NL" dirty="0" err="1"/>
              <a:t>However</a:t>
            </a:r>
            <a:r>
              <a:rPr lang="nl-NL" dirty="0"/>
              <a:t>,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typechecking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deprecated</a:t>
            </a:r>
            <a:r>
              <a:rPr lang="nl-NL" dirty="0"/>
              <a:t> as of React19 and is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overcome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TypeScript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JavaScript =&gt;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disregard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error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adding</a:t>
            </a:r>
            <a:r>
              <a:rPr lang="nl-NL" dirty="0"/>
              <a:t> at </a:t>
            </a:r>
            <a:r>
              <a:rPr lang="nl-NL" dirty="0" err="1"/>
              <a:t>the</a:t>
            </a:r>
            <a:r>
              <a:rPr lang="nl-NL" dirty="0"/>
              <a:t> top of </a:t>
            </a:r>
            <a:r>
              <a:rPr lang="nl-NL" dirty="0" err="1"/>
              <a:t>every</a:t>
            </a:r>
            <a:r>
              <a:rPr lang="nl-NL" dirty="0"/>
              <a:t> file: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BE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8AE84EA3-85F5-0E1D-D9FC-BE7389D0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54" y="2239384"/>
            <a:ext cx="7222610" cy="138011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269AC653-5E92-03C0-27B0-38D2955B8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54" y="5514947"/>
            <a:ext cx="5191850" cy="400106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161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F69EC-6B16-2E67-C778-636E72F3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Props</a:t>
            </a:r>
            <a:r>
              <a:rPr lang="nl-NL" dirty="0"/>
              <a:t> accept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types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335905F-32E6-E688-EB7E-DB1CF79966A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sp>
        <p:nvSpPr>
          <p:cNvPr id="5" name="Rechthoek: afgeronde hoeken 4">
            <a:extLst>
              <a:ext uri="{FF2B5EF4-FFF2-40B4-BE49-F238E27FC236}">
                <a16:creationId xmlns:a16="http://schemas.microsoft.com/office/drawing/2014/main" id="{9AECF4F1-0664-CB76-231C-F6C3000B5524}"/>
              </a:ext>
            </a:extLst>
          </p:cNvPr>
          <p:cNvSpPr/>
          <p:nvPr/>
        </p:nvSpPr>
        <p:spPr>
          <a:xfrm>
            <a:off x="2648338" y="2537924"/>
            <a:ext cx="6895322" cy="2547259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6CE07CB-5A6F-DC14-8D48-6D2EC3BB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67" y="2785953"/>
            <a:ext cx="6540393" cy="2051199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58FF6798-ABE0-C7AB-A07D-A435D90E08A1}"/>
              </a:ext>
            </a:extLst>
          </p:cNvPr>
          <p:cNvSpPr txBox="1"/>
          <p:nvPr/>
        </p:nvSpPr>
        <p:spPr>
          <a:xfrm>
            <a:off x="887719" y="164961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String </a:t>
            </a:r>
            <a:r>
              <a:rPr lang="nl-NL" dirty="0" err="1"/>
              <a:t>value</a:t>
            </a:r>
            <a:endParaRPr lang="nl-BE" dirty="0"/>
          </a:p>
        </p:txBody>
      </p:sp>
      <p:sp>
        <p:nvSpPr>
          <p:cNvPr id="17" name="Spojnice: zakřivená 16">
            <a:extLst>
              <a:ext uri="{FF2B5EF4-FFF2-40B4-BE49-F238E27FC236}">
                <a16:creationId xmlns:a16="http://schemas.microsoft.com/office/drawing/2014/main" id="{41E86D13-7258-4845-B33C-1049FDC98539}"/>
              </a:ext>
            </a:extLst>
          </p:cNvPr>
          <p:cNvSpPr/>
          <p:nvPr/>
        </p:nvSpPr>
        <p:spPr>
          <a:xfrm>
            <a:off x="2332079" y="1874879"/>
            <a:ext cx="3042353" cy="1316189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39E954C-15B6-1437-5B2D-E40B2D2AEA89}"/>
              </a:ext>
            </a:extLst>
          </p:cNvPr>
          <p:cNvSpPr txBox="1"/>
          <p:nvPr/>
        </p:nvSpPr>
        <p:spPr>
          <a:xfrm>
            <a:off x="191033" y="3626888"/>
            <a:ext cx="23134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Number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Curly</a:t>
            </a:r>
            <a:r>
              <a:rPr lang="nl-NL" dirty="0"/>
              <a:t> </a:t>
            </a:r>
            <a:r>
              <a:rPr lang="nl-NL" dirty="0" err="1"/>
              <a:t>braces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r>
              <a:rPr lang="nl-NL" dirty="0" err="1"/>
              <a:t>to</a:t>
            </a:r>
            <a:r>
              <a:rPr lang="nl-NL" dirty="0"/>
              <a:t> pass </a:t>
            </a:r>
            <a:r>
              <a:rPr lang="nl-NL" dirty="0" err="1"/>
              <a:t>value</a:t>
            </a:r>
            <a:r>
              <a:rPr lang="nl-NL" dirty="0"/>
              <a:t> as </a:t>
            </a:r>
          </a:p>
          <a:p>
            <a:r>
              <a:rPr lang="nl-NL" dirty="0" err="1"/>
              <a:t>number</a:t>
            </a:r>
            <a:endParaRPr lang="nl-NL" dirty="0"/>
          </a:p>
          <a:p>
            <a:endParaRPr lang="nl-BE" dirty="0"/>
          </a:p>
          <a:p>
            <a:r>
              <a:rPr lang="nl-BE" dirty="0" err="1"/>
              <a:t>With</a:t>
            </a:r>
            <a:r>
              <a:rPr lang="nl-BE" dirty="0"/>
              <a:t> “ “,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would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</a:p>
          <a:p>
            <a:r>
              <a:rPr lang="nl-BE" dirty="0"/>
              <a:t>taken as a string</a:t>
            </a:r>
          </a:p>
        </p:txBody>
      </p:sp>
      <p:sp>
        <p:nvSpPr>
          <p:cNvPr id="13" name="Spojnice: zakřivená 16">
            <a:extLst>
              <a:ext uri="{FF2B5EF4-FFF2-40B4-BE49-F238E27FC236}">
                <a16:creationId xmlns:a16="http://schemas.microsoft.com/office/drawing/2014/main" id="{F9A7BFC3-2540-682B-00D9-4634704A814D}"/>
              </a:ext>
            </a:extLst>
          </p:cNvPr>
          <p:cNvSpPr/>
          <p:nvPr/>
        </p:nvSpPr>
        <p:spPr>
          <a:xfrm rot="5400000" flipH="1" flipV="1">
            <a:off x="2351952" y="3252352"/>
            <a:ext cx="149427" cy="1054093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6DB620A1-8FC3-D858-8BA8-D635A55D5136}"/>
              </a:ext>
            </a:extLst>
          </p:cNvPr>
          <p:cNvSpPr txBox="1"/>
          <p:nvPr/>
        </p:nvSpPr>
        <p:spPr>
          <a:xfrm>
            <a:off x="9543660" y="2928890"/>
            <a:ext cx="25314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Object </a:t>
            </a:r>
            <a:r>
              <a:rPr lang="nl-NL" dirty="0" err="1"/>
              <a:t>value</a:t>
            </a:r>
            <a:endParaRPr lang="nl-NL" dirty="0"/>
          </a:p>
          <a:p>
            <a:endParaRPr lang="nl-NL" dirty="0"/>
          </a:p>
          <a:p>
            <a:r>
              <a:rPr lang="nl-NL" dirty="0"/>
              <a:t>{{ }} is no special </a:t>
            </a:r>
          </a:p>
          <a:p>
            <a:r>
              <a:rPr lang="nl-NL" dirty="0"/>
              <a:t>syntax!!</a:t>
            </a:r>
          </a:p>
          <a:p>
            <a:endParaRPr lang="nl-NL" dirty="0"/>
          </a:p>
          <a:p>
            <a:r>
              <a:rPr lang="nl-NL" dirty="0"/>
              <a:t>It is </a:t>
            </a:r>
            <a:r>
              <a:rPr lang="nl-NL" dirty="0" err="1"/>
              <a:t>symply</a:t>
            </a:r>
            <a:r>
              <a:rPr lang="nl-NL" dirty="0"/>
              <a:t> a JS object</a:t>
            </a:r>
          </a:p>
          <a:p>
            <a:r>
              <a:rPr lang="nl-NL" dirty="0" err="1"/>
              <a:t>passed</a:t>
            </a:r>
            <a:r>
              <a:rPr lang="nl-NL" dirty="0"/>
              <a:t> as a </a:t>
            </a:r>
            <a:r>
              <a:rPr lang="nl-NL" dirty="0" err="1"/>
              <a:t>value</a:t>
            </a:r>
            <a:endParaRPr lang="nl-NL" dirty="0"/>
          </a:p>
        </p:txBody>
      </p:sp>
      <p:sp>
        <p:nvSpPr>
          <p:cNvPr id="15" name="Spojnice: zakřivená 16">
            <a:extLst>
              <a:ext uri="{FF2B5EF4-FFF2-40B4-BE49-F238E27FC236}">
                <a16:creationId xmlns:a16="http://schemas.microsoft.com/office/drawing/2014/main" id="{CD8CDBEB-D880-B7BC-4015-E06138505A0D}"/>
              </a:ext>
            </a:extLst>
          </p:cNvPr>
          <p:cNvSpPr/>
          <p:nvPr/>
        </p:nvSpPr>
        <p:spPr>
          <a:xfrm rot="16200000">
            <a:off x="8265860" y="2576311"/>
            <a:ext cx="747021" cy="1808581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0C835730-4081-3662-D22B-E43EE1619094}"/>
              </a:ext>
            </a:extLst>
          </p:cNvPr>
          <p:cNvSpPr txBox="1"/>
          <p:nvPr/>
        </p:nvSpPr>
        <p:spPr>
          <a:xfrm>
            <a:off x="6677967" y="5563562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Array </a:t>
            </a:r>
            <a:r>
              <a:rPr lang="nl-NL" dirty="0" err="1"/>
              <a:t>value</a:t>
            </a:r>
            <a:endParaRPr lang="nl-BE" dirty="0"/>
          </a:p>
        </p:txBody>
      </p:sp>
      <p:sp>
        <p:nvSpPr>
          <p:cNvPr id="18" name="Spojnice: zakřivená 16">
            <a:extLst>
              <a:ext uri="{FF2B5EF4-FFF2-40B4-BE49-F238E27FC236}">
                <a16:creationId xmlns:a16="http://schemas.microsoft.com/office/drawing/2014/main" id="{D36492FC-6CC3-697D-544F-B7103B601FC5}"/>
              </a:ext>
            </a:extLst>
          </p:cNvPr>
          <p:cNvSpPr/>
          <p:nvPr/>
        </p:nvSpPr>
        <p:spPr>
          <a:xfrm rot="5400000" flipV="1">
            <a:off x="5548052" y="4618314"/>
            <a:ext cx="1204436" cy="1055396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E7122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605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4F51E7-162D-7701-D764-32B3B9F1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112326"/>
            <a:ext cx="11160125" cy="1116012"/>
          </a:xfrm>
        </p:spPr>
        <p:txBody>
          <a:bodyPr/>
          <a:lstStyle/>
          <a:p>
            <a:r>
              <a:rPr lang="nl-NL" dirty="0"/>
              <a:t>							     Pass object 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10CE8A1-3C43-7EED-B7E6-26AB10B389B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8117C62-2656-A361-50DE-575C1F25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23315" cy="685800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8EACE74-4CEC-AD88-2B68-0154CAE73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141" y="3556173"/>
            <a:ext cx="6710615" cy="299740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E6669524-F831-84D5-A3A9-0DD5CD755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9010" y="1553037"/>
            <a:ext cx="2970692" cy="164021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6" name="Spojnice: zakřivená 16">
            <a:extLst>
              <a:ext uri="{FF2B5EF4-FFF2-40B4-BE49-F238E27FC236}">
                <a16:creationId xmlns:a16="http://schemas.microsoft.com/office/drawing/2014/main" id="{2BDE7A4F-00C4-B9BD-DC2A-4CA869A7B7DB}"/>
              </a:ext>
            </a:extLst>
          </p:cNvPr>
          <p:cNvSpPr/>
          <p:nvPr/>
        </p:nvSpPr>
        <p:spPr>
          <a:xfrm rot="5400000" flipH="1" flipV="1">
            <a:off x="4431580" y="2111868"/>
            <a:ext cx="2898475" cy="2970692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7" name="Spojnice: zakřivená 16">
            <a:extLst>
              <a:ext uri="{FF2B5EF4-FFF2-40B4-BE49-F238E27FC236}">
                <a16:creationId xmlns:a16="http://schemas.microsoft.com/office/drawing/2014/main" id="{0ACC6322-29CF-457E-01D6-E78FE32BB94E}"/>
              </a:ext>
            </a:extLst>
          </p:cNvPr>
          <p:cNvSpPr/>
          <p:nvPr/>
        </p:nvSpPr>
        <p:spPr>
          <a:xfrm>
            <a:off x="8862276" y="2828628"/>
            <a:ext cx="376615" cy="2071176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02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32CA2-DD54-1E6A-5D25-626DE9FC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B8C02E-65F1-2B29-EF45-6E9A6412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JS Object </a:t>
            </a:r>
            <a:r>
              <a:rPr lang="nl-NL" dirty="0" err="1"/>
              <a:t>Destructuring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D411EE-5AA2-CDCD-DA23-BBD5DADC6B0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D829042-1F54-D413-6B1C-2E58FDAD5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79" y="3641179"/>
            <a:ext cx="6496957" cy="264832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69BC3E6-D4C4-4781-2A57-CA9412C3C6F7}"/>
              </a:ext>
            </a:extLst>
          </p:cNvPr>
          <p:cNvSpPr txBox="1"/>
          <p:nvPr/>
        </p:nvSpPr>
        <p:spPr>
          <a:xfrm>
            <a:off x="7400533" y="1959305"/>
            <a:ext cx="417293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object </a:t>
            </a:r>
            <a:r>
              <a:rPr lang="nl-NL" dirty="0" err="1"/>
              <a:t>props</a:t>
            </a:r>
            <a:r>
              <a:rPr lang="nl-NL" dirty="0"/>
              <a:t> is </a:t>
            </a:r>
            <a:r>
              <a:rPr lang="nl-NL" dirty="0" err="1"/>
              <a:t>being</a:t>
            </a:r>
            <a:r>
              <a:rPr lang="nl-NL" dirty="0"/>
              <a:t> split </a:t>
            </a:r>
            <a:r>
              <a:rPr lang="nl-NL" dirty="0" err="1"/>
              <a:t>into</a:t>
            </a:r>
            <a:r>
              <a:rPr lang="nl-NL" dirty="0"/>
              <a:t> separate</a:t>
            </a:r>
            <a:br>
              <a:rPr lang="nl-NL" dirty="0"/>
            </a:br>
            <a:r>
              <a:rPr lang="nl-NL" dirty="0"/>
              <a:t>variables. </a:t>
            </a:r>
            <a:br>
              <a:rPr lang="nl-NL" dirty="0"/>
            </a:br>
            <a:r>
              <a:rPr lang="nl-NL" dirty="0"/>
              <a:t>Here </a:t>
            </a:r>
            <a:r>
              <a:rPr lang="nl-NL" dirty="0" err="1"/>
              <a:t>props</a:t>
            </a:r>
            <a:r>
              <a:rPr lang="nl-NL" dirty="0"/>
              <a:t> has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field   =&gt;</a:t>
            </a:r>
            <a:br>
              <a:rPr lang="nl-NL" dirty="0"/>
            </a:b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{course} = </a:t>
            </a:r>
            <a:r>
              <a:rPr lang="nl-NL" dirty="0" err="1"/>
              <a:t>props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will</a:t>
            </a:r>
            <a:r>
              <a:rPr lang="nl-NL" dirty="0"/>
              <a:t> store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course </a:t>
            </a:r>
            <a:r>
              <a:rPr lang="nl-NL" dirty="0" err="1"/>
              <a:t>key</a:t>
            </a:r>
            <a:br>
              <a:rPr lang="nl-NL" dirty="0"/>
            </a:b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object course for </a:t>
            </a:r>
          </a:p>
          <a:p>
            <a:r>
              <a:rPr lang="nl-NL" dirty="0" err="1"/>
              <a:t>further</a:t>
            </a:r>
            <a:r>
              <a:rPr lang="nl-NL" dirty="0"/>
              <a:t> </a:t>
            </a:r>
            <a:r>
              <a:rPr lang="nl-NL" dirty="0" err="1"/>
              <a:t>usage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BAD84A6-0428-5D40-8407-C1485070A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79" y="1710697"/>
            <a:ext cx="2970692" cy="164021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A1337C17-AAE3-8408-6C9F-64DB63FA57E0}"/>
              </a:ext>
            </a:extLst>
          </p:cNvPr>
          <p:cNvSpPr txBox="1"/>
          <p:nvPr/>
        </p:nvSpPr>
        <p:spPr>
          <a:xfrm>
            <a:off x="259534" y="129303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props</a:t>
            </a:r>
            <a:r>
              <a:rPr lang="nl-NL" dirty="0"/>
              <a:t> object: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F4BD89C0-3082-7E45-BC46-DB78A16DCC99}"/>
              </a:ext>
            </a:extLst>
          </p:cNvPr>
          <p:cNvSpPr txBox="1"/>
          <p:nvPr/>
        </p:nvSpPr>
        <p:spPr>
          <a:xfrm>
            <a:off x="3830700" y="2700871"/>
            <a:ext cx="1921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{course} = </a:t>
            </a:r>
            <a:r>
              <a:rPr lang="nl-NL" dirty="0" err="1"/>
              <a:t>props</a:t>
            </a:r>
            <a:endParaRPr lang="nl-BE" dirty="0"/>
          </a:p>
        </p:txBody>
      </p:sp>
      <p:sp>
        <p:nvSpPr>
          <p:cNvPr id="12" name="Spojnice: zakřivená 16">
            <a:extLst>
              <a:ext uri="{FF2B5EF4-FFF2-40B4-BE49-F238E27FC236}">
                <a16:creationId xmlns:a16="http://schemas.microsoft.com/office/drawing/2014/main" id="{4F9940D5-FD77-0F55-1F9A-5A462FBBA147}"/>
              </a:ext>
            </a:extLst>
          </p:cNvPr>
          <p:cNvSpPr/>
          <p:nvPr/>
        </p:nvSpPr>
        <p:spPr>
          <a:xfrm>
            <a:off x="3190286" y="1991407"/>
            <a:ext cx="1528363" cy="709464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3" name="Spojnice: zakřivená 16">
            <a:extLst>
              <a:ext uri="{FF2B5EF4-FFF2-40B4-BE49-F238E27FC236}">
                <a16:creationId xmlns:a16="http://schemas.microsoft.com/office/drawing/2014/main" id="{7102EA77-ACE3-F2B3-781F-9816A249A112}"/>
              </a:ext>
            </a:extLst>
          </p:cNvPr>
          <p:cNvSpPr/>
          <p:nvPr/>
        </p:nvSpPr>
        <p:spPr>
          <a:xfrm flipV="1">
            <a:off x="5857337" y="2846716"/>
            <a:ext cx="1371600" cy="60384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4" name="Spojnice: zakřivená 16">
            <a:extLst>
              <a:ext uri="{FF2B5EF4-FFF2-40B4-BE49-F238E27FC236}">
                <a16:creationId xmlns:a16="http://schemas.microsoft.com/office/drawing/2014/main" id="{91554F72-D34E-A40D-8B3D-9AD4C4E5C521}"/>
              </a:ext>
            </a:extLst>
          </p:cNvPr>
          <p:cNvSpPr/>
          <p:nvPr/>
        </p:nvSpPr>
        <p:spPr>
          <a:xfrm flipH="1">
            <a:off x="4088921" y="3271847"/>
            <a:ext cx="3311612" cy="1078795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29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989BA-CDEE-EAF9-B467-36818AD5C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Object </a:t>
            </a:r>
            <a:r>
              <a:rPr lang="nl-NL" dirty="0" err="1"/>
              <a:t>Destructuring</a:t>
            </a:r>
            <a:r>
              <a:rPr lang="nl-NL" dirty="0"/>
              <a:t> </a:t>
            </a:r>
            <a:r>
              <a:rPr lang="nl-NL" dirty="0" err="1"/>
              <a:t>nested</a:t>
            </a:r>
            <a:r>
              <a:rPr lang="nl-NL" dirty="0"/>
              <a:t> </a:t>
            </a:r>
            <a:r>
              <a:rPr lang="nl-NL" dirty="0" err="1"/>
              <a:t>objects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AE1D53A-593C-687B-C3F7-B29BFA9B48E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45538DE-0D8C-5ACD-F8C9-156DA292A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79" y="3338835"/>
            <a:ext cx="9410694" cy="267643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573900A6-42AC-4249-3FDF-DB7190A03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79" y="1589932"/>
            <a:ext cx="2970692" cy="164021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F367DE4F-A8C9-60E1-020B-A162E3B712E2}"/>
              </a:ext>
            </a:extLst>
          </p:cNvPr>
          <p:cNvSpPr txBox="1"/>
          <p:nvPr/>
        </p:nvSpPr>
        <p:spPr>
          <a:xfrm>
            <a:off x="259534" y="117226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props</a:t>
            </a:r>
            <a:r>
              <a:rPr lang="nl-NL" dirty="0"/>
              <a:t> object: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84AD965-5642-2EFF-F31D-4B6A51663629}"/>
              </a:ext>
            </a:extLst>
          </p:cNvPr>
          <p:cNvSpPr txBox="1"/>
          <p:nvPr/>
        </p:nvSpPr>
        <p:spPr>
          <a:xfrm>
            <a:off x="3518647" y="2070606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use</a:t>
            </a:r>
            <a:r>
              <a:rPr lang="nl-NL" dirty="0"/>
              <a:t> separate variables for </a:t>
            </a:r>
            <a:r>
              <a:rPr lang="nl-NL" dirty="0" err="1"/>
              <a:t>all</a:t>
            </a:r>
            <a:r>
              <a:rPr lang="nl-NL" dirty="0"/>
              <a:t> fields </a:t>
            </a:r>
            <a:r>
              <a:rPr lang="nl-NL" dirty="0" err="1"/>
              <a:t>inside</a:t>
            </a:r>
            <a:r>
              <a:rPr lang="nl-NL" dirty="0"/>
              <a:t> course field:</a:t>
            </a:r>
          </a:p>
        </p:txBody>
      </p:sp>
      <p:sp>
        <p:nvSpPr>
          <p:cNvPr id="10" name="Spojnice: zakřivená 16">
            <a:extLst>
              <a:ext uri="{FF2B5EF4-FFF2-40B4-BE49-F238E27FC236}">
                <a16:creationId xmlns:a16="http://schemas.microsoft.com/office/drawing/2014/main" id="{ADB83B8D-20EC-7C55-1C41-ED52A1915F67}"/>
              </a:ext>
            </a:extLst>
          </p:cNvPr>
          <p:cNvSpPr/>
          <p:nvPr/>
        </p:nvSpPr>
        <p:spPr>
          <a:xfrm>
            <a:off x="6913453" y="2445216"/>
            <a:ext cx="45719" cy="796976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5" name="Spojnice: zakřivená 16">
            <a:extLst>
              <a:ext uri="{FF2B5EF4-FFF2-40B4-BE49-F238E27FC236}">
                <a16:creationId xmlns:a16="http://schemas.microsoft.com/office/drawing/2014/main" id="{AE607DCE-604D-724B-7587-B6E7234306CA}"/>
              </a:ext>
            </a:extLst>
          </p:cNvPr>
          <p:cNvSpPr/>
          <p:nvPr/>
        </p:nvSpPr>
        <p:spPr>
          <a:xfrm rot="16200000" flipH="1" flipV="1">
            <a:off x="4448879" y="2750192"/>
            <a:ext cx="1607570" cy="3468035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CFF7249-1C92-78AD-4A7E-98D4EB302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02" y="6179375"/>
            <a:ext cx="10517068" cy="31436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" name="Spojnice: zakřivená 16">
            <a:extLst>
              <a:ext uri="{FF2B5EF4-FFF2-40B4-BE49-F238E27FC236}">
                <a16:creationId xmlns:a16="http://schemas.microsoft.com/office/drawing/2014/main" id="{439CB738-2C11-8F87-E160-32D2FBF06C27}"/>
              </a:ext>
            </a:extLst>
          </p:cNvPr>
          <p:cNvSpPr/>
          <p:nvPr/>
        </p:nvSpPr>
        <p:spPr>
          <a:xfrm rot="5400000" flipH="1" flipV="1">
            <a:off x="6563447" y="4984325"/>
            <a:ext cx="957044" cy="1564385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F046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475E48F-4C4B-D821-3D45-6C38743486DD}"/>
              </a:ext>
            </a:extLst>
          </p:cNvPr>
          <p:cNvSpPr txBox="1"/>
          <p:nvPr/>
        </p:nvSpPr>
        <p:spPr>
          <a:xfrm>
            <a:off x="7855731" y="4903407"/>
            <a:ext cx="274947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/>
              <a:t>adding</a:t>
            </a:r>
            <a:r>
              <a:rPr lang="nl-NL" dirty="0"/>
              <a:t> a default </a:t>
            </a:r>
            <a:r>
              <a:rPr lang="nl-NL" dirty="0" err="1"/>
              <a:t>value</a:t>
            </a:r>
            <a:r>
              <a:rPr lang="nl-NL" dirty="0"/>
              <a:t> in </a:t>
            </a:r>
            <a:br>
              <a:rPr lang="nl-NL" dirty="0"/>
            </a:br>
            <a:r>
              <a:rPr lang="nl-NL" dirty="0"/>
              <a:t>case a field is missing</a:t>
            </a:r>
          </a:p>
        </p:txBody>
      </p:sp>
    </p:spTree>
    <p:extLst>
      <p:ext uri="{BB962C8B-B14F-4D97-AF65-F5344CB8AC3E}">
        <p14:creationId xmlns:p14="http://schemas.microsoft.com/office/powerpoint/2010/main" val="3990175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C1111-E8C3-8BD6-B364-36AB0400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Special </a:t>
            </a:r>
            <a:r>
              <a:rPr lang="nl-NL" dirty="0" err="1"/>
              <a:t>children</a:t>
            </a:r>
            <a:r>
              <a:rPr lang="nl-NL" dirty="0"/>
              <a:t> prop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BB2FE2F-AADA-418B-8BCF-127AA923FE6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7577C3A-8D8F-56A8-9D19-1F406638E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954" y="1704217"/>
            <a:ext cx="3543795" cy="381053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F274F7CB-9A86-DFAD-9C7D-3C4668170982}"/>
              </a:ext>
            </a:extLst>
          </p:cNvPr>
          <p:cNvCxnSpPr>
            <a:cxnSpLocks/>
          </p:cNvCxnSpPr>
          <p:nvPr/>
        </p:nvCxnSpPr>
        <p:spPr>
          <a:xfrm>
            <a:off x="5972598" y="2208363"/>
            <a:ext cx="0" cy="621102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13FFCA75-1866-94E6-FFC9-6679B47E1DFA}"/>
              </a:ext>
            </a:extLst>
          </p:cNvPr>
          <p:cNvSpPr txBox="1"/>
          <p:nvPr/>
        </p:nvSpPr>
        <p:spPr>
          <a:xfrm>
            <a:off x="3864910" y="2875927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stored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props.children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76F868E-4CF7-6AC2-62FC-9C4E79146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22" y="4038539"/>
            <a:ext cx="4620300" cy="1115244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1F6765CC-0377-0220-965E-AE0C9B532BB1}"/>
              </a:ext>
            </a:extLst>
          </p:cNvPr>
          <p:cNvCxnSpPr>
            <a:cxnSpLocks/>
          </p:cNvCxnSpPr>
          <p:nvPr/>
        </p:nvCxnSpPr>
        <p:spPr>
          <a:xfrm flipH="1">
            <a:off x="4123426" y="3245259"/>
            <a:ext cx="577970" cy="62800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05204BF-8840-E16F-607D-DA70E3E48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533" y="4037227"/>
            <a:ext cx="4256872" cy="111655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1949DC11-2496-8E16-F568-8A1AC1E8A087}"/>
              </a:ext>
            </a:extLst>
          </p:cNvPr>
          <p:cNvSpPr txBox="1"/>
          <p:nvPr/>
        </p:nvSpPr>
        <p:spPr>
          <a:xfrm>
            <a:off x="5600002" y="4410839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or</a:t>
            </a: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474FEEAD-BB54-8FDC-3217-CF7183D81DA2}"/>
              </a:ext>
            </a:extLst>
          </p:cNvPr>
          <p:cNvCxnSpPr>
            <a:cxnSpLocks/>
          </p:cNvCxnSpPr>
          <p:nvPr/>
        </p:nvCxnSpPr>
        <p:spPr>
          <a:xfrm>
            <a:off x="7201621" y="3226765"/>
            <a:ext cx="577970" cy="62800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4D0B55FD-A7A2-9B56-BD14-09D327CA0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327" y="5895719"/>
            <a:ext cx="8164064" cy="476316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FE0B5BE0-6EA9-4811-F063-160D319F2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195" y="5602803"/>
            <a:ext cx="3248478" cy="685896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B738F176-9D36-48CC-BA40-C0CF135E9362}"/>
              </a:ext>
            </a:extLst>
          </p:cNvPr>
          <p:cNvCxnSpPr>
            <a:cxnSpLocks/>
          </p:cNvCxnSpPr>
          <p:nvPr/>
        </p:nvCxnSpPr>
        <p:spPr>
          <a:xfrm flipH="1">
            <a:off x="7183779" y="5209024"/>
            <a:ext cx="577970" cy="62800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06DB4D66-4219-E384-910D-4FE676B059E3}"/>
              </a:ext>
            </a:extLst>
          </p:cNvPr>
          <p:cNvCxnSpPr>
            <a:cxnSpLocks/>
          </p:cNvCxnSpPr>
          <p:nvPr/>
        </p:nvCxnSpPr>
        <p:spPr>
          <a:xfrm>
            <a:off x="4217954" y="5235366"/>
            <a:ext cx="577970" cy="62800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399175D4-D03B-915F-00E5-5ED9B5D36DA6}"/>
              </a:ext>
            </a:extLst>
          </p:cNvPr>
          <p:cNvSpPr txBox="1"/>
          <p:nvPr/>
        </p:nvSpPr>
        <p:spPr>
          <a:xfrm>
            <a:off x="7684049" y="337713"/>
            <a:ext cx="4327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Mainly</a:t>
            </a:r>
            <a:r>
              <a:rPr lang="nl-NL" dirty="0"/>
              <a:t> </a:t>
            </a:r>
            <a:r>
              <a:rPr lang="nl-NL" dirty="0" err="1"/>
              <a:t>useful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piece of </a:t>
            </a:r>
            <a:r>
              <a:rPr lang="nl-NL" dirty="0" err="1"/>
              <a:t>renderable</a:t>
            </a:r>
            <a:r>
              <a:rPr lang="nl-NL" dirty="0"/>
              <a:t> content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passed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component</a:t>
            </a:r>
          </a:p>
        </p:txBody>
      </p:sp>
    </p:spTree>
    <p:extLst>
      <p:ext uri="{BB962C8B-B14F-4D97-AF65-F5344CB8AC3E}">
        <p14:creationId xmlns:p14="http://schemas.microsoft.com/office/powerpoint/2010/main" val="3641491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4DB434-F57A-778E-30D2-2F175CEE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Forwarding</a:t>
            </a:r>
            <a:r>
              <a:rPr lang="nl-NL" dirty="0"/>
              <a:t> </a:t>
            </a:r>
            <a:r>
              <a:rPr lang="nl-NL" dirty="0" err="1"/>
              <a:t>props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wrapped</a:t>
            </a:r>
            <a:r>
              <a:rPr lang="nl-NL" dirty="0"/>
              <a:t> </a:t>
            </a:r>
            <a:r>
              <a:rPr lang="nl-NL" dirty="0" err="1"/>
              <a:t>elements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F416228-642C-C0FD-96BB-94152EB82B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13B64FC-41E1-C4B4-38B6-A7AB037B8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4" y="1561866"/>
            <a:ext cx="9421203" cy="366732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019ACB70-9429-3E1B-DF81-789BA8626837}"/>
              </a:ext>
            </a:extLst>
          </p:cNvPr>
          <p:cNvCxnSpPr>
            <a:cxnSpLocks/>
          </p:cNvCxnSpPr>
          <p:nvPr/>
        </p:nvCxnSpPr>
        <p:spPr>
          <a:xfrm>
            <a:off x="6794905" y="2784847"/>
            <a:ext cx="842088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525CEE65-7F5F-626B-BF0F-05FB771BE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94" y="2620131"/>
            <a:ext cx="5970500" cy="161773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48221BCF-8318-C105-CF73-212B258E7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556" y="4975929"/>
            <a:ext cx="7161173" cy="934832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8" name="Ovaal 17">
            <a:extLst>
              <a:ext uri="{FF2B5EF4-FFF2-40B4-BE49-F238E27FC236}">
                <a16:creationId xmlns:a16="http://schemas.microsoft.com/office/drawing/2014/main" id="{2B89FDEB-4308-2562-9080-43272B37CB83}"/>
              </a:ext>
            </a:extLst>
          </p:cNvPr>
          <p:cNvSpPr/>
          <p:nvPr/>
        </p:nvSpPr>
        <p:spPr>
          <a:xfrm>
            <a:off x="4963886" y="2527914"/>
            <a:ext cx="1315616" cy="513866"/>
          </a:xfrm>
          <a:prstGeom prst="ellipse">
            <a:avLst/>
          </a:prstGeom>
          <a:noFill/>
          <a:ln w="28575">
            <a:solidFill>
              <a:srgbClr val="F046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ECB1B913-E367-891D-FE1D-8A89174F2DB4}"/>
              </a:ext>
            </a:extLst>
          </p:cNvPr>
          <p:cNvSpPr txBox="1"/>
          <p:nvPr/>
        </p:nvSpPr>
        <p:spPr>
          <a:xfrm>
            <a:off x="7636993" y="2405849"/>
            <a:ext cx="4327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Spread operator </a:t>
            </a:r>
            <a:r>
              <a:rPr lang="nl-NL" dirty="0" err="1">
                <a:solidFill>
                  <a:srgbClr val="F04619"/>
                </a:solidFill>
              </a:rPr>
              <a:t>used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merge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all</a:t>
            </a:r>
            <a:r>
              <a:rPr lang="nl-NL" dirty="0">
                <a:solidFill>
                  <a:srgbClr val="F04619"/>
                </a:solidFill>
              </a:rPr>
              <a:t> non-</a:t>
            </a:r>
            <a:r>
              <a:rPr lang="nl-NL" dirty="0" err="1">
                <a:solidFill>
                  <a:srgbClr val="F04619"/>
                </a:solidFill>
              </a:rPr>
              <a:t>listed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props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from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parent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into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props</a:t>
            </a:r>
            <a:r>
              <a:rPr lang="nl-NL" dirty="0">
                <a:solidFill>
                  <a:srgbClr val="F04619"/>
                </a:solidFill>
              </a:rPr>
              <a:t> object</a:t>
            </a:r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33490B56-052D-574E-15BA-378C1073B2E7}"/>
              </a:ext>
            </a:extLst>
          </p:cNvPr>
          <p:cNvSpPr/>
          <p:nvPr/>
        </p:nvSpPr>
        <p:spPr>
          <a:xfrm>
            <a:off x="2289111" y="3172067"/>
            <a:ext cx="1315616" cy="513866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C3FA11FA-5C83-5F48-1FEF-9997C76AC0D1}"/>
              </a:ext>
            </a:extLst>
          </p:cNvPr>
          <p:cNvCxnSpPr>
            <a:cxnSpLocks/>
          </p:cNvCxnSpPr>
          <p:nvPr/>
        </p:nvCxnSpPr>
        <p:spPr>
          <a:xfrm>
            <a:off x="3056440" y="3685933"/>
            <a:ext cx="548287" cy="41020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CB3D17B0-EAFD-500D-C1FD-D208DC502AD1}"/>
              </a:ext>
            </a:extLst>
          </p:cNvPr>
          <p:cNvSpPr txBox="1"/>
          <p:nvPr/>
        </p:nvSpPr>
        <p:spPr>
          <a:xfrm>
            <a:off x="3698844" y="3790931"/>
            <a:ext cx="43278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00B050"/>
                </a:solidFill>
              </a:rPr>
              <a:t>Spread operator </a:t>
            </a:r>
            <a:r>
              <a:rPr lang="nl-NL" dirty="0" err="1">
                <a:solidFill>
                  <a:srgbClr val="00B050"/>
                </a:solidFill>
              </a:rPr>
              <a:t>used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B050"/>
                </a:solidFill>
              </a:rPr>
              <a:t>to</a:t>
            </a:r>
            <a:r>
              <a:rPr lang="nl-NL" dirty="0">
                <a:solidFill>
                  <a:srgbClr val="00B050"/>
                </a:solidFill>
              </a:rPr>
              <a:t> spread </a:t>
            </a:r>
            <a:r>
              <a:rPr lang="nl-NL" dirty="0" err="1">
                <a:solidFill>
                  <a:srgbClr val="00B050"/>
                </a:solidFill>
              </a:rPr>
              <a:t>all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B050"/>
                </a:solidFill>
              </a:rPr>
              <a:t>props</a:t>
            </a:r>
            <a:r>
              <a:rPr lang="nl-NL" dirty="0">
                <a:solidFill>
                  <a:srgbClr val="00B050"/>
                </a:solidFill>
              </a:rPr>
              <a:t> in </a:t>
            </a:r>
            <a:r>
              <a:rPr lang="nl-NL" dirty="0" err="1">
                <a:solidFill>
                  <a:srgbClr val="00B050"/>
                </a:solidFill>
              </a:rPr>
              <a:t>the</a:t>
            </a:r>
            <a:r>
              <a:rPr lang="nl-NL" dirty="0">
                <a:solidFill>
                  <a:srgbClr val="00B050"/>
                </a:solidFill>
              </a:rPr>
              <a:t> object </a:t>
            </a:r>
            <a:r>
              <a:rPr lang="nl-NL" dirty="0" err="1">
                <a:solidFill>
                  <a:srgbClr val="00B050"/>
                </a:solidFill>
              </a:rPr>
              <a:t>to</a:t>
            </a:r>
            <a:r>
              <a:rPr lang="nl-NL" dirty="0">
                <a:solidFill>
                  <a:srgbClr val="00B050"/>
                </a:solidFill>
              </a:rPr>
              <a:t> </a:t>
            </a:r>
            <a:r>
              <a:rPr lang="nl-NL" dirty="0" err="1">
                <a:solidFill>
                  <a:srgbClr val="00B050"/>
                </a:solidFill>
              </a:rPr>
              <a:t>the</a:t>
            </a:r>
            <a:r>
              <a:rPr lang="nl-NL" dirty="0">
                <a:solidFill>
                  <a:srgbClr val="00B050"/>
                </a:solidFill>
              </a:rPr>
              <a:t> h3 element</a:t>
            </a:r>
          </a:p>
        </p:txBody>
      </p:sp>
      <p:sp>
        <p:nvSpPr>
          <p:cNvPr id="28" name="Spojnice: zakřivená 16">
            <a:extLst>
              <a:ext uri="{FF2B5EF4-FFF2-40B4-BE49-F238E27FC236}">
                <a16:creationId xmlns:a16="http://schemas.microsoft.com/office/drawing/2014/main" id="{714E1440-D54A-FA0B-1292-375ED39D9341}"/>
              </a:ext>
            </a:extLst>
          </p:cNvPr>
          <p:cNvSpPr/>
          <p:nvPr/>
        </p:nvSpPr>
        <p:spPr>
          <a:xfrm rot="16200000" flipH="1">
            <a:off x="3652145" y="4370602"/>
            <a:ext cx="1376296" cy="1471126"/>
          </a:xfrm>
          <a:prstGeom prst="curvedConnector2">
            <a:avLst/>
          </a:prstGeom>
          <a:solidFill>
            <a:srgbClr val="E71224">
              <a:alpha val="5000"/>
            </a:srgbClr>
          </a:solidFill>
          <a:ln w="360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de-DE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801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DF0D6-8842-4E02-DE5E-CDB6D428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Setting HTML element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props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656D6FB-CB52-8B28-EE6E-0291169733D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9E13B98-9F3E-199E-AB0C-0D3E31C1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82" y="5016331"/>
            <a:ext cx="7394400" cy="35539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8708B7A-F3AB-2DB9-19CC-0A000286F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64" y="1371844"/>
            <a:ext cx="5915851" cy="157184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F14E6E86-35F8-3B80-AA51-0E5F077B5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294" y="5593586"/>
            <a:ext cx="3970800" cy="771710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3B928239-026D-21E6-159A-806CBD15F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294" y="3824771"/>
            <a:ext cx="3971705" cy="76324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A1BCBCA-FC40-39E7-9C1F-B50EE5106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182" y="3302782"/>
            <a:ext cx="7394569" cy="348253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7318CC93-E194-A8A9-6BA8-8AE18BDC8C45}"/>
              </a:ext>
            </a:extLst>
          </p:cNvPr>
          <p:cNvSpPr txBox="1"/>
          <p:nvPr/>
        </p:nvSpPr>
        <p:spPr>
          <a:xfrm>
            <a:off x="6851218" y="1547094"/>
            <a:ext cx="4327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&lt;…&gt; </a:t>
            </a:r>
            <a:r>
              <a:rPr lang="nl-NL" dirty="0" err="1">
                <a:solidFill>
                  <a:srgbClr val="F04619"/>
                </a:solidFill>
              </a:rPr>
              <a:t>will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be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transformed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by</a:t>
            </a:r>
            <a:r>
              <a:rPr lang="nl-NL" dirty="0">
                <a:solidFill>
                  <a:srgbClr val="F04619"/>
                </a:solidFill>
              </a:rPr>
              <a:t> React </a:t>
            </a:r>
            <a:r>
              <a:rPr lang="nl-NL" dirty="0" err="1">
                <a:solidFill>
                  <a:srgbClr val="F04619"/>
                </a:solidFill>
              </a:rPr>
              <a:t>into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corresponding</a:t>
            </a:r>
            <a:r>
              <a:rPr lang="nl-NL" dirty="0">
                <a:solidFill>
                  <a:srgbClr val="F04619"/>
                </a:solidFill>
              </a:rPr>
              <a:t> HTML tag </a:t>
            </a:r>
            <a:r>
              <a:rPr lang="nl-NL" dirty="0" err="1">
                <a:solidFill>
                  <a:srgbClr val="F04619"/>
                </a:solidFill>
              </a:rPr>
              <a:t>if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the</a:t>
            </a:r>
            <a:r>
              <a:rPr lang="nl-NL" dirty="0">
                <a:solidFill>
                  <a:srgbClr val="F04619"/>
                </a:solidFill>
              </a:rPr>
              <a:t> name in </a:t>
            </a:r>
            <a:r>
              <a:rPr lang="nl-NL" dirty="0" err="1">
                <a:solidFill>
                  <a:srgbClr val="F04619"/>
                </a:solidFill>
              </a:rPr>
              <a:t>between</a:t>
            </a:r>
            <a:r>
              <a:rPr lang="nl-NL" dirty="0">
                <a:solidFill>
                  <a:srgbClr val="F04619"/>
                </a:solidFill>
              </a:rPr>
              <a:t> &lt;&gt; starts </a:t>
            </a:r>
            <a:r>
              <a:rPr lang="nl-NL" dirty="0" err="1">
                <a:solidFill>
                  <a:srgbClr val="F04619"/>
                </a:solidFill>
              </a:rPr>
              <a:t>with</a:t>
            </a:r>
            <a:r>
              <a:rPr lang="nl-NL" dirty="0">
                <a:solidFill>
                  <a:srgbClr val="F04619"/>
                </a:solidFill>
              </a:rPr>
              <a:t> a </a:t>
            </a:r>
            <a:r>
              <a:rPr lang="nl-NL" dirty="0" err="1">
                <a:solidFill>
                  <a:srgbClr val="F04619"/>
                </a:solidFill>
              </a:rPr>
              <a:t>capital</a:t>
            </a:r>
            <a:r>
              <a:rPr lang="nl-NL" dirty="0">
                <a:solidFill>
                  <a:srgbClr val="F04619"/>
                </a:solidFill>
              </a:rPr>
              <a:t> letter</a:t>
            </a:r>
          </a:p>
          <a:p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8821568-A4C6-7B4B-41AB-063C089F57AF}"/>
              </a:ext>
            </a:extLst>
          </p:cNvPr>
          <p:cNvCxnSpPr>
            <a:cxnSpLocks/>
          </p:cNvCxnSpPr>
          <p:nvPr/>
        </p:nvCxnSpPr>
        <p:spPr>
          <a:xfrm>
            <a:off x="3703850" y="1759790"/>
            <a:ext cx="304359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7F42C254-6266-B20B-B34A-C70ABDD96FAD}"/>
              </a:ext>
            </a:extLst>
          </p:cNvPr>
          <p:cNvCxnSpPr>
            <a:cxnSpLocks/>
          </p:cNvCxnSpPr>
          <p:nvPr/>
        </p:nvCxnSpPr>
        <p:spPr>
          <a:xfrm flipH="1">
            <a:off x="6267885" y="4456982"/>
            <a:ext cx="959121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8FD95263-567D-EFFE-1991-4FE29D84620C}"/>
              </a:ext>
            </a:extLst>
          </p:cNvPr>
          <p:cNvCxnSpPr>
            <a:cxnSpLocks/>
          </p:cNvCxnSpPr>
          <p:nvPr/>
        </p:nvCxnSpPr>
        <p:spPr>
          <a:xfrm flipH="1">
            <a:off x="6267885" y="6239774"/>
            <a:ext cx="959121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734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E285D-7A40-23D6-9462-B767165B8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Arrow </a:t>
            </a:r>
            <a:r>
              <a:rPr lang="nl-NL" dirty="0" err="1"/>
              <a:t>functions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FC84F6A-0D92-49FE-D5D3-62C159FC1F0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120CB6E-29A2-873E-4A33-AF2A764D80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5" y="1628775"/>
            <a:ext cx="11576537" cy="471646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Used</a:t>
            </a:r>
            <a:r>
              <a:rPr lang="nl-NL" dirty="0"/>
              <a:t> for </a:t>
            </a:r>
            <a:r>
              <a:rPr lang="nl-NL" dirty="0" err="1"/>
              <a:t>anonymous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(</a:t>
            </a:r>
            <a:r>
              <a:rPr lang="nl-NL" dirty="0" err="1"/>
              <a:t>function</a:t>
            </a:r>
            <a:r>
              <a:rPr lang="nl-NL" dirty="0"/>
              <a:t> without a name)</a:t>
            </a:r>
          </a:p>
          <a:p>
            <a:pPr marL="702900" lvl="1" indent="-342900"/>
            <a:endParaRPr lang="nl-BE" dirty="0"/>
          </a:p>
          <a:p>
            <a:pPr lvl="1" indent="0">
              <a:buNone/>
            </a:pPr>
            <a:r>
              <a:rPr lang="nl-BE" dirty="0" err="1"/>
              <a:t>function</a:t>
            </a:r>
            <a:r>
              <a:rPr lang="nl-BE" dirty="0"/>
              <a:t>() {			  equivalent </a:t>
            </a:r>
            <a:r>
              <a:rPr lang="nl-BE" dirty="0" err="1"/>
              <a:t>to</a:t>
            </a:r>
            <a:r>
              <a:rPr lang="nl-BE" dirty="0"/>
              <a:t>          	      () =&gt; {</a:t>
            </a:r>
            <a:br>
              <a:rPr lang="nl-BE" dirty="0"/>
            </a:br>
            <a:r>
              <a:rPr lang="nl-BE" dirty="0"/>
              <a:t>      console.log(‘</a:t>
            </a:r>
            <a:r>
              <a:rPr lang="nl-BE" dirty="0" err="1"/>
              <a:t>Hello</a:t>
            </a:r>
            <a:r>
              <a:rPr lang="nl-BE" dirty="0"/>
              <a:t>’);					 console.log(‘</a:t>
            </a:r>
            <a:r>
              <a:rPr lang="nl-BE" dirty="0" err="1"/>
              <a:t>Hello</a:t>
            </a:r>
            <a:r>
              <a:rPr lang="nl-BE" dirty="0"/>
              <a:t>’);</a:t>
            </a:r>
            <a:br>
              <a:rPr lang="nl-BE" dirty="0"/>
            </a:br>
            <a:r>
              <a:rPr lang="nl-BE" dirty="0"/>
              <a:t>}							      }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General syntax:</a:t>
            </a:r>
          </a:p>
          <a:p>
            <a:pPr lvl="1" indent="0">
              <a:buNone/>
            </a:pPr>
            <a:r>
              <a:rPr lang="nl-BE" dirty="0"/>
              <a:t>(argument1, argument2, </a:t>
            </a:r>
            <a:r>
              <a:rPr lang="nl-BE" dirty="0" err="1"/>
              <a:t>argumentN</a:t>
            </a:r>
            <a:r>
              <a:rPr lang="nl-BE" dirty="0"/>
              <a:t>) =&gt; { statements }</a:t>
            </a:r>
          </a:p>
          <a:p>
            <a:pPr marL="702900" lvl="1" indent="-342900"/>
            <a:endParaRPr lang="nl-BE" dirty="0"/>
          </a:p>
          <a:p>
            <a:pPr marL="342900" lvl="1" indent="-342900">
              <a:spcBef>
                <a:spcPts val="0"/>
              </a:spcBef>
              <a:spcAft>
                <a:spcPts val="0"/>
              </a:spcAft>
            </a:pPr>
            <a:r>
              <a:rPr lang="nl-BE" dirty="0"/>
              <a:t>1 argument:</a:t>
            </a:r>
          </a:p>
          <a:p>
            <a:pPr lvl="1" indent="0">
              <a:buNone/>
            </a:pPr>
            <a:r>
              <a:rPr lang="nl-BE" dirty="0"/>
              <a:t>argument =&gt; { statements }</a:t>
            </a:r>
          </a:p>
          <a:p>
            <a:pPr marL="702900" lvl="1" indent="-342900"/>
            <a:endParaRPr lang="nl-BE" dirty="0"/>
          </a:p>
          <a:p>
            <a:pPr marL="342900" lvl="1" indent="-342900">
              <a:spcBef>
                <a:spcPts val="0"/>
              </a:spcBef>
              <a:spcAft>
                <a:spcPts val="0"/>
              </a:spcAft>
            </a:pPr>
            <a:r>
              <a:rPr lang="nl-BE" dirty="0"/>
              <a:t>no </a:t>
            </a:r>
            <a:r>
              <a:rPr lang="nl-BE" dirty="0" err="1"/>
              <a:t>arguments</a:t>
            </a:r>
            <a:r>
              <a:rPr lang="nl-BE" dirty="0"/>
              <a:t>:</a:t>
            </a:r>
          </a:p>
          <a:p>
            <a:pPr lvl="1" indent="0">
              <a:buNone/>
            </a:pPr>
            <a:r>
              <a:rPr lang="nl-BE" dirty="0"/>
              <a:t>() =&gt; { statements}</a:t>
            </a:r>
            <a:br>
              <a:rPr lang="nl-BE" dirty="0"/>
            </a:br>
            <a:endParaRPr lang="nl-BE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44CDC37-4F9D-669C-06F4-99C4795A1C1B}"/>
              </a:ext>
            </a:extLst>
          </p:cNvPr>
          <p:cNvSpPr/>
          <p:nvPr/>
        </p:nvSpPr>
        <p:spPr>
          <a:xfrm>
            <a:off x="4459624" y="5698907"/>
            <a:ext cx="7632848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nl-BE" dirty="0">
                <a:solidFill>
                  <a:srgbClr val="003B71"/>
                </a:solidFill>
                <a:latin typeface="Verdana" panose="020B0604030504040204" pitchFamily="34" charset="0"/>
              </a:rPr>
              <a:t>More info: </a:t>
            </a:r>
            <a:r>
              <a:rPr lang="nl-BE" dirty="0">
                <a:solidFill>
                  <a:srgbClr val="118EFF"/>
                </a:solidFill>
                <a:latin typeface="Verdana" panose="020B0604030504040204" pitchFamily="34" charset="0"/>
                <a:hlinkClick r:id="rId2"/>
              </a:rPr>
              <a:t>https://developer.mozilla.org/en-US/docs/Web/JavaScript/Reference/Functions/Arrow_functions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67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4A18-F62F-4CC2-4804-945171EE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2CE9C-9DDC-63A3-9E89-ED032CCEF1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20AEF0-5EC1-6922-4BB2-C505C1C68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Convert list data to component array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D7D548-3C20-ED34-4D64-F399CD96A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010112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7E6C97-FB72-6D9C-96E1-C65CE68DF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Outputting</a:t>
            </a:r>
            <a:r>
              <a:rPr lang="nl-NL" dirty="0"/>
              <a:t> list data </a:t>
            </a:r>
            <a:r>
              <a:rPr lang="nl-NL" dirty="0" err="1"/>
              <a:t>dynmically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DE8D91E-2D45-E17D-1525-13665407A91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D2C2D6C-8785-7408-CC36-387C0D5FB1B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51168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JSX an array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outputted</a:t>
            </a:r>
            <a:r>
              <a:rPr lang="nl-NL" dirty="0"/>
              <a:t> as </a:t>
            </a:r>
            <a:r>
              <a:rPr lang="nl-NL" dirty="0" err="1"/>
              <a:t>follows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output a list of course detail </a:t>
            </a:r>
            <a:r>
              <a:rPr lang="nl-NL" dirty="0" err="1"/>
              <a:t>components</a:t>
            </a:r>
            <a:r>
              <a:rPr lang="nl-NL" dirty="0"/>
              <a:t>, </a:t>
            </a:r>
            <a:r>
              <a:rPr lang="nl-NL" dirty="0" err="1"/>
              <a:t>convert</a:t>
            </a:r>
            <a:r>
              <a:rPr lang="nl-NL" dirty="0"/>
              <a:t> array of course data </a:t>
            </a:r>
            <a:r>
              <a:rPr lang="nl-NL" dirty="0" err="1"/>
              <a:t>into</a:t>
            </a:r>
            <a:r>
              <a:rPr lang="nl-NL" dirty="0"/>
              <a:t> array of course detail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JS map </a:t>
            </a:r>
            <a:r>
              <a:rPr lang="nl-NL" dirty="0" err="1"/>
              <a:t>function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map stores new array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roots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modifying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element of </a:t>
            </a:r>
            <a:r>
              <a:rPr lang="nl-NL" dirty="0" err="1"/>
              <a:t>numbers</a:t>
            </a:r>
            <a:r>
              <a:rPr lang="nl-NL" dirty="0"/>
              <a:t> </a:t>
            </a:r>
            <a:r>
              <a:rPr lang="nl-NL" dirty="0" err="1"/>
              <a:t>according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arrow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map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78A0E28-A8FE-7896-C7B4-9FCDF290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30" y="2226397"/>
            <a:ext cx="5730598" cy="52613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29D98793-8027-C892-5468-229BD4CC5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560" y="1926757"/>
            <a:ext cx="1543811" cy="11430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E02D7FB9-B7F6-913A-9C65-88AF48578A71}"/>
              </a:ext>
            </a:extLst>
          </p:cNvPr>
          <p:cNvCxnSpPr>
            <a:cxnSpLocks/>
          </p:cNvCxnSpPr>
          <p:nvPr/>
        </p:nvCxnSpPr>
        <p:spPr>
          <a:xfrm>
            <a:off x="6803023" y="2441980"/>
            <a:ext cx="123063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3D9DF724-0F44-EB83-730B-F40B3CBE24F6}"/>
              </a:ext>
            </a:extLst>
          </p:cNvPr>
          <p:cNvSpPr txBox="1"/>
          <p:nvPr/>
        </p:nvSpPr>
        <p:spPr>
          <a:xfrm>
            <a:off x="910730" y="4190965"/>
            <a:ext cx="6097554" cy="1477328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nl-BE" dirty="0" err="1"/>
              <a:t>const</a:t>
            </a:r>
            <a:r>
              <a:rPr lang="nl-BE" dirty="0"/>
              <a:t> </a:t>
            </a:r>
            <a:r>
              <a:rPr lang="nl-BE" dirty="0" err="1"/>
              <a:t>numbers</a:t>
            </a:r>
            <a:r>
              <a:rPr lang="nl-BE" dirty="0"/>
              <a:t> = [1, 4, 9];</a:t>
            </a:r>
          </a:p>
          <a:p>
            <a:r>
              <a:rPr lang="nl-BE" dirty="0" err="1"/>
              <a:t>const</a:t>
            </a:r>
            <a:r>
              <a:rPr lang="nl-BE" dirty="0"/>
              <a:t> </a:t>
            </a:r>
            <a:r>
              <a:rPr lang="nl-BE" dirty="0" err="1"/>
              <a:t>roots</a:t>
            </a:r>
            <a:r>
              <a:rPr lang="nl-BE" dirty="0"/>
              <a:t> = </a:t>
            </a:r>
            <a:r>
              <a:rPr lang="nl-BE" dirty="0" err="1"/>
              <a:t>numbers.map</a:t>
            </a:r>
            <a:r>
              <a:rPr lang="nl-BE" dirty="0"/>
              <a:t>((</a:t>
            </a:r>
            <a:r>
              <a:rPr lang="nl-BE" dirty="0" err="1"/>
              <a:t>num</a:t>
            </a:r>
            <a:r>
              <a:rPr lang="nl-BE" dirty="0"/>
              <a:t>) =&gt; </a:t>
            </a:r>
            <a:r>
              <a:rPr lang="nl-BE" dirty="0" err="1"/>
              <a:t>Math.sqrt</a:t>
            </a:r>
            <a:r>
              <a:rPr lang="nl-BE" dirty="0"/>
              <a:t>(</a:t>
            </a:r>
            <a:r>
              <a:rPr lang="nl-BE" dirty="0" err="1"/>
              <a:t>num</a:t>
            </a:r>
            <a:r>
              <a:rPr lang="nl-BE" dirty="0"/>
              <a:t>));</a:t>
            </a:r>
          </a:p>
          <a:p>
            <a:endParaRPr lang="nl-BE" dirty="0"/>
          </a:p>
          <a:p>
            <a:r>
              <a:rPr lang="nl-BE" dirty="0"/>
              <a:t>// </a:t>
            </a:r>
            <a:r>
              <a:rPr lang="nl-BE" dirty="0" err="1"/>
              <a:t>roots</a:t>
            </a:r>
            <a:r>
              <a:rPr lang="nl-BE" dirty="0"/>
              <a:t> is </a:t>
            </a:r>
            <a:r>
              <a:rPr lang="nl-BE" dirty="0" err="1"/>
              <a:t>now</a:t>
            </a:r>
            <a:r>
              <a:rPr lang="nl-BE" dirty="0"/>
              <a:t>     [1, 2, 3]</a:t>
            </a:r>
          </a:p>
          <a:p>
            <a:r>
              <a:rPr lang="nl-BE" dirty="0"/>
              <a:t>// </a:t>
            </a:r>
            <a:r>
              <a:rPr lang="nl-BE" dirty="0" err="1"/>
              <a:t>numbers</a:t>
            </a:r>
            <a:r>
              <a:rPr lang="nl-BE" dirty="0"/>
              <a:t> is </a:t>
            </a:r>
            <a:r>
              <a:rPr lang="nl-BE" dirty="0" err="1"/>
              <a:t>still</a:t>
            </a:r>
            <a:r>
              <a:rPr lang="nl-BE" dirty="0"/>
              <a:t> [1, 4, 9]</a:t>
            </a:r>
          </a:p>
        </p:txBody>
      </p:sp>
    </p:spTree>
    <p:extLst>
      <p:ext uri="{BB962C8B-B14F-4D97-AF65-F5344CB8AC3E}">
        <p14:creationId xmlns:p14="http://schemas.microsoft.com/office/powerpoint/2010/main" val="2118989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E72B-8EDE-5D82-3346-D941C2A3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A225A-0D0E-9720-29F7-0905A110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96428"/>
            <a:ext cx="11160125" cy="1116012"/>
          </a:xfrm>
        </p:spPr>
        <p:txBody>
          <a:bodyPr/>
          <a:lstStyle/>
          <a:p>
            <a:r>
              <a:rPr lang="nl-NL" dirty="0" err="1"/>
              <a:t>Outputting</a:t>
            </a:r>
            <a:r>
              <a:rPr lang="nl-NL" dirty="0"/>
              <a:t> list data </a:t>
            </a:r>
            <a:r>
              <a:rPr lang="nl-NL" dirty="0" err="1"/>
              <a:t>dynmically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767A42-E4A6-F591-44D0-20BB35BCAC0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F229F40-A9E1-E001-6C42-435508C74E0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51168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80E0934-567C-7CD3-8917-8878DC7A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015"/>
          <a:stretch/>
        </p:blipFill>
        <p:spPr>
          <a:xfrm>
            <a:off x="96073" y="3559041"/>
            <a:ext cx="3883535" cy="290963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A3FEC1B1-CAB1-D17F-FF12-6163F3FA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225" y="2154563"/>
            <a:ext cx="5222024" cy="148667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16AEA017-73CF-3F3F-47BA-34B5A2DB1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28" y="1281616"/>
            <a:ext cx="6342111" cy="157553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AB602DD1-7115-078A-587B-AD05F853D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726" y="3993919"/>
            <a:ext cx="3949200" cy="681161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4F3AA5EA-427C-C3C1-5988-FE878D434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5596" y="5314075"/>
            <a:ext cx="3948904" cy="671157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750EAFC9-9489-DE3C-39B0-A81D23B9A5CF}"/>
              </a:ext>
            </a:extLst>
          </p:cNvPr>
          <p:cNvCxnSpPr>
            <a:cxnSpLocks/>
          </p:cNvCxnSpPr>
          <p:nvPr/>
        </p:nvCxnSpPr>
        <p:spPr>
          <a:xfrm>
            <a:off x="6346424" y="2769356"/>
            <a:ext cx="102053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6D0B8111-6DDA-5DE0-5D09-FFBA67C69DF4}"/>
              </a:ext>
            </a:extLst>
          </p:cNvPr>
          <p:cNvSpPr txBox="1"/>
          <p:nvPr/>
        </p:nvSpPr>
        <p:spPr>
          <a:xfrm>
            <a:off x="3985213" y="3602027"/>
            <a:ext cx="4120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 err="1">
                <a:solidFill>
                  <a:srgbClr val="606060"/>
                </a:solidFill>
              </a:rPr>
              <a:t>courseItem</a:t>
            </a:r>
            <a:r>
              <a:rPr lang="nl-NL" sz="1400" dirty="0">
                <a:solidFill>
                  <a:srgbClr val="606060"/>
                </a:solidFill>
              </a:rPr>
              <a:t> =&gt; (</a:t>
            </a:r>
          </a:p>
          <a:p>
            <a:r>
              <a:rPr lang="nl-NL" sz="1400" dirty="0">
                <a:solidFill>
                  <a:srgbClr val="606060"/>
                </a:solidFill>
              </a:rPr>
              <a:t>    &lt;li&gt;&lt;</a:t>
            </a:r>
            <a:r>
              <a:rPr lang="nl-NL" sz="1400" dirty="0" err="1">
                <a:solidFill>
                  <a:srgbClr val="606060"/>
                </a:solidFill>
              </a:rPr>
              <a:t>CourseDetail</a:t>
            </a:r>
            <a:r>
              <a:rPr lang="nl-NL" sz="1400" dirty="0">
                <a:solidFill>
                  <a:srgbClr val="606060"/>
                </a:solidFill>
              </a:rPr>
              <a:t> course = {</a:t>
            </a:r>
            <a:r>
              <a:rPr lang="nl-NL" sz="1400" dirty="0" err="1">
                <a:solidFill>
                  <a:srgbClr val="606060"/>
                </a:solidFill>
              </a:rPr>
              <a:t>courseItem</a:t>
            </a:r>
            <a:r>
              <a:rPr lang="nl-NL" sz="1400" dirty="0">
                <a:solidFill>
                  <a:srgbClr val="606060"/>
                </a:solidFill>
              </a:rPr>
              <a:t>} /&gt;&lt;/li&gt;</a:t>
            </a:r>
            <a:br>
              <a:rPr lang="nl-NL" sz="1400" dirty="0">
                <a:solidFill>
                  <a:srgbClr val="606060"/>
                </a:solidFill>
              </a:rPr>
            </a:br>
            <a:r>
              <a:rPr lang="nl-NL" sz="1400" dirty="0">
                <a:solidFill>
                  <a:srgbClr val="606060"/>
                </a:solidFill>
              </a:rPr>
              <a:t>) </a:t>
            </a:r>
            <a:endParaRPr lang="nl-BE" sz="1400" dirty="0">
              <a:solidFill>
                <a:srgbClr val="606060"/>
              </a:solidFill>
            </a:endParaRPr>
          </a:p>
        </p:txBody>
      </p: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18D3CC8C-663F-3320-8861-9910C660C3DE}"/>
              </a:ext>
            </a:extLst>
          </p:cNvPr>
          <p:cNvCxnSpPr>
            <a:cxnSpLocks/>
          </p:cNvCxnSpPr>
          <p:nvPr/>
        </p:nvCxnSpPr>
        <p:spPr>
          <a:xfrm>
            <a:off x="3568718" y="5649653"/>
            <a:ext cx="453749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kstvak 29">
            <a:extLst>
              <a:ext uri="{FF2B5EF4-FFF2-40B4-BE49-F238E27FC236}">
                <a16:creationId xmlns:a16="http://schemas.microsoft.com/office/drawing/2014/main" id="{DF5A70D4-E676-35A3-618C-BB806AF6D0DA}"/>
              </a:ext>
            </a:extLst>
          </p:cNvPr>
          <p:cNvSpPr txBox="1"/>
          <p:nvPr/>
        </p:nvSpPr>
        <p:spPr>
          <a:xfrm>
            <a:off x="3979608" y="4899927"/>
            <a:ext cx="41209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BE"/>
            </a:defPPr>
            <a:lvl1pPr>
              <a:defRPr sz="1400">
                <a:solidFill>
                  <a:srgbClr val="606060"/>
                </a:solidFill>
              </a:defRPr>
            </a:lvl1pPr>
          </a:lstStyle>
          <a:p>
            <a:r>
              <a:rPr lang="nl-NL" dirty="0" err="1"/>
              <a:t>courseItem</a:t>
            </a:r>
            <a:r>
              <a:rPr lang="nl-NL" dirty="0"/>
              <a:t> =&gt; (</a:t>
            </a:r>
          </a:p>
          <a:p>
            <a:r>
              <a:rPr lang="nl-NL" dirty="0"/>
              <a:t>    &lt;li&gt;&lt;</a:t>
            </a:r>
            <a:r>
              <a:rPr lang="nl-NL" dirty="0" err="1"/>
              <a:t>CourseDetail</a:t>
            </a:r>
            <a:r>
              <a:rPr lang="nl-NL" dirty="0"/>
              <a:t> course = {</a:t>
            </a:r>
            <a:r>
              <a:rPr lang="nl-NL" dirty="0" err="1"/>
              <a:t>courseItem</a:t>
            </a:r>
            <a:r>
              <a:rPr lang="nl-NL" dirty="0"/>
              <a:t>} /&gt;&lt;/li&gt;</a:t>
            </a:r>
            <a:br>
              <a:rPr lang="nl-NL" dirty="0"/>
            </a:br>
            <a:r>
              <a:rPr lang="nl-NL" dirty="0"/>
              <a:t>) </a:t>
            </a:r>
            <a:endParaRPr lang="nl-BE" dirty="0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C5DE5F4A-E237-A006-99AB-4258563E98F2}"/>
              </a:ext>
            </a:extLst>
          </p:cNvPr>
          <p:cNvSpPr txBox="1"/>
          <p:nvPr/>
        </p:nvSpPr>
        <p:spPr>
          <a:xfrm>
            <a:off x="2037840" y="2446191"/>
            <a:ext cx="423705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return statement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callback</a:t>
            </a:r>
            <a:r>
              <a:rPr lang="nl-NL" dirty="0"/>
              <a:t>, </a:t>
            </a:r>
          </a:p>
          <a:p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simplified</a:t>
            </a:r>
            <a:r>
              <a:rPr lang="nl-NL" dirty="0"/>
              <a:t> </a:t>
            </a:r>
            <a:r>
              <a:rPr lang="nl-NL" dirty="0" err="1"/>
              <a:t>to</a:t>
            </a:r>
            <a:endParaRPr lang="nl-NL" dirty="0"/>
          </a:p>
        </p:txBody>
      </p: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3B2E5D76-8E71-F143-6522-E1B2ED5C8265}"/>
              </a:ext>
            </a:extLst>
          </p:cNvPr>
          <p:cNvCxnSpPr>
            <a:cxnSpLocks/>
          </p:cNvCxnSpPr>
          <p:nvPr/>
        </p:nvCxnSpPr>
        <p:spPr>
          <a:xfrm>
            <a:off x="1558505" y="2269911"/>
            <a:ext cx="479335" cy="49944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0B20D194-4E07-C34D-B80D-B3807B8DBD76}"/>
              </a:ext>
            </a:extLst>
          </p:cNvPr>
          <p:cNvCxnSpPr>
            <a:cxnSpLocks/>
          </p:cNvCxnSpPr>
          <p:nvPr/>
        </p:nvCxnSpPr>
        <p:spPr>
          <a:xfrm>
            <a:off x="3721118" y="4504152"/>
            <a:ext cx="453749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504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1F092-248B-A2B1-A5B1-0DF2E050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Key</a:t>
            </a:r>
            <a:r>
              <a:rPr lang="nl-NL" dirty="0"/>
              <a:t> prop </a:t>
            </a:r>
            <a:r>
              <a:rPr lang="nl-NL" dirty="0" err="1"/>
              <a:t>needed</a:t>
            </a:r>
            <a:r>
              <a:rPr lang="nl-NL" dirty="0"/>
              <a:t> for array </a:t>
            </a:r>
            <a:r>
              <a:rPr lang="nl-NL" dirty="0" err="1"/>
              <a:t>elements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A05CEE6-FCAE-86C5-C0E4-99C7C4C5704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F8D484-2810-0D37-9558-40B82A7D446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500997"/>
            <a:ext cx="11160127" cy="512409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VS code =&gt; error message Missing “</a:t>
            </a:r>
            <a:r>
              <a:rPr lang="nl-NL" dirty="0" err="1"/>
              <a:t>key</a:t>
            </a:r>
            <a:r>
              <a:rPr lang="nl-NL" dirty="0"/>
              <a:t>” prop: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For </a:t>
            </a:r>
            <a:r>
              <a:rPr lang="nl-NL" dirty="0" err="1"/>
              <a:t>efficient</a:t>
            </a:r>
            <a:r>
              <a:rPr lang="nl-NL" dirty="0"/>
              <a:t> </a:t>
            </a:r>
            <a:r>
              <a:rPr lang="nl-NL" dirty="0" err="1"/>
              <a:t>rendering</a:t>
            </a:r>
            <a:r>
              <a:rPr lang="nl-NL" dirty="0"/>
              <a:t>, React </a:t>
            </a:r>
            <a:r>
              <a:rPr lang="nl-NL" dirty="0" err="1"/>
              <a:t>needs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have a </a:t>
            </a:r>
            <a:r>
              <a:rPr lang="nl-NL" dirty="0" err="1"/>
              <a:t>unique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for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iterative</a:t>
            </a:r>
            <a:r>
              <a:rPr lang="nl-NL" dirty="0"/>
              <a:t> element. Here &lt;li&gt; is </a:t>
            </a:r>
            <a:r>
              <a:rPr lang="nl-NL" dirty="0" err="1"/>
              <a:t>repeated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content </a:t>
            </a:r>
            <a:r>
              <a:rPr lang="nl-NL" dirty="0" err="1"/>
              <a:t>inside</a:t>
            </a:r>
            <a:r>
              <a:rPr lang="nl-NL" dirty="0"/>
              <a:t> =&gt;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&lt;li&gt;: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1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Key</a:t>
            </a:r>
            <a:r>
              <a:rPr lang="nl-NL" dirty="0"/>
              <a:t> must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unique</a:t>
            </a:r>
            <a:r>
              <a:rPr lang="nl-NL" dirty="0"/>
              <a:t> for </a:t>
            </a:r>
            <a:r>
              <a:rPr lang="nl-NL" dirty="0" err="1"/>
              <a:t>every</a:t>
            </a:r>
            <a:r>
              <a:rPr lang="nl-NL" dirty="0"/>
              <a:t> element in </a:t>
            </a:r>
            <a:r>
              <a:rPr lang="nl-NL" dirty="0" err="1"/>
              <a:t>the</a:t>
            </a:r>
            <a:r>
              <a:rPr lang="nl-NL" dirty="0"/>
              <a:t> list =&gt; </a:t>
            </a:r>
            <a:r>
              <a:rPr lang="nl-NL" dirty="0" err="1"/>
              <a:t>title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course</a:t>
            </a:r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271948E-0737-9EFB-B46F-25D70880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71"/>
          <a:stretch/>
        </p:blipFill>
        <p:spPr>
          <a:xfrm>
            <a:off x="930493" y="1949571"/>
            <a:ext cx="7583779" cy="169018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11ABCDB2-2A88-56FE-E54E-B9DE36CDC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93" y="4709758"/>
            <a:ext cx="8163047" cy="103893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64948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F7D61-BC65-BCC6-6F87-AF22A63B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 </a:t>
            </a:r>
            <a:r>
              <a:rPr lang="nl-NL" dirty="0" err="1"/>
              <a:t>instances</a:t>
            </a:r>
            <a:r>
              <a:rPr lang="nl-NL" dirty="0"/>
              <a:t> are independent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70A4F64-9D3A-00C1-C939-17D712765CD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853A7B4-F020-ADDF-837E-100ABCD274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/>
              <a:t>Every course component </a:t>
            </a:r>
            <a:r>
              <a:rPr lang="nl-NL" dirty="0" err="1"/>
              <a:t>created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map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independently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others</a:t>
            </a:r>
            <a:endParaRPr lang="nl-NL" dirty="0"/>
          </a:p>
          <a:p>
            <a:endParaRPr lang="nl-NL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nl-NL" dirty="0" err="1"/>
              <a:t>Suppose</a:t>
            </a:r>
            <a:r>
              <a:rPr lang="nl-NL" dirty="0"/>
              <a:t> a click event is </a:t>
            </a:r>
            <a:r>
              <a:rPr lang="nl-NL" dirty="0" err="1"/>
              <a:t>added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courses component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nl-NL" dirty="0" err="1"/>
              <a:t>Clicking</a:t>
            </a:r>
            <a:r>
              <a:rPr lang="nl-NL" dirty="0"/>
              <a:t> Web development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influence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Web development component,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instances</a:t>
            </a:r>
            <a:endParaRPr lang="nl-NL" dirty="0"/>
          </a:p>
          <a:p>
            <a:pPr marL="342900" indent="-342900">
              <a:buFont typeface="Symbol" panose="05050102010706020507" pitchFamily="18" charset="2"/>
              <a:buChar char="Þ"/>
            </a:pPr>
            <a:endParaRPr lang="nl-NL" dirty="0"/>
          </a:p>
          <a:p>
            <a:pPr marL="342900" indent="-342900">
              <a:buFont typeface="Symbol" panose="05050102010706020507" pitchFamily="18" charset="2"/>
              <a:buChar char="Þ"/>
            </a:pPr>
            <a:endParaRPr lang="nl-NL" dirty="0"/>
          </a:p>
          <a:p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shared logic but </a:t>
            </a:r>
            <a:r>
              <a:rPr lang="nl-NL" dirty="0" err="1"/>
              <a:t>once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an app, </a:t>
            </a:r>
            <a:r>
              <a:rPr lang="nl-NL" dirty="0" err="1"/>
              <a:t>they</a:t>
            </a:r>
            <a:r>
              <a:rPr lang="nl-NL" dirty="0"/>
              <a:t> are independent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19495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581B02-6793-8CB3-6079-563893AC9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Keep </a:t>
            </a:r>
            <a:r>
              <a:rPr lang="nl-NL" dirty="0" err="1"/>
              <a:t>components</a:t>
            </a:r>
            <a:r>
              <a:rPr lang="nl-NL" dirty="0"/>
              <a:t> pure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DAE6F9C-620D-9357-9057-7E746D25747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D147B78-31BC-D6E3-D091-0590F4A43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7" y="1420431"/>
            <a:ext cx="5418333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JS </a:t>
            </a:r>
            <a:r>
              <a:rPr lang="nl-NL" dirty="0" err="1"/>
              <a:t>function</a:t>
            </a:r>
            <a:r>
              <a:rPr lang="nl-NL" dirty="0"/>
              <a:t> is pure </a:t>
            </a:r>
            <a:r>
              <a:rPr lang="nl-NL" dirty="0" err="1"/>
              <a:t>if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minds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own</a:t>
            </a:r>
            <a:r>
              <a:rPr lang="nl-NL" dirty="0"/>
              <a:t> business</a:t>
            </a:r>
          </a:p>
          <a:p>
            <a:pPr marL="702900" lvl="1" indent="-342900"/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 =&gt;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outputs</a:t>
            </a:r>
            <a:endParaRPr lang="nl-NL" dirty="0"/>
          </a:p>
          <a:p>
            <a:pPr marL="702900" lvl="1" indent="-342900"/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pure component </a:t>
            </a:r>
            <a:r>
              <a:rPr lang="nl-NL" dirty="0" err="1"/>
              <a:t>function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 =&gt; return </a:t>
            </a:r>
            <a:r>
              <a:rPr lang="nl-NL" dirty="0" err="1"/>
              <a:t>same</a:t>
            </a:r>
            <a:r>
              <a:rPr lang="nl-NL" dirty="0"/>
              <a:t> JSX</a:t>
            </a:r>
            <a:endParaRPr lang="nl-BE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A0778DE6-D830-CD27-5E0C-699C1BDBA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43" y="4010882"/>
            <a:ext cx="8983329" cy="2457793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3194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7DA0-7437-C56D-779C-A1BF283E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A765B-45A6-DA65-90CE-DA082ED2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Keep </a:t>
            </a:r>
            <a:r>
              <a:rPr lang="nl-NL" dirty="0" err="1"/>
              <a:t>components</a:t>
            </a:r>
            <a:r>
              <a:rPr lang="nl-NL" dirty="0"/>
              <a:t> pure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1A64DA6-FD8B-A5A5-84F5-3CF6E3DDF39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8BBACA8-3AFA-9790-6BBB-9181442FAFF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21085" y="1420431"/>
            <a:ext cx="6145317" cy="4716463"/>
          </a:xfrm>
        </p:spPr>
        <p:txBody>
          <a:bodyPr/>
          <a:lstStyle/>
          <a:p>
            <a:r>
              <a:rPr lang="nl-NL" dirty="0"/>
              <a:t>drinkers = {2}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 err="1"/>
              <a:t>always</a:t>
            </a:r>
            <a:r>
              <a:rPr lang="nl-NL" dirty="0"/>
              <a:t> 2 cups of water, …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no new </a:t>
            </a:r>
            <a:r>
              <a:rPr lang="nl-NL" dirty="0" err="1"/>
              <a:t>elements</a:t>
            </a:r>
            <a:r>
              <a:rPr lang="nl-NL" dirty="0"/>
              <a:t> are </a:t>
            </a:r>
            <a:r>
              <a:rPr lang="nl-NL" dirty="0" err="1"/>
              <a:t>added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component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78047791-66D8-5644-69BC-3236B5C25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98" y="1587470"/>
            <a:ext cx="3571196" cy="714239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A354B1D6-1715-D3D8-7FD0-D7C990C5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8" y="2833327"/>
            <a:ext cx="4550356" cy="1272142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20ADF2F1-3F22-0314-B0DD-204B23D1F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473" y="3702097"/>
            <a:ext cx="4725059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92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08936-97E3-3434-6374-D7077A02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Unpure</a:t>
            </a:r>
            <a:r>
              <a:rPr lang="nl-NL" dirty="0"/>
              <a:t>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3E469FD-F9DC-FF0D-0298-ECF6BA23B17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29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A24C81-4DE5-3027-DD43-3F34930F673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018244" y="250826"/>
            <a:ext cx="5657818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external</a:t>
            </a:r>
            <a:r>
              <a:rPr lang="nl-NL" dirty="0"/>
              <a:t>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guest</a:t>
            </a:r>
            <a:r>
              <a:rPr lang="nl-NL" dirty="0"/>
              <a:t> is </a:t>
            </a:r>
            <a:r>
              <a:rPr lang="nl-NL" dirty="0" err="1"/>
              <a:t>changed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component Cup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calling</a:t>
            </a:r>
            <a:r>
              <a:rPr lang="nl-NL" dirty="0"/>
              <a:t> cup multiple </a:t>
            </a:r>
            <a:r>
              <a:rPr lang="nl-NL" dirty="0" err="1"/>
              <a:t>times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in different output </a:t>
            </a:r>
            <a:r>
              <a:rPr lang="nl-NL" dirty="0" err="1"/>
              <a:t>each</a:t>
            </a:r>
            <a:r>
              <a:rPr lang="nl-NL" dirty="0"/>
              <a:t> time!!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</a:t>
            </a:r>
            <a:r>
              <a:rPr lang="nl-NL" dirty="0"/>
              <a:t> prop </a:t>
            </a:r>
            <a:r>
              <a:rPr lang="nl-NL" dirty="0" err="1"/>
              <a:t>to</a:t>
            </a:r>
            <a:r>
              <a:rPr lang="nl-NL" dirty="0"/>
              <a:t> make </a:t>
            </a:r>
            <a:r>
              <a:rPr lang="nl-NL" dirty="0" err="1"/>
              <a:t>it</a:t>
            </a:r>
            <a:r>
              <a:rPr lang="nl-NL" dirty="0"/>
              <a:t> pure: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ED16FE1-95A8-4B07-F7DD-111F433A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07" y="1324384"/>
            <a:ext cx="5366739" cy="532524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2F81146-AA26-3410-B78A-BF8AA861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16" y="2651104"/>
            <a:ext cx="5008766" cy="4094570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2254283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5A7012BE-9589-4181-8E21-5EFD083870AD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AE080CEF-1B6E-4E11-BAC8-2E049189D1E6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369468EE-B720-4B8E-8A3B-E594BE133E2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customXml/itemProps3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TM-PPT-sjabloon_2023-03-10_ENG</Template>
  <TotalTime>5308</TotalTime>
  <Words>1197</Words>
  <Application>Microsoft Office PowerPoint</Application>
  <PresentationFormat>Breedbeeld</PresentationFormat>
  <Paragraphs>258</Paragraphs>
  <Slides>29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29</vt:i4>
      </vt:variant>
    </vt:vector>
  </HeadingPairs>
  <TitlesOfParts>
    <vt:vector size="38" baseType="lpstr">
      <vt:lpstr>Arial</vt:lpstr>
      <vt:lpstr>Calibri</vt:lpstr>
      <vt:lpstr>Century Gothic</vt:lpstr>
      <vt:lpstr>Symbol</vt:lpstr>
      <vt:lpstr>Verdana</vt:lpstr>
      <vt:lpstr>Wingdings</vt:lpstr>
      <vt:lpstr>WIT</vt:lpstr>
      <vt:lpstr>ORANJE</vt:lpstr>
      <vt:lpstr>BLAUW</vt:lpstr>
      <vt:lpstr>Dynamic content</vt:lpstr>
      <vt:lpstr>Dynamic content</vt:lpstr>
      <vt:lpstr>Dynamic attributes</vt:lpstr>
      <vt:lpstr>Dynamic attributes =&gt; import images</vt:lpstr>
      <vt:lpstr>Where to store images?</vt:lpstr>
      <vt:lpstr>Javascript Objects (key:value)</vt:lpstr>
      <vt:lpstr>Dynamic content functions and objects</vt:lpstr>
      <vt:lpstr>Dynamic content functions and objects</vt:lpstr>
      <vt:lpstr>props</vt:lpstr>
      <vt:lpstr>Reusable components with input data</vt:lpstr>
      <vt:lpstr>Call component with props</vt:lpstr>
      <vt:lpstr>Use props inside component</vt:lpstr>
      <vt:lpstr>Solve VS code error</vt:lpstr>
      <vt:lpstr>Props accept all value types</vt:lpstr>
      <vt:lpstr>            Pass object </vt:lpstr>
      <vt:lpstr>Using JS Object Destructuring</vt:lpstr>
      <vt:lpstr>Object Destructuring nested objects</vt:lpstr>
      <vt:lpstr>Special children prop</vt:lpstr>
      <vt:lpstr>Forwarding props to wrapped elements</vt:lpstr>
      <vt:lpstr>Setting HTML element through props</vt:lpstr>
      <vt:lpstr>Arrow functions</vt:lpstr>
      <vt:lpstr>Convert list data to component array</vt:lpstr>
      <vt:lpstr>Outputting list data dynmically</vt:lpstr>
      <vt:lpstr>Outputting list data dynmically</vt:lpstr>
      <vt:lpstr>Key prop needed for array elements</vt:lpstr>
      <vt:lpstr>component instances are independent</vt:lpstr>
      <vt:lpstr>Keep components pure</vt:lpstr>
      <vt:lpstr>Keep components pure</vt:lpstr>
      <vt:lpstr>Unpure component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Beerens</dc:creator>
  <cp:lastModifiedBy>Sofie Beerens</cp:lastModifiedBy>
  <cp:revision>92</cp:revision>
  <cp:lastPrinted>2023-01-03T10:29:33Z</cp:lastPrinted>
  <dcterms:created xsi:type="dcterms:W3CDTF">2024-12-13T11:53:24Z</dcterms:created>
  <dcterms:modified xsi:type="dcterms:W3CDTF">2025-03-13T14:07:55Z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2023-03-10T10:43:24Z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432aaed0-9091-4564-aed9-c4e68b86c6a4</vt:lpwstr>
  </property>
  <property fmtid="{D5CDD505-2E9C-101B-9397-08002B2CF9AE}" pid="10" name="MSIP_Label_c337be75-dfbb-4261-9834-ac247c7dde13_ContentBits">
    <vt:lpwstr>0</vt:lpwstr>
  </property>
</Properties>
</file>