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8"/>
  </p:notesMasterIdLst>
  <p:handoutMasterIdLst>
    <p:handoutMasterId r:id="rId29"/>
  </p:handoutMasterIdLst>
  <p:sldIdLst>
    <p:sldId id="543" r:id="rId7"/>
    <p:sldId id="546" r:id="rId8"/>
    <p:sldId id="545" r:id="rId9"/>
    <p:sldId id="547" r:id="rId10"/>
    <p:sldId id="564" r:id="rId11"/>
    <p:sldId id="548" r:id="rId12"/>
    <p:sldId id="549" r:id="rId13"/>
    <p:sldId id="550" r:id="rId14"/>
    <p:sldId id="551" r:id="rId15"/>
    <p:sldId id="552" r:id="rId16"/>
    <p:sldId id="553" r:id="rId17"/>
    <p:sldId id="554" r:id="rId18"/>
    <p:sldId id="555" r:id="rId19"/>
    <p:sldId id="563" r:id="rId20"/>
    <p:sldId id="557" r:id="rId21"/>
    <p:sldId id="556" r:id="rId22"/>
    <p:sldId id="558" r:id="rId23"/>
    <p:sldId id="559" r:id="rId24"/>
    <p:sldId id="560" r:id="rId25"/>
    <p:sldId id="561" r:id="rId26"/>
    <p:sldId id="562" r:id="rId27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619"/>
    <a:srgbClr val="000A1E"/>
    <a:srgbClr val="000000"/>
    <a:srgbClr val="00283C"/>
    <a:srgbClr val="FA6432"/>
    <a:srgbClr val="DEE1E4"/>
    <a:srgbClr val="E8EBEE"/>
    <a:srgbClr val="F2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59"/>
  </p:normalViewPr>
  <p:slideViewPr>
    <p:cSldViewPr snapToGrid="0">
      <p:cViewPr varScale="1">
        <p:scale>
          <a:sx n="105" d="100"/>
          <a:sy n="105" d="100"/>
        </p:scale>
        <p:origin x="132" y="2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03/27/2025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03/27/2025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C58E10-9200-4F75-9549-CABC36F22A04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61540E-37AB-D5CA-06CD-8CA08C09F30B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6649CC2-58DD-A6AB-995D-D28DDA10F0E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23B5800-D547-14D0-C885-BC839820B83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769BCF-6B41-B8EA-1497-FA16C74DDD8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95F28ED-AE7C-37C4-6B6A-EB1BA8B32F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7AC3A06-E3D7-703D-2240-66AC8B8EAF4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CD2EA5-C77E-1DE8-B784-AFCAEC26033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5643DD-A295-5E93-79DC-FE2833C7264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26B9DDC-A060-AF2A-880D-799C17A3712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2F84484-ACBC-1C81-4F94-5CDA1A9C061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B547A9-6DD8-9683-8350-5C89DD95D975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7CBC2-4C73-7900-1669-9A28BCDDA5C7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3C43FDF-6E5C-23CB-C84B-69CFBD5FAF5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1D3473-7EB4-C2B8-D216-47B0D4FC135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BF4F9E-B9E0-E3B0-6DFC-2A2EF1E5413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C16924DF-87D9-3A78-3AC7-B29C141DAF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3C7DE0-A707-1555-E9BC-26C6B92416F9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E26B1B9-F304-1942-97C9-9CAEE42D6038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62E5C0E-71C1-4937-D2A0-614B42AA2AC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5256B-AABF-C1FF-7484-49832FF05C6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BA4F45-5FD7-A1E2-AACA-1F54A63493A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CD33336-3D8D-022A-E63C-986C7F046AE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AE9486-45F7-A00D-5927-E77D0EE4949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26782D-59DA-C846-BF4A-BE26FD69D3DD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E49756-2944-B689-5C93-F1F2DFCDB45F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CD78EF-541A-2BBB-0B28-03F174465CA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BA7C5FD-D0DC-C6E1-1863-81E921C3B05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F7ADA07-595F-813E-E656-4334F6AF270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4DEE43-D307-DFC4-FDEA-B3D380095C1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735E34E-9DF8-5AE9-FB61-2FA0F2625A7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33A227-D886-E123-3CBB-0B044424F63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AF3839E-B179-B34C-37D4-827A2DA62AD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CB7AE3-C1EC-C72E-EC20-593BC07D692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428FE4E-8A8A-1E7C-761E-EB7941E14D2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4EEE9E1-1793-E0E0-A058-6959A2414F6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B1D97B-C02C-9FEE-263F-06619DF1490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54191-0ECD-9AC8-82BD-EA7F5D0CDE88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A3E31F2-CAAE-4D04-35F1-67035EB040CF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6B2F9C1-4A2C-9217-CD70-19B3DB1A38F5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7B0353E-6E30-7855-F8CD-74694ED738F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041D2E-8DD4-22BC-DE36-E40A2F8FBCA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D2C795E-C9EC-72A0-2B80-81EB152E94A7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99E033-C315-426E-2B6D-52FA2032383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4AFBB5A-33FB-9524-5163-E11202404D2F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45A8EB69-421E-0FA3-3D30-E7C9A039BDD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D406C-3AB0-5F8C-B79E-B3BDB29B4170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C72ADAE-5A19-65CD-1C39-33056943F06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E1EFEE-D708-1D50-72BA-5D23EAB8788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F0E477F-404D-4A7E-D96D-AD5F43187C5E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FBC0559-26D9-5DF7-3896-3751A065801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822F08-787C-D402-7CB0-2DBCEEFCA96C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6DAD9BC-155A-76EA-E50B-F08948E92B7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FD007AA-A637-C086-8A7F-6DAADCB1488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91087C3-FF38-5144-619A-D2C24D5060E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AEDF7A-016A-BBA4-6B79-99D771185C5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5422A5C-506A-E3C6-99E5-A56CF5CC5829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8B0DADC-0BA9-D34A-EADA-0F8581BC3A3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945392B-DC74-07AC-F46D-C97255BA1352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340B1-AF7E-BA14-5B2C-298C07BBE6F3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1ECDB4-5502-8798-B39A-CA12F88685E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C98289-A779-7202-EE3D-17CA002EAA7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95148D7-2DEE-E33C-A3BB-480397489D10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EA26B-468C-A3E0-D2F0-00263630018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72E8BC3-9F71-6054-71E1-9359DB51978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4FC8B2C-1927-714D-A112-ACDB60C0D792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4ADCA36-3409-4CE4-BE24-E2950290A63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E0EF85-E9C2-1E47-7D9D-7481B72C370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83CD9E5-989E-5324-5F29-26D97B0664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A7F0918-B715-D7FA-5F7F-2D27725D816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8B9CAF-E0DD-0B2A-1B7A-49F7A8CE28A3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5771A-4855-C4DF-F3E1-6B60957D479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32C11C-FC33-A2A4-9F9C-A4F7644661F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C7F57F1-BFFC-8DF9-F999-3970D6D06B27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315B1F8-B3CB-9766-E622-4D638B82A26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02043F8A-F25A-B2D8-9041-A6D8752A3A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231F66-1E81-776C-BB29-A6B1D64A74D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7BFFD71-E67E-8702-21E5-134FDBAABD5A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495D389-8CDE-5F31-504F-B3C7A617FCD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647C8BF-AFD9-E008-9EE7-AB6E7F889F3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DC87EB1-3842-16D6-F58F-ECB76E173B0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7B21A1-0E57-4541-5215-E9323C8F727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7054DBD-AFF8-2156-FA0F-6560F2AC5E9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2B912A6-81AF-53E5-19C5-CF48B7AD18A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DFAD59-AD7C-DC7A-99BA-42B8124CBABB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F3B43A-16B2-9FFD-7BF9-28583D80960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5DE3DD6-1B79-FCD1-23E2-461E0EEC24B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00E5F7-B3AB-EF16-CFE7-FCC369ED1D7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FDEE70D-4147-73A1-F2C3-1CCED1CEA32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27 maart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jpe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input fields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A34876-2D69-B57F-8712-905EF30C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controlled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uncontroled</a:t>
            </a:r>
            <a:r>
              <a:rPr lang="nl-NL" dirty="0"/>
              <a:t> </a:t>
            </a:r>
            <a:r>
              <a:rPr lang="nl-NL" dirty="0" err="1"/>
              <a:t>components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4D27A17-CF90-4995-1F07-5EED1508FB7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D7BCB9E-2EE6-A3B3-E126-B877611251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ctr"/>
            <a:r>
              <a:rPr lang="nl-NL" b="1" dirty="0" err="1"/>
              <a:t>controlled</a:t>
            </a:r>
            <a:endParaRPr lang="nl-NL" b="1" dirty="0"/>
          </a:p>
          <a:p>
            <a:pPr algn="ctr"/>
            <a:r>
              <a:rPr lang="nl-NL" dirty="0"/>
              <a:t>	</a:t>
            </a:r>
            <a:endParaRPr lang="nl-BE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BE" dirty="0"/>
              <a:t>state </a:t>
            </a:r>
            <a:r>
              <a:rPr lang="nl-BE" dirty="0" err="1"/>
              <a:t>managed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React:</a:t>
            </a:r>
            <a:br>
              <a:rPr lang="nl-BE" dirty="0"/>
            </a:br>
            <a:r>
              <a:rPr lang="nl-BE" dirty="0"/>
              <a:t>state is </a:t>
            </a:r>
            <a:r>
              <a:rPr lang="nl-BE" dirty="0" err="1"/>
              <a:t>stored</a:t>
            </a:r>
            <a:r>
              <a:rPr lang="nl-BE" dirty="0"/>
              <a:t> in </a:t>
            </a:r>
            <a:r>
              <a:rPr lang="nl-BE" dirty="0" err="1"/>
              <a:t>React’s</a:t>
            </a:r>
            <a:r>
              <a:rPr lang="nl-BE" dirty="0"/>
              <a:t> memory and </a:t>
            </a:r>
            <a:r>
              <a:rPr lang="nl-BE" dirty="0" err="1"/>
              <a:t>updated</a:t>
            </a:r>
            <a:r>
              <a:rPr lang="nl-BE" dirty="0"/>
              <a:t> </a:t>
            </a:r>
            <a:r>
              <a:rPr lang="nl-BE" dirty="0" err="1"/>
              <a:t>through</a:t>
            </a:r>
            <a:r>
              <a:rPr lang="nl-BE" dirty="0"/>
              <a:t> </a:t>
            </a:r>
            <a:r>
              <a:rPr lang="nl-BE" dirty="0" err="1"/>
              <a:t>props</a:t>
            </a:r>
            <a:endParaRPr lang="nl-BE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BE" dirty="0"/>
              <a:t>state change =&gt; </a:t>
            </a:r>
            <a:r>
              <a:rPr lang="nl-BE" dirty="0" err="1"/>
              <a:t>component’s</a:t>
            </a:r>
            <a:r>
              <a:rPr lang="nl-BE" dirty="0"/>
              <a:t> UI update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eventhandlers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update state and trigger re-</a:t>
            </a:r>
            <a:r>
              <a:rPr lang="nl-NL" dirty="0" err="1"/>
              <a:t>rendering</a:t>
            </a:r>
            <a:endParaRPr lang="nl-NL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NL" dirty="0" err="1"/>
              <a:t>predictable</a:t>
            </a:r>
            <a:r>
              <a:rPr lang="nl-NL" dirty="0"/>
              <a:t> and </a:t>
            </a:r>
            <a:r>
              <a:rPr lang="nl-NL" dirty="0" err="1"/>
              <a:t>centralized</a:t>
            </a:r>
            <a:r>
              <a:rPr lang="nl-NL" dirty="0"/>
              <a:t> state management, easy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manipulate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3F8E870-7DED-44A9-10AD-DE39B05F225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ctr"/>
            <a:r>
              <a:rPr lang="nl-NL" b="1" dirty="0" err="1"/>
              <a:t>uncontrolled</a:t>
            </a:r>
            <a:endParaRPr lang="nl-NL" b="1" dirty="0"/>
          </a:p>
          <a:p>
            <a:pPr algn="ctr"/>
            <a:r>
              <a:rPr lang="nl-NL" dirty="0"/>
              <a:t>	</a:t>
            </a:r>
            <a:endParaRPr lang="nl-BE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BE" dirty="0"/>
              <a:t>state </a:t>
            </a:r>
            <a:r>
              <a:rPr lang="nl-BE" dirty="0" err="1"/>
              <a:t>managed</a:t>
            </a:r>
            <a:r>
              <a:rPr lang="nl-BE" dirty="0"/>
              <a:t> </a:t>
            </a:r>
            <a:r>
              <a:rPr lang="nl-BE" dirty="0" err="1"/>
              <a:t>inside</a:t>
            </a:r>
            <a:r>
              <a:rPr lang="nl-BE" dirty="0"/>
              <a:t> component, </a:t>
            </a:r>
            <a:r>
              <a:rPr lang="nl-BE" dirty="0" err="1"/>
              <a:t>directly</a:t>
            </a:r>
            <a:r>
              <a:rPr lang="nl-BE" dirty="0"/>
              <a:t> </a:t>
            </a:r>
            <a:r>
              <a:rPr lang="nl-BE" dirty="0" err="1"/>
              <a:t>interacting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DOM</a:t>
            </a:r>
            <a:br>
              <a:rPr lang="nl-BE" dirty="0"/>
            </a:br>
            <a:endParaRPr lang="nl-BE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BE" dirty="0" err="1"/>
              <a:t>syncing</a:t>
            </a:r>
            <a:r>
              <a:rPr lang="nl-BE" dirty="0"/>
              <a:t> state and UI is </a:t>
            </a:r>
            <a:r>
              <a:rPr lang="nl-BE" dirty="0" err="1"/>
              <a:t>done</a:t>
            </a:r>
            <a:r>
              <a:rPr lang="nl-BE" dirty="0"/>
              <a:t> without React </a:t>
            </a:r>
            <a:r>
              <a:rPr lang="nl-BE" dirty="0" err="1"/>
              <a:t>intervention</a:t>
            </a:r>
            <a:endParaRPr lang="nl-BE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BE" dirty="0"/>
              <a:t>direct </a:t>
            </a:r>
            <a:r>
              <a:rPr lang="nl-BE" dirty="0" err="1"/>
              <a:t>interaction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DOM </a:t>
            </a:r>
            <a:r>
              <a:rPr lang="nl-BE" dirty="0" err="1"/>
              <a:t>to</a:t>
            </a:r>
            <a:r>
              <a:rPr lang="nl-BE" dirty="0"/>
              <a:t> access and update state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nl-BE" dirty="0" err="1"/>
              <a:t>can</a:t>
            </a:r>
            <a:r>
              <a:rPr lang="nl-BE" dirty="0"/>
              <a:t> lead </a:t>
            </a:r>
            <a:r>
              <a:rPr lang="nl-BE" dirty="0" err="1"/>
              <a:t>to</a:t>
            </a:r>
            <a:r>
              <a:rPr lang="nl-BE" dirty="0"/>
              <a:t> more </a:t>
            </a:r>
            <a:r>
              <a:rPr lang="nl-BE" dirty="0" err="1"/>
              <a:t>efficient</a:t>
            </a:r>
            <a:r>
              <a:rPr lang="nl-BE" dirty="0"/>
              <a:t> updates for large or complex </a:t>
            </a:r>
            <a:r>
              <a:rPr lang="nl-BE" dirty="0" err="1"/>
              <a:t>components</a:t>
            </a: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6684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51DF-E480-C79F-3E2F-CE454BBF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74B8D0A-7891-669C-8C81-C15637BF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controlled</a:t>
            </a:r>
            <a:r>
              <a:rPr lang="nl-NL" dirty="0"/>
              <a:t> input fields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EB204C9-8619-6A9D-7AF5-A5AD8E6F836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6097BCB-7667-3C20-BE45-D0F79FF8DD7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/</a:t>
            </a:r>
            <a:r>
              <a:rPr lang="nl-NL" dirty="0" err="1"/>
              <a:t>checked</a:t>
            </a:r>
            <a:r>
              <a:rPr lang="nl-NL" dirty="0"/>
              <a:t> property </a:t>
            </a:r>
            <a:r>
              <a:rPr lang="nl-NL" dirty="0" err="1"/>
              <a:t>to</a:t>
            </a:r>
            <a:r>
              <a:rPr lang="nl-NL" dirty="0"/>
              <a:t> control UI of input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connect</a:t>
            </a:r>
            <a:r>
              <a:rPr lang="nl-NL" dirty="0"/>
              <a:t> input field </a:t>
            </a:r>
            <a:r>
              <a:rPr lang="nl-NL" dirty="0" err="1"/>
              <a:t>to</a:t>
            </a:r>
            <a:r>
              <a:rPr lang="nl-NL" dirty="0"/>
              <a:t> a state </a:t>
            </a:r>
            <a:r>
              <a:rPr lang="nl-NL" dirty="0" err="1"/>
              <a:t>variable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setState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change state on input field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retrieve</a:t>
            </a:r>
            <a:r>
              <a:rPr lang="nl-NL" dirty="0"/>
              <a:t>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of input field =&gt; state</a:t>
            </a:r>
            <a:endParaRPr lang="nl-BE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C07EC14-BDE5-9EF7-BA77-EBB37C24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32" y="3987006"/>
            <a:ext cx="11520000" cy="396330"/>
          </a:xfrm>
          <a:prstGeom prst="rect">
            <a:avLst/>
          </a:prstGeom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4D182B90-C570-F9B3-24F6-BC18E42D7D2D}"/>
              </a:ext>
            </a:extLst>
          </p:cNvPr>
          <p:cNvCxnSpPr>
            <a:cxnSpLocks/>
          </p:cNvCxnSpPr>
          <p:nvPr/>
        </p:nvCxnSpPr>
        <p:spPr>
          <a:xfrm flipH="1">
            <a:off x="3676261" y="4383336"/>
            <a:ext cx="933355" cy="48724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49B33709-0EFD-A65C-603C-68AB088C85AC}"/>
              </a:ext>
            </a:extLst>
          </p:cNvPr>
          <p:cNvSpPr txBox="1">
            <a:spLocks/>
          </p:cNvSpPr>
          <p:nvPr/>
        </p:nvSpPr>
        <p:spPr>
          <a:xfrm>
            <a:off x="1706942" y="4966483"/>
            <a:ext cx="2128217" cy="1081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connect value of input to state var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BAD8739C-5434-2D22-732A-72133A1B6CF5}"/>
              </a:ext>
            </a:extLst>
          </p:cNvPr>
          <p:cNvCxnSpPr>
            <a:cxnSpLocks/>
          </p:cNvCxnSpPr>
          <p:nvPr/>
        </p:nvCxnSpPr>
        <p:spPr>
          <a:xfrm flipH="1">
            <a:off x="6095999" y="4383336"/>
            <a:ext cx="780662" cy="60004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E07E6BB6-527C-9859-3417-DCCE893678CF}"/>
              </a:ext>
            </a:extLst>
          </p:cNvPr>
          <p:cNvSpPr txBox="1">
            <a:spLocks/>
          </p:cNvSpPr>
          <p:nvPr/>
        </p:nvSpPr>
        <p:spPr>
          <a:xfrm>
            <a:off x="3968991" y="4983385"/>
            <a:ext cx="3853536" cy="1081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event object contains information about change event 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5C6811DF-206A-F6DF-88F9-9C8B5AED6D7C}"/>
              </a:ext>
            </a:extLst>
          </p:cNvPr>
          <p:cNvCxnSpPr>
            <a:cxnSpLocks/>
          </p:cNvCxnSpPr>
          <p:nvPr/>
        </p:nvCxnSpPr>
        <p:spPr>
          <a:xfrm>
            <a:off x="9896963" y="4383336"/>
            <a:ext cx="0" cy="58525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B317ADD8-4114-3DDB-CF8F-7FA2F655B41F}"/>
              </a:ext>
            </a:extLst>
          </p:cNvPr>
          <p:cNvSpPr txBox="1">
            <a:spLocks/>
          </p:cNvSpPr>
          <p:nvPr/>
        </p:nvSpPr>
        <p:spPr>
          <a:xfrm>
            <a:off x="7822527" y="5046436"/>
            <a:ext cx="4274315" cy="1411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read current value of input field and store into state triggering a re-rendering with new state value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09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62E75FE-2534-48AA-AE20-86721DF3646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DD28465-D846-EDC9-D309-652A687A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2" y="168384"/>
            <a:ext cx="11122037" cy="6521231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EC5344AD-539C-8F30-4366-4EB2E0664C0A}"/>
              </a:ext>
            </a:extLst>
          </p:cNvPr>
          <p:cNvCxnSpPr>
            <a:cxnSpLocks/>
          </p:cNvCxnSpPr>
          <p:nvPr/>
        </p:nvCxnSpPr>
        <p:spPr>
          <a:xfrm flipH="1">
            <a:off x="6559420" y="636894"/>
            <a:ext cx="90507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5AD81BA-EC19-BFE0-0C1D-705FCAB5C48E}"/>
              </a:ext>
            </a:extLst>
          </p:cNvPr>
          <p:cNvSpPr txBox="1">
            <a:spLocks/>
          </p:cNvSpPr>
          <p:nvPr/>
        </p:nvSpPr>
        <p:spPr>
          <a:xfrm>
            <a:off x="7492278" y="463806"/>
            <a:ext cx="4389058" cy="44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B050"/>
                </a:solidFill>
              </a:rPr>
              <a:t>create state for input field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F9EEB9E4-770F-6B7E-9C51-0F14A034B661}"/>
              </a:ext>
            </a:extLst>
          </p:cNvPr>
          <p:cNvCxnSpPr>
            <a:cxnSpLocks/>
          </p:cNvCxnSpPr>
          <p:nvPr/>
        </p:nvCxnSpPr>
        <p:spPr>
          <a:xfrm flipH="1">
            <a:off x="4966611" y="1237163"/>
            <a:ext cx="90507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DDEDAE0E-1970-1E3B-452D-B4ACD226B7C6}"/>
              </a:ext>
            </a:extLst>
          </p:cNvPr>
          <p:cNvSpPr txBox="1">
            <a:spLocks/>
          </p:cNvSpPr>
          <p:nvPr/>
        </p:nvSpPr>
        <p:spPr>
          <a:xfrm>
            <a:off x="5946149" y="1049346"/>
            <a:ext cx="5935187" cy="44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B050"/>
                </a:solidFill>
              </a:rPr>
              <a:t>change state when input field changes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A98E9E00-B1F7-FA77-3475-5A8E8431A786}"/>
              </a:ext>
            </a:extLst>
          </p:cNvPr>
          <p:cNvCxnSpPr>
            <a:cxnSpLocks/>
          </p:cNvCxnSpPr>
          <p:nvPr/>
        </p:nvCxnSpPr>
        <p:spPr>
          <a:xfrm flipH="1" flipV="1">
            <a:off x="4588721" y="1893416"/>
            <a:ext cx="377890" cy="27128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jdelijke aanduiding voor tekst 3">
            <a:extLst>
              <a:ext uri="{FF2B5EF4-FFF2-40B4-BE49-F238E27FC236}">
                <a16:creationId xmlns:a16="http://schemas.microsoft.com/office/drawing/2014/main" id="{5FE84CBD-6542-644F-85F8-6B01396E4251}"/>
              </a:ext>
            </a:extLst>
          </p:cNvPr>
          <p:cNvSpPr txBox="1">
            <a:spLocks/>
          </p:cNvSpPr>
          <p:nvPr/>
        </p:nvSpPr>
        <p:spPr>
          <a:xfrm>
            <a:off x="4941244" y="2010397"/>
            <a:ext cx="5935187" cy="44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B050"/>
                </a:solidFill>
              </a:rPr>
              <a:t>filter courses based on state variable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5BE11E11-41A2-5174-8B87-FB3805724B36}"/>
              </a:ext>
            </a:extLst>
          </p:cNvPr>
          <p:cNvCxnSpPr>
            <a:cxnSpLocks/>
          </p:cNvCxnSpPr>
          <p:nvPr/>
        </p:nvCxnSpPr>
        <p:spPr>
          <a:xfrm flipH="1" flipV="1">
            <a:off x="5419146" y="3261297"/>
            <a:ext cx="339293" cy="34463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jdelijke aanduiding voor tekst 3">
            <a:extLst>
              <a:ext uri="{FF2B5EF4-FFF2-40B4-BE49-F238E27FC236}">
                <a16:creationId xmlns:a16="http://schemas.microsoft.com/office/drawing/2014/main" id="{F9421273-5C9C-4CD9-9CDC-345947C6D5BB}"/>
              </a:ext>
            </a:extLst>
          </p:cNvPr>
          <p:cNvSpPr txBox="1">
            <a:spLocks/>
          </p:cNvSpPr>
          <p:nvPr/>
        </p:nvSpPr>
        <p:spPr>
          <a:xfrm>
            <a:off x="5714308" y="3440813"/>
            <a:ext cx="4389058" cy="44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B050"/>
                </a:solidFill>
              </a:rPr>
              <a:t>link input field to state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B3B4828B-1960-96E2-D7BE-469BABD76A76}"/>
              </a:ext>
            </a:extLst>
          </p:cNvPr>
          <p:cNvCxnSpPr>
            <a:cxnSpLocks/>
          </p:cNvCxnSpPr>
          <p:nvPr/>
        </p:nvCxnSpPr>
        <p:spPr>
          <a:xfrm flipV="1">
            <a:off x="4588721" y="4777693"/>
            <a:ext cx="0" cy="36763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572E2CD-16C2-28DE-54C5-B7A9521E7EFD}"/>
              </a:ext>
            </a:extLst>
          </p:cNvPr>
          <p:cNvSpPr txBox="1">
            <a:spLocks/>
          </p:cNvSpPr>
          <p:nvPr/>
        </p:nvSpPr>
        <p:spPr>
          <a:xfrm>
            <a:off x="3224411" y="5201389"/>
            <a:ext cx="5935187" cy="44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B050"/>
                </a:solidFill>
              </a:rPr>
              <a:t>display filtered courses list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99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2D3A-A275-37B4-EE41-959DDD13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6593E7-00FE-04A9-B9AB-6314FA9314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38FAB0-0093-F8A5-BBA7-D38F46BF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Forms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3F3E7-6C20-5828-730D-DC9ADAF35E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Needed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more </a:t>
            </a:r>
            <a:r>
              <a:rPr lang="nl-NL" dirty="0" err="1"/>
              <a:t>inputs</a:t>
            </a:r>
            <a:r>
              <a:rPr lang="nl-NL" dirty="0"/>
              <a:t> are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threated</a:t>
            </a:r>
            <a:r>
              <a:rPr lang="nl-NL" dirty="0"/>
              <a:t> </a:t>
            </a:r>
            <a:r>
              <a:rPr lang="nl-NL" dirty="0" err="1"/>
              <a:t>together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7516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346EA-C0A8-6651-67BE-5DBB9A48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Handling </a:t>
            </a:r>
            <a:r>
              <a:rPr lang="nl-NL" dirty="0" err="1"/>
              <a:t>forms</a:t>
            </a:r>
            <a:r>
              <a:rPr lang="nl-NL" dirty="0"/>
              <a:t>: UI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BDD3EB4-059E-C3EF-9313-B377AEF6014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F4E04E1A-8E67-8867-922A-4467D4D40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5" y="1208946"/>
            <a:ext cx="8886535" cy="553672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D9CBACD6-2629-9BC3-51E8-161404A8C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064" y="129862"/>
            <a:ext cx="3673151" cy="2322380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1BAA8CC4-93E0-7E5C-525D-C648F2AA4D9C}"/>
              </a:ext>
            </a:extLst>
          </p:cNvPr>
          <p:cNvSpPr txBox="1">
            <a:spLocks/>
          </p:cNvSpPr>
          <p:nvPr/>
        </p:nvSpPr>
        <p:spPr>
          <a:xfrm>
            <a:off x="9218645" y="4227463"/>
            <a:ext cx="2789853" cy="2452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04619"/>
                </a:solidFill>
              </a:rPr>
              <a:t>‘</a:t>
            </a:r>
            <a:r>
              <a:rPr lang="en-US" b="1" dirty="0" err="1">
                <a:solidFill>
                  <a:srgbClr val="F04619"/>
                </a:solidFill>
              </a:rPr>
              <a:t>htmlFor</a:t>
            </a:r>
            <a:r>
              <a:rPr lang="en-US" b="1" dirty="0">
                <a:solidFill>
                  <a:srgbClr val="F04619"/>
                </a:solidFill>
              </a:rPr>
              <a:t>’</a:t>
            </a:r>
            <a:r>
              <a:rPr lang="en-US" dirty="0"/>
              <a:t> attribute to link label to input field instead of normal HTML attribute ‘for’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  <p:pic>
        <p:nvPicPr>
          <p:cNvPr id="14" name="Picture 2" descr="15710555 3d man met rood uitroepteken op witte achtergrond">
            <a:extLst>
              <a:ext uri="{FF2B5EF4-FFF2-40B4-BE49-F238E27FC236}">
                <a16:creationId xmlns:a16="http://schemas.microsoft.com/office/drawing/2014/main" id="{14530972-00E2-2550-119B-447DDDD20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645" y="3256142"/>
            <a:ext cx="971321" cy="97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6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4823B-00EF-45FF-D5C5-300E1E72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Form </a:t>
            </a:r>
            <a:r>
              <a:rPr lang="nl-NL" dirty="0" err="1"/>
              <a:t>submission</a:t>
            </a:r>
            <a:r>
              <a:rPr lang="nl-NL" dirty="0"/>
              <a:t> default </a:t>
            </a:r>
            <a:r>
              <a:rPr lang="nl-NL" dirty="0" err="1"/>
              <a:t>behaviour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E4B4EDA-4461-E208-BB18-EF6A2DDFB5E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A487DA2B-EC8E-93BC-09E9-13C80F088F61}"/>
              </a:ext>
            </a:extLst>
          </p:cNvPr>
          <p:cNvSpPr/>
          <p:nvPr/>
        </p:nvSpPr>
        <p:spPr>
          <a:xfrm>
            <a:off x="4931382" y="4932333"/>
            <a:ext cx="2409218" cy="800481"/>
          </a:xfrm>
          <a:prstGeom prst="roundRect">
            <a:avLst/>
          </a:prstGeom>
          <a:ln>
            <a:solidFill>
              <a:srgbClr val="000A1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React app running in browser</a:t>
            </a:r>
            <a:endParaRPr lang="nl-BE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49597737-A542-584A-341A-F28DF5585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03" y="3780007"/>
            <a:ext cx="1371791" cy="1086002"/>
          </a:xfrm>
          <a:prstGeom prst="rect">
            <a:avLst/>
          </a:prstGeom>
        </p:spPr>
      </p:pic>
      <p:sp>
        <p:nvSpPr>
          <p:cNvPr id="11" name="Rechthoek: afgeronde hoeken 10">
            <a:extLst>
              <a:ext uri="{FF2B5EF4-FFF2-40B4-BE49-F238E27FC236}">
                <a16:creationId xmlns:a16="http://schemas.microsoft.com/office/drawing/2014/main" id="{6ACA7C75-BBFD-4C2D-FE59-75D80794656D}"/>
              </a:ext>
            </a:extLst>
          </p:cNvPr>
          <p:cNvSpPr/>
          <p:nvPr/>
        </p:nvSpPr>
        <p:spPr>
          <a:xfrm>
            <a:off x="4891389" y="1838533"/>
            <a:ext cx="2409218" cy="800481"/>
          </a:xfrm>
          <a:prstGeom prst="roundRect">
            <a:avLst/>
          </a:prstGeom>
          <a:ln>
            <a:solidFill>
              <a:srgbClr val="000A1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server </a:t>
            </a:r>
            <a:r>
              <a:rPr lang="nl-NL" dirty="0" err="1"/>
              <a:t>serving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React app</a:t>
            </a:r>
            <a:endParaRPr lang="nl-BE" dirty="0"/>
          </a:p>
        </p:txBody>
      </p:sp>
      <p:sp>
        <p:nvSpPr>
          <p:cNvPr id="15" name="Pijl: draaiend 14">
            <a:extLst>
              <a:ext uri="{FF2B5EF4-FFF2-40B4-BE49-F238E27FC236}">
                <a16:creationId xmlns:a16="http://schemas.microsoft.com/office/drawing/2014/main" id="{8EA49458-5ABF-5541-DE90-35E51AF1C025}"/>
              </a:ext>
            </a:extLst>
          </p:cNvPr>
          <p:cNvSpPr/>
          <p:nvPr/>
        </p:nvSpPr>
        <p:spPr>
          <a:xfrm rot="16200000" flipV="1">
            <a:off x="5930900" y="2324100"/>
            <a:ext cx="3225800" cy="2895600"/>
          </a:xfrm>
          <a:prstGeom prst="circularArrow">
            <a:avLst>
              <a:gd name="adj1" fmla="val 2734"/>
              <a:gd name="adj2" fmla="val 1142319"/>
              <a:gd name="adj3" fmla="val 20455386"/>
              <a:gd name="adj4" fmla="val 10800000"/>
              <a:gd name="adj5" fmla="val 466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16" name="Pijl: draaiend 15">
            <a:extLst>
              <a:ext uri="{FF2B5EF4-FFF2-40B4-BE49-F238E27FC236}">
                <a16:creationId xmlns:a16="http://schemas.microsoft.com/office/drawing/2014/main" id="{4375B4F3-E534-199D-6777-5C960BC8D8FB}"/>
              </a:ext>
            </a:extLst>
          </p:cNvPr>
          <p:cNvSpPr/>
          <p:nvPr/>
        </p:nvSpPr>
        <p:spPr>
          <a:xfrm rot="16200000" flipH="1">
            <a:off x="3118891" y="2314164"/>
            <a:ext cx="3225800" cy="2895600"/>
          </a:xfrm>
          <a:prstGeom prst="circularArrow">
            <a:avLst>
              <a:gd name="adj1" fmla="val 2734"/>
              <a:gd name="adj2" fmla="val 1142319"/>
              <a:gd name="adj3" fmla="val 20455386"/>
              <a:gd name="adj4" fmla="val 10800000"/>
              <a:gd name="adj5" fmla="val 466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FAF37A38-4793-C981-3C56-762B43A4CD14}"/>
              </a:ext>
            </a:extLst>
          </p:cNvPr>
          <p:cNvSpPr txBox="1"/>
          <p:nvPr/>
        </p:nvSpPr>
        <p:spPr>
          <a:xfrm>
            <a:off x="9145170" y="3300298"/>
            <a:ext cx="2530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Browser </a:t>
            </a:r>
            <a:r>
              <a:rPr lang="nl-NL" dirty="0" err="1"/>
              <a:t>sends</a:t>
            </a:r>
            <a:r>
              <a:rPr lang="nl-NL" dirty="0"/>
              <a:t> HTTP request </a:t>
            </a:r>
            <a:r>
              <a:rPr lang="nl-NL" dirty="0" err="1"/>
              <a:t>with</a:t>
            </a:r>
            <a:r>
              <a:rPr lang="nl-NL" dirty="0"/>
              <a:t> form data </a:t>
            </a:r>
            <a:r>
              <a:rPr lang="nl-NL" dirty="0" err="1"/>
              <a:t>to</a:t>
            </a:r>
            <a:r>
              <a:rPr lang="nl-NL" dirty="0"/>
              <a:t> server</a:t>
            </a:r>
            <a:endParaRPr lang="nl-BE" dirty="0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823DD6C3-9882-0D54-E71F-13C78FE52477}"/>
              </a:ext>
            </a:extLst>
          </p:cNvPr>
          <p:cNvSpPr txBox="1"/>
          <p:nvPr/>
        </p:nvSpPr>
        <p:spPr>
          <a:xfrm>
            <a:off x="753098" y="3041343"/>
            <a:ext cx="2530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server </a:t>
            </a:r>
            <a:r>
              <a:rPr lang="nl-NL" dirty="0" err="1"/>
              <a:t>responds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resending</a:t>
            </a:r>
            <a:r>
              <a:rPr lang="nl-NL" dirty="0"/>
              <a:t> index.html file +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React files </a:t>
            </a:r>
            <a:r>
              <a:rPr lang="nl-NL" dirty="0" err="1"/>
              <a:t>causing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app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reload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browser</a:t>
            </a:r>
            <a:endParaRPr lang="nl-BE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452F574A-2A4A-6C51-3BC4-D9D0C4E4A820}"/>
              </a:ext>
            </a:extLst>
          </p:cNvPr>
          <p:cNvSpPr txBox="1"/>
          <p:nvPr/>
        </p:nvSpPr>
        <p:spPr>
          <a:xfrm>
            <a:off x="753098" y="5943978"/>
            <a:ext cx="1041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All </a:t>
            </a:r>
            <a:r>
              <a:rPr lang="nl-NL" dirty="0" err="1"/>
              <a:t>states</a:t>
            </a:r>
            <a:r>
              <a:rPr lang="nl-NL" dirty="0"/>
              <a:t>, … are lost =&gt; we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default </a:t>
            </a:r>
            <a:r>
              <a:rPr lang="nl-NL" dirty="0" err="1"/>
              <a:t>behaviour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handling </a:t>
            </a:r>
            <a:r>
              <a:rPr lang="nl-NL" dirty="0" err="1"/>
              <a:t>the</a:t>
            </a:r>
            <a:r>
              <a:rPr lang="nl-NL" dirty="0"/>
              <a:t> form </a:t>
            </a:r>
            <a:r>
              <a:rPr lang="nl-NL" dirty="0" err="1"/>
              <a:t>submission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component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544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84AE4-4743-2BF8-FFD1-EE2CDA02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form </a:t>
            </a:r>
            <a:r>
              <a:rPr lang="nl-NL" dirty="0" err="1"/>
              <a:t>onSubmit</a:t>
            </a:r>
            <a:r>
              <a:rPr lang="nl-NL" dirty="0"/>
              <a:t> event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21806A-7C86-9286-27DA-E6FAA1CF051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29811A1-092F-59EC-F5AC-69E238482DE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When</a:t>
            </a:r>
            <a:r>
              <a:rPr lang="nl-NL" dirty="0"/>
              <a:t> form is </a:t>
            </a:r>
            <a:r>
              <a:rPr lang="nl-NL" dirty="0" err="1"/>
              <a:t>submitted</a:t>
            </a:r>
            <a:r>
              <a:rPr lang="nl-NL" dirty="0"/>
              <a:t>, form triggers </a:t>
            </a:r>
            <a:r>
              <a:rPr lang="nl-NL" dirty="0" err="1"/>
              <a:t>submit</a:t>
            </a:r>
            <a:r>
              <a:rPr lang="nl-NL" dirty="0"/>
              <a:t> event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corresponding</a:t>
            </a:r>
            <a:r>
              <a:rPr lang="nl-NL" dirty="0"/>
              <a:t> event </a:t>
            </a:r>
            <a:r>
              <a:rPr lang="nl-NL" dirty="0" err="1"/>
              <a:t>listener</a:t>
            </a:r>
            <a:r>
              <a:rPr lang="nl-NL" dirty="0"/>
              <a:t> </a:t>
            </a:r>
            <a:r>
              <a:rPr lang="nl-NL" dirty="0" err="1"/>
              <a:t>onSubmit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0CAC9B5-8263-AFB8-017E-CF865DC9E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033" y="2710997"/>
            <a:ext cx="3772426" cy="101931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51445BF6-B5FE-A8BA-7553-74E1F6FF2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70" y="2710997"/>
            <a:ext cx="4182059" cy="447737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4D64EC2D-4BE0-3E33-715A-20BA1456A5A6}"/>
              </a:ext>
            </a:extLst>
          </p:cNvPr>
          <p:cNvCxnSpPr>
            <a:cxnSpLocks/>
          </p:cNvCxnSpPr>
          <p:nvPr/>
        </p:nvCxnSpPr>
        <p:spPr>
          <a:xfrm>
            <a:off x="8331200" y="3429000"/>
            <a:ext cx="0" cy="104140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1982C35A-181F-5C2E-B337-22876D3573F0}"/>
              </a:ext>
            </a:extLst>
          </p:cNvPr>
          <p:cNvSpPr txBox="1">
            <a:spLocks/>
          </p:cNvSpPr>
          <p:nvPr/>
        </p:nvSpPr>
        <p:spPr>
          <a:xfrm>
            <a:off x="5793766" y="4496983"/>
            <a:ext cx="5271631" cy="1081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prevents default submit </a:t>
            </a:r>
            <a:r>
              <a:rPr lang="en-US" dirty="0" err="1">
                <a:solidFill>
                  <a:srgbClr val="F04619"/>
                </a:solidFill>
              </a:rPr>
              <a:t>behaviour</a:t>
            </a:r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40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B5F44-DC2F-4083-95A5-E5E43B51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multiple </a:t>
            </a:r>
            <a:r>
              <a:rPr lang="nl-NL" dirty="0" err="1"/>
              <a:t>states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555C076-E2FA-BA5D-CA0F-950B8E679A8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F10D25A-B3F3-541F-D022-37AE7734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775"/>
            <a:ext cx="12192000" cy="435374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E332FCFD-9B7F-67F8-A08E-50820481A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0" y="3602352"/>
            <a:ext cx="7560000" cy="56406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BDCCF1FA-30AB-6869-01B0-BAEF1923A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100" y="4439031"/>
            <a:ext cx="7560000" cy="53722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9C3DE2D3-B294-ED36-1C08-38CFCF705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100" y="5248868"/>
            <a:ext cx="7560000" cy="584799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25E7A241-6A8A-18B5-74A1-0B093D916C7C}"/>
              </a:ext>
            </a:extLst>
          </p:cNvPr>
          <p:cNvCxnSpPr>
            <a:cxnSpLocks/>
          </p:cNvCxnSpPr>
          <p:nvPr/>
        </p:nvCxnSpPr>
        <p:spPr>
          <a:xfrm flipV="1">
            <a:off x="3098800" y="2984500"/>
            <a:ext cx="2997200" cy="30480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08F413E2-3304-F300-2C9F-B10D33B9CCFB}"/>
              </a:ext>
            </a:extLst>
          </p:cNvPr>
          <p:cNvSpPr txBox="1">
            <a:spLocks/>
          </p:cNvSpPr>
          <p:nvPr/>
        </p:nvSpPr>
        <p:spPr>
          <a:xfrm>
            <a:off x="6114766" y="2592320"/>
            <a:ext cx="5928334" cy="836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in this handler as HTTP call to a backend can be made to store data in a DB (see later)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72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33E0A-FD4F-7112-1D10-CE6EF818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04419"/>
            <a:ext cx="6339620" cy="1116012"/>
          </a:xfrm>
        </p:spPr>
        <p:txBody>
          <a:bodyPr/>
          <a:lstStyle/>
          <a:p>
            <a:r>
              <a:rPr lang="nl-NL" dirty="0" err="1"/>
              <a:t>Use</a:t>
            </a:r>
            <a:r>
              <a:rPr lang="nl-NL" dirty="0"/>
              <a:t> form </a:t>
            </a:r>
            <a:r>
              <a:rPr lang="nl-NL" dirty="0" err="1"/>
              <a:t>values</a:t>
            </a:r>
            <a:r>
              <a:rPr lang="nl-NL" dirty="0"/>
              <a:t> in preview </a:t>
            </a:r>
            <a:r>
              <a:rPr lang="nl-NL" dirty="0" err="1"/>
              <a:t>window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06F3015-BE89-59F0-C661-384BF69A8D3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B8CDA9E-1F3F-D8B5-8976-807CB62D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628" y="304419"/>
            <a:ext cx="4791744" cy="6382641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32B17510-F029-3BC0-F803-ED186F6A3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74" y="1866901"/>
            <a:ext cx="6305947" cy="249004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9" name="Pijl: draaiend 8">
            <a:extLst>
              <a:ext uri="{FF2B5EF4-FFF2-40B4-BE49-F238E27FC236}">
                <a16:creationId xmlns:a16="http://schemas.microsoft.com/office/drawing/2014/main" id="{B201237A-45ED-5323-2F57-5994049BED45}"/>
              </a:ext>
            </a:extLst>
          </p:cNvPr>
          <p:cNvSpPr/>
          <p:nvPr/>
        </p:nvSpPr>
        <p:spPr>
          <a:xfrm rot="5400000">
            <a:off x="8363074" y="2551082"/>
            <a:ext cx="3971861" cy="2603500"/>
          </a:xfrm>
          <a:prstGeom prst="circularArrow">
            <a:avLst>
              <a:gd name="adj1" fmla="val 2227"/>
              <a:gd name="adj2" fmla="val 467630"/>
              <a:gd name="adj3" fmla="val 20507419"/>
              <a:gd name="adj4" fmla="val 10800000"/>
              <a:gd name="adj5" fmla="val 466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586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FDD47-6E5B-BDC9-5AA5-B848BA3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combine </a:t>
            </a:r>
            <a:r>
              <a:rPr lang="nl-NL" dirty="0" err="1"/>
              <a:t>into</a:t>
            </a:r>
            <a:r>
              <a:rPr lang="nl-NL" dirty="0"/>
              <a:t> 1 state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6377084-772B-C1DC-DA34-9C0F64EDFA1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C556E3A-860D-0070-D99A-35E3D2A01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84" y="1543502"/>
            <a:ext cx="7754432" cy="488700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1F7A41C7-7A34-85A9-07F0-5D350E78C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6" y="5229225"/>
            <a:ext cx="9345329" cy="1019317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B2FC68BE-48FE-E7DF-49CB-5466E0513CCE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838700" y="1156090"/>
            <a:ext cx="3886200" cy="32606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7DC7B490-7B96-93AD-8DCD-7B6138328557}"/>
              </a:ext>
            </a:extLst>
          </p:cNvPr>
          <p:cNvSpPr txBox="1">
            <a:spLocks/>
          </p:cNvSpPr>
          <p:nvPr/>
        </p:nvSpPr>
        <p:spPr>
          <a:xfrm>
            <a:off x="8724900" y="737750"/>
            <a:ext cx="2845897" cy="836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course object is not </a:t>
            </a:r>
            <a:r>
              <a:rPr lang="en-US" dirty="0" err="1">
                <a:solidFill>
                  <a:srgbClr val="F04619"/>
                </a:solidFill>
              </a:rPr>
              <a:t>destructured</a:t>
            </a:r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8AACEE93-897D-4948-205B-CEDF316298F5}"/>
              </a:ext>
            </a:extLst>
          </p:cNvPr>
          <p:cNvCxnSpPr>
            <a:cxnSpLocks/>
          </p:cNvCxnSpPr>
          <p:nvPr/>
        </p:nvCxnSpPr>
        <p:spPr>
          <a:xfrm>
            <a:off x="7899400" y="2074540"/>
            <a:ext cx="8255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57B7126E-7B25-9BE3-37D3-036AAA91A0D2}"/>
              </a:ext>
            </a:extLst>
          </p:cNvPr>
          <p:cNvSpPr txBox="1">
            <a:spLocks/>
          </p:cNvSpPr>
          <p:nvPr/>
        </p:nvSpPr>
        <p:spPr>
          <a:xfrm>
            <a:off x="8707077" y="1574430"/>
            <a:ext cx="2845897" cy="836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use course object as state variable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D66659DD-8641-4B1E-5F52-4F2DC2F21FFF}"/>
              </a:ext>
            </a:extLst>
          </p:cNvPr>
          <p:cNvCxnSpPr>
            <a:cxnSpLocks/>
          </p:cNvCxnSpPr>
          <p:nvPr/>
        </p:nvCxnSpPr>
        <p:spPr>
          <a:xfrm flipH="1" flipV="1">
            <a:off x="5664200" y="4176828"/>
            <a:ext cx="2858548" cy="1706507"/>
          </a:xfrm>
          <a:prstGeom prst="straightConnector1">
            <a:avLst/>
          </a:prstGeom>
          <a:ln w="28575">
            <a:solidFill>
              <a:srgbClr val="000A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al 30">
            <a:extLst>
              <a:ext uri="{FF2B5EF4-FFF2-40B4-BE49-F238E27FC236}">
                <a16:creationId xmlns:a16="http://schemas.microsoft.com/office/drawing/2014/main" id="{1ACE51D2-6BD5-F066-D192-52C53453BEA6}"/>
              </a:ext>
            </a:extLst>
          </p:cNvPr>
          <p:cNvSpPr/>
          <p:nvPr/>
        </p:nvSpPr>
        <p:spPr>
          <a:xfrm>
            <a:off x="1866900" y="4737100"/>
            <a:ext cx="1841500" cy="47942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2" name="Tijdelijke aanduiding voor tekst 3">
            <a:extLst>
              <a:ext uri="{FF2B5EF4-FFF2-40B4-BE49-F238E27FC236}">
                <a16:creationId xmlns:a16="http://schemas.microsoft.com/office/drawing/2014/main" id="{83ABD61D-BC0C-B33C-0B59-74C6ECE6357B}"/>
              </a:ext>
            </a:extLst>
          </p:cNvPr>
          <p:cNvSpPr txBox="1">
            <a:spLocks/>
          </p:cNvSpPr>
          <p:nvPr/>
        </p:nvSpPr>
        <p:spPr>
          <a:xfrm>
            <a:off x="8724900" y="4033114"/>
            <a:ext cx="2845897" cy="836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[ ] JS syntax to use variable as key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22C9454B-8F7B-AAC3-2D9D-86D5F215E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396" y="2449304"/>
            <a:ext cx="5129320" cy="1250797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BB85B9C0-108B-1485-7287-E1BEC2F8EAA0}"/>
              </a:ext>
            </a:extLst>
          </p:cNvPr>
          <p:cNvCxnSpPr>
            <a:cxnSpLocks/>
          </p:cNvCxnSpPr>
          <p:nvPr/>
        </p:nvCxnSpPr>
        <p:spPr>
          <a:xfrm flipV="1">
            <a:off x="4737100" y="3074702"/>
            <a:ext cx="2268808" cy="250636"/>
          </a:xfrm>
          <a:prstGeom prst="straightConnector1">
            <a:avLst/>
          </a:prstGeom>
          <a:ln w="28575">
            <a:solidFill>
              <a:srgbClr val="000A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jdelijke aanduiding voor tekst 3">
            <a:extLst>
              <a:ext uri="{FF2B5EF4-FFF2-40B4-BE49-F238E27FC236}">
                <a16:creationId xmlns:a16="http://schemas.microsoft.com/office/drawing/2014/main" id="{6063818A-5814-6FDE-B481-22D2E330FC7A}"/>
              </a:ext>
            </a:extLst>
          </p:cNvPr>
          <p:cNvSpPr txBox="1">
            <a:spLocks/>
          </p:cNvSpPr>
          <p:nvPr/>
        </p:nvSpPr>
        <p:spPr>
          <a:xfrm>
            <a:off x="2361391" y="6430509"/>
            <a:ext cx="9464166" cy="416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arrow function to pass identifier, but then arrow function gets event object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44" name="Rechte verbindingslijn met pijl 43">
            <a:extLst>
              <a:ext uri="{FF2B5EF4-FFF2-40B4-BE49-F238E27FC236}">
                <a16:creationId xmlns:a16="http://schemas.microsoft.com/office/drawing/2014/main" id="{C327B7A3-B336-DB74-61A4-87D95DB15A9F}"/>
              </a:ext>
            </a:extLst>
          </p:cNvPr>
          <p:cNvCxnSpPr>
            <a:cxnSpLocks/>
          </p:cNvCxnSpPr>
          <p:nvPr/>
        </p:nvCxnSpPr>
        <p:spPr>
          <a:xfrm>
            <a:off x="5676900" y="6154962"/>
            <a:ext cx="0" cy="31371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36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 animBg="1"/>
      <p:bldP spid="32" grpId="0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7A8E1-8F38-E0FB-4407-2E10631A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</a:t>
            </a:r>
            <a:r>
              <a:rPr lang="nl-NL" dirty="0" err="1"/>
              <a:t>formData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A9BE6E9-F01E-A4DF-8D50-BFABEE7A20C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AE79600-A553-DCE1-356B-5822715F97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4271464" cy="4716463"/>
          </a:xfrm>
        </p:spPr>
        <p:txBody>
          <a:bodyPr/>
          <a:lstStyle/>
          <a:p>
            <a:r>
              <a:rPr lang="nl-NL" dirty="0"/>
              <a:t>Too </a:t>
            </a:r>
            <a:r>
              <a:rPr lang="nl-NL" dirty="0" err="1"/>
              <a:t>many</a:t>
            </a:r>
            <a:r>
              <a:rPr lang="nl-NL" dirty="0"/>
              <a:t> separate </a:t>
            </a:r>
            <a:r>
              <a:rPr lang="nl-NL" dirty="0" err="1"/>
              <a:t>inputs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handle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onChange</a:t>
            </a:r>
            <a:r>
              <a:rPr lang="nl-NL" dirty="0"/>
              <a:t>!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F610E80-0FCC-9FD6-CE05-A01081CE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200" y="112326"/>
            <a:ext cx="7163800" cy="653506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D06891FA-D144-4598-09AD-5872101D7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9" y="2599513"/>
            <a:ext cx="4978900" cy="3173365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733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6BD84-477E-F8B7-A229-C8C26C97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</a:t>
            </a:r>
            <a:r>
              <a:rPr lang="nl-NL" dirty="0" err="1"/>
              <a:t>formData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A48C06E-62A9-892E-04A8-D83B325AD1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9BEFCEA-3186-C70C-272C-4C50C7B7B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7" y="1640891"/>
            <a:ext cx="7858754" cy="317340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ADF796A4-E580-B1E7-C409-5B4ADA512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89" y="5867361"/>
            <a:ext cx="9478698" cy="35247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32DE688A-3023-2D70-27F9-08AB517E0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443" y="3609743"/>
            <a:ext cx="5122840" cy="1760621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40DF7B2D-1970-64B9-030A-12964D4CFB6E}"/>
              </a:ext>
            </a:extLst>
          </p:cNvPr>
          <p:cNvSpPr txBox="1">
            <a:spLocks/>
          </p:cNvSpPr>
          <p:nvPr/>
        </p:nvSpPr>
        <p:spPr>
          <a:xfrm>
            <a:off x="984565" y="5008129"/>
            <a:ext cx="6077278" cy="6282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Creates new </a:t>
            </a:r>
            <a:r>
              <a:rPr lang="en-US" dirty="0" err="1"/>
              <a:t>FormData</a:t>
            </a:r>
            <a:r>
              <a:rPr lang="en-US" dirty="0"/>
              <a:t> object holding all data from form fields that have name attribute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Pijl: draaiend 16">
            <a:extLst>
              <a:ext uri="{FF2B5EF4-FFF2-40B4-BE49-F238E27FC236}">
                <a16:creationId xmlns:a16="http://schemas.microsoft.com/office/drawing/2014/main" id="{9D889DE6-1D6B-A5EC-B930-7BB9097E551F}"/>
              </a:ext>
            </a:extLst>
          </p:cNvPr>
          <p:cNvSpPr/>
          <p:nvPr/>
        </p:nvSpPr>
        <p:spPr>
          <a:xfrm rot="16200000" flipH="1">
            <a:off x="55844" y="3535646"/>
            <a:ext cx="1930405" cy="1717113"/>
          </a:xfrm>
          <a:prstGeom prst="circularArrow">
            <a:avLst>
              <a:gd name="adj1" fmla="val 2227"/>
              <a:gd name="adj2" fmla="val 467630"/>
              <a:gd name="adj3" fmla="val 20507419"/>
              <a:gd name="adj4" fmla="val 10800000"/>
              <a:gd name="adj5" fmla="val 466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9D8C8978-41FE-E6AF-F5B7-2D18658B8F73}"/>
              </a:ext>
            </a:extLst>
          </p:cNvPr>
          <p:cNvCxnSpPr>
            <a:cxnSpLocks/>
          </p:cNvCxnSpPr>
          <p:nvPr/>
        </p:nvCxnSpPr>
        <p:spPr>
          <a:xfrm>
            <a:off x="6324600" y="5382403"/>
            <a:ext cx="381000" cy="5079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0FFBBD93-94EC-5848-D07B-4C9B56AAFDFB}"/>
              </a:ext>
            </a:extLst>
          </p:cNvPr>
          <p:cNvCxnSpPr>
            <a:cxnSpLocks/>
          </p:cNvCxnSpPr>
          <p:nvPr/>
        </p:nvCxnSpPr>
        <p:spPr>
          <a:xfrm flipV="1">
            <a:off x="5757906" y="2913469"/>
            <a:ext cx="757194" cy="66706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E75E3DAD-8860-4DE2-4574-C6DA7061F0F4}"/>
              </a:ext>
            </a:extLst>
          </p:cNvPr>
          <p:cNvSpPr txBox="1">
            <a:spLocks/>
          </p:cNvSpPr>
          <p:nvPr/>
        </p:nvSpPr>
        <p:spPr>
          <a:xfrm>
            <a:off x="6515100" y="2599343"/>
            <a:ext cx="5290839" cy="6282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extracts form entry data into object with as keys the names of the input fields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10BB0C0C-F2B9-8552-8D9C-8352DA087D9B}"/>
              </a:ext>
            </a:extLst>
          </p:cNvPr>
          <p:cNvCxnSpPr>
            <a:cxnSpLocks/>
          </p:cNvCxnSpPr>
          <p:nvPr/>
        </p:nvCxnSpPr>
        <p:spPr>
          <a:xfrm>
            <a:off x="8970019" y="3157797"/>
            <a:ext cx="0" cy="566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91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7684C-B940-C871-0E0A-AA787533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form </a:t>
            </a:r>
            <a:r>
              <a:rPr lang="nl-NL" dirty="0" err="1"/>
              <a:t>inputs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530C231-6100-FA15-9AF2-9B14C91474E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F6F63C3-DC76-D6B0-467F-3900BD5C9F4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Built-in HTML </a:t>
            </a:r>
            <a:r>
              <a:rPr lang="nl-NL" dirty="0" err="1"/>
              <a:t>validators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 err="1"/>
              <a:t>required</a:t>
            </a:r>
            <a:endParaRPr lang="nl-NL" dirty="0"/>
          </a:p>
          <a:p>
            <a:pPr marL="702900" lvl="1" indent="-342900"/>
            <a:r>
              <a:rPr lang="nl-BE" dirty="0" err="1"/>
              <a:t>minlength,maxlength</a:t>
            </a:r>
            <a:endParaRPr lang="nl-BE" dirty="0"/>
          </a:p>
          <a:p>
            <a:pPr marL="702900" lvl="1" indent="-342900"/>
            <a:r>
              <a:rPr lang="nl-BE" dirty="0"/>
              <a:t>min, max</a:t>
            </a:r>
          </a:p>
          <a:p>
            <a:pPr marL="702900" lvl="1" indent="-342900"/>
            <a:r>
              <a:rPr lang="nl-BE" dirty="0" err="1"/>
              <a:t>same</a:t>
            </a:r>
            <a:r>
              <a:rPr lang="nl-BE" dirty="0"/>
              <a:t> as </a:t>
            </a:r>
            <a:r>
              <a:rPr lang="nl-BE" dirty="0" err="1"/>
              <a:t>plain</a:t>
            </a:r>
            <a:r>
              <a:rPr lang="nl-BE" dirty="0"/>
              <a:t> HTML</a:t>
            </a:r>
          </a:p>
          <a:p>
            <a:pPr marL="702900" lvl="1" indent="-342900"/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 err="1"/>
              <a:t>Custom</a:t>
            </a:r>
            <a:r>
              <a:rPr lang="nl-BE" dirty="0"/>
              <a:t> </a:t>
            </a:r>
            <a:r>
              <a:rPr lang="nl-BE" dirty="0" err="1"/>
              <a:t>validators</a:t>
            </a:r>
            <a:r>
              <a:rPr lang="nl-BE" dirty="0"/>
              <a:t>:</a:t>
            </a:r>
          </a:p>
          <a:p>
            <a:pPr marL="702900" lvl="1" indent="-342900"/>
            <a:r>
              <a:rPr lang="nl-BE" dirty="0"/>
              <a:t>@every </a:t>
            </a:r>
            <a:r>
              <a:rPr lang="nl-BE" dirty="0" err="1"/>
              <a:t>keystroke</a:t>
            </a:r>
            <a:endParaRPr lang="nl-BE" dirty="0"/>
          </a:p>
          <a:p>
            <a:pPr marL="702900" lvl="1" indent="-342900"/>
            <a:r>
              <a:rPr lang="nl-BE" dirty="0"/>
              <a:t>@blur/focus</a:t>
            </a:r>
          </a:p>
          <a:p>
            <a:pPr marL="702900" lvl="1" indent="-342900"/>
            <a:r>
              <a:rPr lang="nl-BE" dirty="0"/>
              <a:t>@form </a:t>
            </a:r>
            <a:r>
              <a:rPr lang="nl-BE" dirty="0" err="1"/>
              <a:t>submit</a:t>
            </a:r>
            <a:endParaRPr lang="nl-BE" dirty="0"/>
          </a:p>
          <a:p>
            <a:pPr marL="342900" indent="-342900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0173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FD186-42F0-2C90-1FE1-2CF50BEB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Writing</a:t>
            </a:r>
            <a:r>
              <a:rPr lang="nl-NL" dirty="0"/>
              <a:t> input </a:t>
            </a:r>
            <a:r>
              <a:rPr lang="nl-NL" dirty="0" err="1"/>
              <a:t>validators</a:t>
            </a:r>
            <a:r>
              <a:rPr lang="nl-NL" dirty="0"/>
              <a:t> =&gt; </a:t>
            </a:r>
            <a:r>
              <a:rPr lang="nl-NL" dirty="0" err="1"/>
              <a:t>regex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9830510-7406-5A60-46D1-4893CFAFF0E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80BD466-C8CD-D721-953B-289CF580CE2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username versus following rules:</a:t>
            </a:r>
            <a:endParaRPr lang="en-US" noProof="0" dirty="0"/>
          </a:p>
          <a:p>
            <a:pPr lvl="2"/>
            <a:r>
              <a:rPr lang="en-US" dirty="0"/>
              <a:t>only alphanumeric characters (letters (small or large) and numbers)</a:t>
            </a:r>
          </a:p>
          <a:p>
            <a:pPr lvl="2"/>
            <a:r>
              <a:rPr lang="en-US" dirty="0"/>
              <a:t>May contain _ , - or space but immediately followed by an alphanumeric character</a:t>
            </a:r>
          </a:p>
          <a:p>
            <a:pPr lvl="2"/>
            <a:r>
              <a:rPr lang="en-US" dirty="0"/>
              <a:t>No _, - or space at beginning or end of username</a:t>
            </a:r>
            <a:endParaRPr lang="en-US" sz="14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Regex:</a:t>
            </a:r>
          </a:p>
          <a:p>
            <a:endParaRPr lang="nl-BE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A05C4C72-AEF8-34DF-984C-727C72AD350E}"/>
              </a:ext>
            </a:extLst>
          </p:cNvPr>
          <p:cNvSpPr/>
          <p:nvPr/>
        </p:nvSpPr>
        <p:spPr>
          <a:xfrm>
            <a:off x="2711624" y="3856263"/>
            <a:ext cx="6768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811F3F"/>
                </a:solidFill>
                <a:latin typeface="Consolas" panose="020B0609020204030204" pitchFamily="49" charset="0"/>
              </a:rPr>
              <a:t>/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^</a:t>
            </a:r>
            <a:r>
              <a:rPr lang="nl-BE" sz="2400" dirty="0">
                <a:solidFill>
                  <a:srgbClr val="D16969"/>
                </a:solidFill>
                <a:latin typeface="Consolas" panose="020B0609020204030204" pitchFamily="49" charset="0"/>
              </a:rPr>
              <a:t>[</a:t>
            </a:r>
            <a:r>
              <a:rPr lang="nl-BE" sz="2400" dirty="0">
                <a:solidFill>
                  <a:srgbClr val="811F3F"/>
                </a:solidFill>
                <a:latin typeface="Consolas" panose="020B0609020204030204" pitchFamily="49" charset="0"/>
              </a:rPr>
              <a:t>a-zA-Z0-9</a:t>
            </a:r>
            <a:r>
              <a:rPr lang="nl-BE" sz="2400" dirty="0">
                <a:solidFill>
                  <a:srgbClr val="D16969"/>
                </a:solidFill>
                <a:latin typeface="Consolas" panose="020B0609020204030204" pitchFamily="49" charset="0"/>
              </a:rPr>
              <a:t>]</a:t>
            </a:r>
            <a:r>
              <a:rPr 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nl-BE" sz="2400" dirty="0">
                <a:solidFill>
                  <a:srgbClr val="D16969"/>
                </a:solidFill>
                <a:latin typeface="Consolas" panose="020B0609020204030204" pitchFamily="49" charset="0"/>
              </a:rPr>
              <a:t>([</a:t>
            </a:r>
            <a:r>
              <a:rPr lang="nl-BE" sz="2400" dirty="0">
                <a:solidFill>
                  <a:srgbClr val="811F3F"/>
                </a:solidFill>
                <a:latin typeface="Consolas" panose="020B0609020204030204" pitchFamily="49" charset="0"/>
              </a:rPr>
              <a:t>_ -</a:t>
            </a:r>
            <a:r>
              <a:rPr lang="nl-BE" sz="2400" dirty="0">
                <a:solidFill>
                  <a:srgbClr val="D16969"/>
                </a:solidFill>
                <a:latin typeface="Consolas" panose="020B0609020204030204" pitchFamily="49" charset="0"/>
              </a:rPr>
              <a:t>]</a:t>
            </a:r>
            <a:r>
              <a:rPr 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r>
              <a:rPr lang="nl-BE" sz="2400" dirty="0">
                <a:solidFill>
                  <a:srgbClr val="D16969"/>
                </a:solidFill>
                <a:latin typeface="Consolas" panose="020B0609020204030204" pitchFamily="49" charset="0"/>
              </a:rPr>
              <a:t>[</a:t>
            </a:r>
            <a:r>
              <a:rPr lang="nl-BE" sz="2400" dirty="0">
                <a:solidFill>
                  <a:srgbClr val="811F3F"/>
                </a:solidFill>
                <a:latin typeface="Consolas" panose="020B0609020204030204" pitchFamily="49" charset="0"/>
              </a:rPr>
              <a:t>a-zA-Z0-9</a:t>
            </a:r>
            <a:r>
              <a:rPr lang="nl-BE" sz="2400" dirty="0">
                <a:solidFill>
                  <a:srgbClr val="D16969"/>
                </a:solidFill>
                <a:latin typeface="Consolas" panose="020B0609020204030204" pitchFamily="49" charset="0"/>
              </a:rPr>
              <a:t>])</a:t>
            </a:r>
            <a:r>
              <a:rPr 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$</a:t>
            </a:r>
            <a:r>
              <a:rPr lang="nl-BE" sz="2400" dirty="0">
                <a:solidFill>
                  <a:srgbClr val="811F3F"/>
                </a:solidFill>
                <a:latin typeface="Consolas" panose="020B0609020204030204" pitchFamily="49" charset="0"/>
              </a:rPr>
              <a:t>/</a:t>
            </a:r>
            <a:endParaRPr lang="nl-BE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0BEEE96-B1E1-3B35-FB15-F1DFD8E4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685" y="4567731"/>
            <a:ext cx="5136628" cy="152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85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A9C2E-4DC7-C022-B744-C5DF2B0B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@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keystroke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1569C69-E89B-1229-8B2E-48D42BECBA4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65D79F8-6753-08C3-8EB6-8F6B74F2E6E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state </a:t>
            </a:r>
            <a:r>
              <a:rPr lang="nl-NL" dirty="0" err="1"/>
              <a:t>controlled</a:t>
            </a:r>
            <a:r>
              <a:rPr lang="nl-NL" dirty="0"/>
              <a:t> </a:t>
            </a:r>
            <a:r>
              <a:rPr lang="nl-NL" dirty="0" err="1"/>
              <a:t>inputs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compute</a:t>
            </a:r>
            <a:r>
              <a:rPr lang="nl-NL" dirty="0"/>
              <a:t> input </a:t>
            </a:r>
            <a:r>
              <a:rPr lang="nl-NL" dirty="0" err="1"/>
              <a:t>validity</a:t>
            </a:r>
            <a:r>
              <a:rPr lang="nl-NL" dirty="0"/>
              <a:t> at </a:t>
            </a:r>
            <a:r>
              <a:rPr lang="nl-NL" dirty="0" err="1"/>
              <a:t>every</a:t>
            </a:r>
            <a:r>
              <a:rPr lang="nl-NL" dirty="0"/>
              <a:t> (re)-</a:t>
            </a:r>
            <a:r>
              <a:rPr lang="nl-NL" dirty="0" err="1"/>
              <a:t>rendering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31F016F-C51E-B376-0F81-9E897ED5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18" y="2600985"/>
            <a:ext cx="9573961" cy="3867690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50B03B21-846C-F8B7-CFFF-79E1A5DC0192}"/>
              </a:ext>
            </a:extLst>
          </p:cNvPr>
          <p:cNvCxnSpPr>
            <a:cxnSpLocks/>
          </p:cNvCxnSpPr>
          <p:nvPr/>
        </p:nvCxnSpPr>
        <p:spPr>
          <a:xfrm>
            <a:off x="800100" y="4102100"/>
            <a:ext cx="8636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825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38BF89-4973-C2C2-7AAD-2340FF54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@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keystroke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C859135-10DD-1AAD-C067-8544140F476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488C4E-7912-C871-DF48-3FF0A054EE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dirty="0" err="1"/>
              <a:t>Conditionally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paragraph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JSX </a:t>
            </a:r>
            <a:r>
              <a:rPr lang="nl-NL" dirty="0" err="1"/>
              <a:t>based</a:t>
            </a:r>
            <a:r>
              <a:rPr lang="nl-NL" dirty="0"/>
              <a:t> </a:t>
            </a:r>
            <a:r>
              <a:rPr lang="nl-NL" dirty="0" err="1"/>
              <a:t>upon</a:t>
            </a:r>
            <a:r>
              <a:rPr lang="nl-NL" dirty="0"/>
              <a:t> </a:t>
            </a:r>
            <a:r>
              <a:rPr lang="nl-NL" dirty="0" err="1"/>
              <a:t>previously</a:t>
            </a:r>
            <a:r>
              <a:rPr lang="nl-NL" dirty="0"/>
              <a:t> </a:t>
            </a:r>
            <a:r>
              <a:rPr lang="nl-NL" dirty="0" err="1"/>
              <a:t>defined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2136FF8-A309-461C-DFB6-76223148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2" y="2094706"/>
            <a:ext cx="9366998" cy="198340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A6FBADCB-4401-21E2-8214-B42292B18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399" y="4286453"/>
            <a:ext cx="3240000" cy="2027755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38466FDC-1FE0-9552-0478-6B306A46A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02" y="4286453"/>
            <a:ext cx="3240000" cy="1498933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ijdelijke aanduiding voor tekst 3">
            <a:extLst>
              <a:ext uri="{FF2B5EF4-FFF2-40B4-BE49-F238E27FC236}">
                <a16:creationId xmlns:a16="http://schemas.microsoft.com/office/drawing/2014/main" id="{54898929-6EA0-4626-6E53-ADD6E9C0685F}"/>
              </a:ext>
            </a:extLst>
          </p:cNvPr>
          <p:cNvSpPr txBox="1">
            <a:spLocks/>
          </p:cNvSpPr>
          <p:nvPr/>
        </p:nvSpPr>
        <p:spPr>
          <a:xfrm>
            <a:off x="8996441" y="4416861"/>
            <a:ext cx="2789853" cy="1766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conditional styling of visibility of error paragraph to avoid jumps in the UI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  <p:pic>
        <p:nvPicPr>
          <p:cNvPr id="17" name="Picture 2" descr="15710555 3d man met rood uitroepteken op witte achtergrond">
            <a:extLst>
              <a:ext uri="{FF2B5EF4-FFF2-40B4-BE49-F238E27FC236}">
                <a16:creationId xmlns:a16="http://schemas.microsoft.com/office/drawing/2014/main" id="{FD535F01-89C1-004A-4708-FA58E2946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120" y="4726013"/>
            <a:ext cx="971321" cy="97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046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DB44-7E21-A569-D8E7-17EC1769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B0389-6DFB-59CB-1E28-7278030B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@ out of focus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20AABDB-0CA2-D2B5-C470-882647838A7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ACBFD6-3B7D-B0D3-E23F-7CCD06654DB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ln>
            <a:noFill/>
          </a:ln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state </a:t>
            </a:r>
            <a:r>
              <a:rPr lang="nl-NL" dirty="0" err="1"/>
              <a:t>controlled</a:t>
            </a:r>
            <a:r>
              <a:rPr lang="nl-NL" dirty="0"/>
              <a:t> </a:t>
            </a:r>
            <a:r>
              <a:rPr lang="nl-NL" dirty="0" err="1"/>
              <a:t>inputs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add</a:t>
            </a:r>
            <a:r>
              <a:rPr lang="nl-NL" dirty="0"/>
              <a:t> state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remeber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an input has focus or </a:t>
            </a:r>
            <a:r>
              <a:rPr lang="nl-NL" dirty="0" err="1"/>
              <a:t>not</a:t>
            </a:r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DDC3249-2217-45F1-3115-3D7AD6A1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3" y="2580905"/>
            <a:ext cx="10583752" cy="2648320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54893BEF-6C4D-9B3C-EE21-6DB89B710C94}"/>
              </a:ext>
            </a:extLst>
          </p:cNvPr>
          <p:cNvCxnSpPr>
            <a:cxnSpLocks/>
          </p:cNvCxnSpPr>
          <p:nvPr/>
        </p:nvCxnSpPr>
        <p:spPr>
          <a:xfrm>
            <a:off x="397723" y="3403600"/>
            <a:ext cx="8636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D4001BC8-61BC-9680-5C23-B95BCC32C58D}"/>
              </a:ext>
            </a:extLst>
          </p:cNvPr>
          <p:cNvCxnSpPr>
            <a:cxnSpLocks/>
          </p:cNvCxnSpPr>
          <p:nvPr/>
        </p:nvCxnSpPr>
        <p:spPr>
          <a:xfrm flipV="1">
            <a:off x="5080000" y="5229225"/>
            <a:ext cx="0" cy="5492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920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E8DB4-CA30-C8DB-72D6-E875E2A9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@ out of focus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5A6D20F-EF6F-E0AC-9CB3-A8CF8E11A4F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E080A46-5D6A-9918-030C-EE41081D63B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2A7D5CC-3DC7-9926-E7F7-957617C6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3" y="1505338"/>
            <a:ext cx="9250066" cy="134321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07576A9C-8F2B-5BC4-293B-4DF657F74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63" y="3178918"/>
            <a:ext cx="5134692" cy="195289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61CF9FF-2665-9EE6-A2EF-622D7508F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64" y="3068181"/>
            <a:ext cx="6306430" cy="3277057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D9EEB599-0697-5AE5-7763-3FCE8456814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807200" y="2176944"/>
            <a:ext cx="1276967" cy="10101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4AA4EBB6-FDD9-7E1E-04A0-5353CEC0D6F2}"/>
              </a:ext>
            </a:extLst>
          </p:cNvPr>
          <p:cNvSpPr txBox="1">
            <a:spLocks/>
          </p:cNvSpPr>
          <p:nvPr/>
        </p:nvSpPr>
        <p:spPr>
          <a:xfrm>
            <a:off x="8084167" y="1958887"/>
            <a:ext cx="2882900" cy="43611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detect focus loss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E2A3032C-985A-7969-7525-CF1964E72B24}"/>
              </a:ext>
            </a:extLst>
          </p:cNvPr>
          <p:cNvCxnSpPr>
            <a:cxnSpLocks/>
          </p:cNvCxnSpPr>
          <p:nvPr/>
        </p:nvCxnSpPr>
        <p:spPr>
          <a:xfrm flipV="1">
            <a:off x="2496067" y="4546389"/>
            <a:ext cx="0" cy="915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jdelijke aanduiding voor tekst 3">
            <a:extLst>
              <a:ext uri="{FF2B5EF4-FFF2-40B4-BE49-F238E27FC236}">
                <a16:creationId xmlns:a16="http://schemas.microsoft.com/office/drawing/2014/main" id="{EB23E2F0-BFE2-E8AA-0FBE-92E9962B245F}"/>
              </a:ext>
            </a:extLst>
          </p:cNvPr>
          <p:cNvSpPr txBox="1">
            <a:spLocks/>
          </p:cNvSpPr>
          <p:nvPr/>
        </p:nvSpPr>
        <p:spPr>
          <a:xfrm>
            <a:off x="1241715" y="5585621"/>
            <a:ext cx="3812883" cy="7596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set corresponding </a:t>
            </a:r>
            <a:r>
              <a:rPr lang="en-US" sz="2000" dirty="0" err="1"/>
              <a:t>boolean</a:t>
            </a:r>
            <a:r>
              <a:rPr lang="en-US" sz="2000" dirty="0"/>
              <a:t> to true in </a:t>
            </a:r>
            <a:r>
              <a:rPr lang="en-US" sz="2000" dirty="0" err="1"/>
              <a:t>didEdit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723F9780-7CCF-1003-64B1-93D5238564AB}"/>
              </a:ext>
            </a:extLst>
          </p:cNvPr>
          <p:cNvSpPr txBox="1">
            <a:spLocks/>
          </p:cNvSpPr>
          <p:nvPr/>
        </p:nvSpPr>
        <p:spPr>
          <a:xfrm>
            <a:off x="8379117" y="5922211"/>
            <a:ext cx="3812883" cy="7596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reset </a:t>
            </a:r>
            <a:r>
              <a:rPr lang="en-US" sz="2000" dirty="0" err="1"/>
              <a:t>boolean</a:t>
            </a:r>
            <a:r>
              <a:rPr lang="en-US" sz="2000" dirty="0"/>
              <a:t> to false while editing</a:t>
            </a:r>
          </a:p>
          <a:p>
            <a:endParaRPr lang="en-US" sz="2000" dirty="0"/>
          </a:p>
          <a:p>
            <a:endParaRPr lang="en-US" sz="2000" dirty="0"/>
          </a:p>
        </p:txBody>
      </p:sp>
      <p:cxnSp>
        <p:nvCxnSpPr>
          <p:cNvPr id="21" name="Rechte verbindingslijn met pijl 20">
            <a:extLst>
              <a:ext uri="{FF2B5EF4-FFF2-40B4-BE49-F238E27FC236}">
                <a16:creationId xmlns:a16="http://schemas.microsoft.com/office/drawing/2014/main" id="{AC33A717-7BED-010D-63FB-7733C78B05CE}"/>
              </a:ext>
            </a:extLst>
          </p:cNvPr>
          <p:cNvCxnSpPr>
            <a:cxnSpLocks/>
          </p:cNvCxnSpPr>
          <p:nvPr/>
        </p:nvCxnSpPr>
        <p:spPr>
          <a:xfrm flipH="1" flipV="1">
            <a:off x="9347200" y="5551155"/>
            <a:ext cx="395529" cy="3710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8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13DC4-D5E3-D5AA-E61E-572421D4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@ form </a:t>
            </a:r>
            <a:r>
              <a:rPr lang="nl-NL" dirty="0" err="1"/>
              <a:t>submission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530183E-98B2-AE10-8BAC-AD52F9EF745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E7DC9B4-5ABA-3267-1B0B-A79F6FDC63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Validation</a:t>
            </a:r>
            <a:r>
              <a:rPr lang="nl-NL" dirty="0"/>
              <a:t> @keystroke/ @blur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submission</a:t>
            </a:r>
            <a:endParaRPr lang="nl-NL" dirty="0"/>
          </a:p>
          <a:p>
            <a:r>
              <a:rPr lang="nl-NL" dirty="0"/>
              <a:t> =&gt;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validation</a:t>
            </a:r>
            <a:r>
              <a:rPr lang="nl-NL" dirty="0"/>
              <a:t> @ form </a:t>
            </a:r>
            <a:r>
              <a:rPr lang="nl-NL" dirty="0" err="1"/>
              <a:t>submission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sending</a:t>
            </a:r>
            <a:r>
              <a:rPr lang="nl-NL" dirty="0"/>
              <a:t> data </a:t>
            </a:r>
            <a:r>
              <a:rPr lang="nl-NL" dirty="0" err="1"/>
              <a:t>to</a:t>
            </a:r>
            <a:r>
              <a:rPr lang="nl-NL" dirty="0"/>
              <a:t> backend </a:t>
            </a:r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create</a:t>
            </a:r>
            <a:r>
              <a:rPr lang="nl-NL" dirty="0"/>
              <a:t> a state </a:t>
            </a:r>
            <a:r>
              <a:rPr lang="nl-NL" dirty="0" err="1"/>
              <a:t>to</a:t>
            </a:r>
            <a:r>
              <a:rPr lang="nl-NL" dirty="0"/>
              <a:t> re-</a:t>
            </a:r>
            <a:r>
              <a:rPr lang="nl-NL" dirty="0" err="1"/>
              <a:t>render</a:t>
            </a:r>
            <a:r>
              <a:rPr lang="nl-NL" dirty="0"/>
              <a:t> UI </a:t>
            </a:r>
            <a:r>
              <a:rPr lang="nl-NL" dirty="0" err="1"/>
              <a:t>after</a:t>
            </a:r>
            <a:r>
              <a:rPr lang="nl-NL" dirty="0"/>
              <a:t> form </a:t>
            </a:r>
            <a:r>
              <a:rPr lang="nl-NL" dirty="0" err="1"/>
              <a:t>submission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B75ADBC-627A-E35A-C621-D6DDDCE2B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458" y="3186794"/>
            <a:ext cx="7049484" cy="160042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DDA7EAD-9E51-932A-C47E-38FEB9CE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58" y="4995561"/>
            <a:ext cx="10511635" cy="121861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46268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9D7B-EC04-D429-561E-9A9BC883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FA00F-262A-6FB6-9A26-23BA5D67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Validating</a:t>
            </a:r>
            <a:r>
              <a:rPr lang="nl-NL" dirty="0"/>
              <a:t> @ form </a:t>
            </a:r>
            <a:r>
              <a:rPr lang="nl-NL" dirty="0" err="1"/>
              <a:t>submission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803BBFF-CA1A-CBC8-A1B3-07985247A6E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CAF477B-89C6-0B8F-B55D-E3E24A317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98" y="1295399"/>
            <a:ext cx="10206285" cy="51732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E757DD17-42FD-4EC6-88E3-0136F53AA096}"/>
              </a:ext>
            </a:extLst>
          </p:cNvPr>
          <p:cNvSpPr txBox="1">
            <a:spLocks/>
          </p:cNvSpPr>
          <p:nvPr/>
        </p:nvSpPr>
        <p:spPr>
          <a:xfrm>
            <a:off x="5977111" y="3045262"/>
            <a:ext cx="4860751" cy="1116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separate input states to determine validation if keystroke validation is also used</a:t>
            </a:r>
          </a:p>
          <a:p>
            <a:endParaRPr lang="en-US" dirty="0">
              <a:solidFill>
                <a:srgbClr val="F04619"/>
              </a:solidFill>
            </a:endParaRPr>
          </a:p>
          <a:p>
            <a:endParaRPr lang="en-US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39826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5A7012BE-9589-4181-8E21-5EFD083870AD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AE080CEF-1B6E-4E11-BAC8-2E049189D1E6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369468EE-B720-4B8E-8A3B-E594BE133E2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customXml/itemProps3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TM-PPT-sjabloon_2023-03-10_ENG</Template>
  <TotalTime>4680</TotalTime>
  <Words>665</Words>
  <Application>Microsoft Office PowerPoint</Application>
  <PresentationFormat>Breedbeeld</PresentationFormat>
  <Paragraphs>114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Consolas</vt:lpstr>
      <vt:lpstr>WIT</vt:lpstr>
      <vt:lpstr>ORANJE</vt:lpstr>
      <vt:lpstr>BLAUW</vt:lpstr>
      <vt:lpstr>User input fields</vt:lpstr>
      <vt:lpstr>controlled vs uncontroled components</vt:lpstr>
      <vt:lpstr>controlled input fields</vt:lpstr>
      <vt:lpstr>PowerPoint-presentatie</vt:lpstr>
      <vt:lpstr>Forms</vt:lpstr>
      <vt:lpstr>Handling forms: UI</vt:lpstr>
      <vt:lpstr>Form submission default behaviour</vt:lpstr>
      <vt:lpstr>form onSubmit event</vt:lpstr>
      <vt:lpstr>Using multiple states</vt:lpstr>
      <vt:lpstr>Use form values in preview window</vt:lpstr>
      <vt:lpstr>combine into 1 state</vt:lpstr>
      <vt:lpstr>Using formData</vt:lpstr>
      <vt:lpstr>Using formData</vt:lpstr>
      <vt:lpstr>Validating form inputs</vt:lpstr>
      <vt:lpstr>Writing input validators =&gt; regex</vt:lpstr>
      <vt:lpstr>Validating @ every keystroke</vt:lpstr>
      <vt:lpstr>Validating @ every keystroke</vt:lpstr>
      <vt:lpstr>Validating @ out of focus</vt:lpstr>
      <vt:lpstr>Validating @ out of focus</vt:lpstr>
      <vt:lpstr>Validating @ form submission</vt:lpstr>
      <vt:lpstr>Validating @ form 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Beerens</dc:creator>
  <cp:lastModifiedBy>Sofie Beerens</cp:lastModifiedBy>
  <cp:revision>115</cp:revision>
  <cp:lastPrinted>2023-01-03T10:29:33Z</cp:lastPrinted>
  <dcterms:created xsi:type="dcterms:W3CDTF">2024-12-13T11:53:24Z</dcterms:created>
  <dcterms:modified xsi:type="dcterms:W3CDTF">2025-03-27T20:26:48Z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2023-03-10T10:43:24Z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432aaed0-9091-4564-aed9-c4e68b86c6a4</vt:lpwstr>
  </property>
  <property fmtid="{D5CDD505-2E9C-101B-9397-08002B2CF9AE}" pid="10" name="MSIP_Label_c337be75-dfbb-4261-9834-ac247c7dde13_ContentBits">
    <vt:lpwstr>0</vt:lpwstr>
  </property>
</Properties>
</file>