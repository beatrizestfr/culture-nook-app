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36"/>
  </p:notesMasterIdLst>
  <p:handoutMasterIdLst>
    <p:handoutMasterId r:id="rId37"/>
  </p:handoutMasterIdLst>
  <p:sldIdLst>
    <p:sldId id="543" r:id="rId7"/>
    <p:sldId id="544" r:id="rId8"/>
    <p:sldId id="545" r:id="rId9"/>
    <p:sldId id="551" r:id="rId10"/>
    <p:sldId id="548" r:id="rId11"/>
    <p:sldId id="261" r:id="rId12"/>
    <p:sldId id="549" r:id="rId13"/>
    <p:sldId id="550" r:id="rId14"/>
    <p:sldId id="552" r:id="rId15"/>
    <p:sldId id="553" r:id="rId16"/>
    <p:sldId id="556" r:id="rId17"/>
    <p:sldId id="558" r:id="rId18"/>
    <p:sldId id="560" r:id="rId19"/>
    <p:sldId id="563" r:id="rId20"/>
    <p:sldId id="562" r:id="rId21"/>
    <p:sldId id="561" r:id="rId22"/>
    <p:sldId id="566" r:id="rId23"/>
    <p:sldId id="568" r:id="rId24"/>
    <p:sldId id="569" r:id="rId25"/>
    <p:sldId id="567" r:id="rId26"/>
    <p:sldId id="577" r:id="rId27"/>
    <p:sldId id="571" r:id="rId28"/>
    <p:sldId id="572" r:id="rId29"/>
    <p:sldId id="575" r:id="rId30"/>
    <p:sldId id="576" r:id="rId31"/>
    <p:sldId id="578" r:id="rId32"/>
    <p:sldId id="579" r:id="rId33"/>
    <p:sldId id="580" r:id="rId34"/>
    <p:sldId id="581" r:id="rId3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04619"/>
    <a:srgbClr val="00283C"/>
    <a:srgbClr val="FA6432"/>
    <a:srgbClr val="000A1E"/>
    <a:srgbClr val="DEE1E4"/>
    <a:srgbClr val="E8EBEE"/>
    <a:srgbClr val="F2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359"/>
  </p:normalViewPr>
  <p:slideViewPr>
    <p:cSldViewPr snapToGrid="0">
      <p:cViewPr varScale="1">
        <p:scale>
          <a:sx n="105" d="100"/>
          <a:sy n="105" d="100"/>
        </p:scale>
        <p:origin x="132" y="2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viewProps" Target="view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03/12/2026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03/12/2026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C58E10-9200-4F75-9549-CABC36F22A04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761540E-37AB-D5CA-06CD-8CA08C09F30B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6649CC2-58DD-A6AB-995D-D28DDA10F0EE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23B5800-D547-14D0-C885-BC839820B83C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769BCF-6B41-B8EA-1497-FA16C74DDD8E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95F28ED-AE7C-37C4-6B6A-EB1BA8B32F1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7AC3A06-E3D7-703D-2240-66AC8B8EAF43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CCD2EA5-C77E-1DE8-B784-AFCAEC26033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5643DD-A295-5E93-79DC-FE2833C7264E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26B9DDC-A060-AF2A-880D-799C17A37121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2F84484-ACBC-1C81-4F94-5CDA1A9C0613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EB547A9-6DD8-9683-8350-5C89DD95D975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47CBC2-4C73-7900-1669-9A28BCDDA5C7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3C43FDF-6E5C-23CB-C84B-69CFBD5FAF54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E1D3473-7EB4-C2B8-D216-47B0D4FC1351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ABF4F9E-B9E0-E3B0-6DFC-2A2EF1E54134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C16924DF-87D9-3A78-3AC7-B29C141DAF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3C7DE0-A707-1555-E9BC-26C6B92416F9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E26B1B9-F304-1942-97C9-9CAEE42D6038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62E5C0E-71C1-4937-D2A0-614B42AA2AC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985256B-AABF-C1FF-7484-49832FF05C69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BA4F45-5FD7-A1E2-AACA-1F54A63493A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CD33336-3D8D-022A-E63C-986C7F046AE3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9AE9486-45F7-A00D-5927-E77D0EE4949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726782D-59DA-C846-BF4A-BE26FD69D3DD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E49756-2944-B689-5C93-F1F2DFCDB45F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CD78EF-541A-2BBB-0B28-03F174465CA4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BA7C5FD-D0DC-C6E1-1863-81E921C3B05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F7ADA07-595F-813E-E656-4334F6AF270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4DEE43-D307-DFC4-FDEA-B3D380095C1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735E34E-9DF8-5AE9-FB61-2FA0F2625A75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133A227-D886-E123-3CBB-0B044424F63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AF3839E-B179-B34C-37D4-827A2DA62AD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CB7AE3-C1EC-C72E-EC20-593BC07D692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428FE4E-8A8A-1E7C-761E-EB7941E14D2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4EEE9E1-1793-E0E0-A058-6959A2414F61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3B1D97B-C02C-9FEE-263F-06619DF14904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B54191-0ECD-9AC8-82BD-EA7F5D0CDE88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A3E31F2-CAAE-4D04-35F1-67035EB040CF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6B2F9C1-4A2C-9217-CD70-19B3DB1A38F5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7B0353E-6E30-7855-F8CD-74694ED738F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041D2E-8DD4-22BC-DE36-E40A2F8FBCA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D2C795E-C9EC-72A0-2B80-81EB152E94A7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B99E033-C315-426E-2B6D-52FA2032383A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4AFBB5A-33FB-9524-5163-E11202404D2F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45A8EB69-421E-0FA3-3D30-E7C9A039BDD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9D406C-3AB0-5F8C-B79E-B3BDB29B4170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C72ADAE-5A19-65CD-1C39-33056943F06D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EE1EFEE-D708-1D50-72BA-5D23EAB8788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F0E477F-404D-4A7E-D96D-AD5F43187C5E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5FBC0559-26D9-5DF7-3896-3751A065801E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822F08-787C-D402-7CB0-2DBCEEFCA96C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6DAD9BC-155A-76EA-E50B-F08948E92B7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FD007AA-A637-C086-8A7F-6DAADCB1488E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91087C3-FF38-5144-619A-D2C24D5060E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AEDF7A-016A-BBA4-6B79-99D771185C5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5422A5C-506A-E3C6-99E5-A56CF5CC5829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8B0DADC-0BA9-D34A-EADA-0F8581BC3A3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945392B-DC74-07AC-F46D-C97255BA1352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6340B1-AF7E-BA14-5B2C-298C07BBE6F3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51ECDB4-5502-8798-B39A-CA12F88685E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C98289-A779-7202-EE3D-17CA002EAA7A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95148D7-2DEE-E33C-A3BB-480397489D10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EEA26B-468C-A3E0-D2F0-00263630018A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72E8BC3-9F71-6054-71E1-9359DB51978D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4FC8B2C-1927-714D-A112-ACDB60C0D792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4ADCA36-3409-4CE4-BE24-E2950290A639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E0EF85-E9C2-1E47-7D9D-7481B72C370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83CD9E5-989E-5324-5F29-26D97B06641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A7F0918-B715-D7FA-5F7F-2D27725D816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8B9CAF-E0DD-0B2A-1B7A-49F7A8CE28A3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5771A-4855-C4DF-F3E1-6B60957D479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F32C11C-FC33-A2A4-9F9C-A4F7644661F5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C7F57F1-BFFC-8DF9-F999-3970D6D06B27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315B1F8-B3CB-9766-E622-4D638B82A26C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02043F8A-F25A-B2D8-9041-A6D8752A3A1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231F66-1E81-776C-BB29-A6B1D64A74D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7BFFD71-E67E-8702-21E5-134FDBAABD5A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495D389-8CDE-5F31-504F-B3C7A617FCD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647C8BF-AFD9-E008-9EE7-AB6E7F889F3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DC87EB1-3842-16D6-F58F-ECB76E173B0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7B21A1-0E57-4541-5215-E9323C8F727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7054DBD-AFF8-2156-FA0F-6560F2AC5E93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2B912A6-81AF-53E5-19C5-CF48B7AD18A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DFAD59-AD7C-DC7A-99BA-42B8124CBABB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F3B43A-16B2-9FFD-7BF9-28583D80960A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5DE3DD6-1B79-FCD1-23E2-461E0EEC24B1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300E5F7-B3AB-EF16-CFE7-FCC369ED1D7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FDEE70D-4147-73A1-F2C3-1CCED1CEA32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12 maart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hyperlink" Target="https://nodejs.org/en/download/" TargetMode="Externa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emf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mder.app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-bootstrap.netlify.app/docs/getting-started/why-react-bootstrap" TargetMode="Externa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chromewebstore.google.com/detail/react-developer-tools/fmkadmapgofadopljbjfkapdkoienihi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8DE3-8302-DDC1-289E-9A11F2518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2DBAF1-D1E5-46E4-9FB5-8E5C9052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Installation - components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545580-867E-C239-267A-AEC71F8B6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887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3D45889-0349-9DDA-A397-FC57A961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is React?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B2F7BE1-6012-7B2D-1641-C9A27C6738C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99063D9-10FF-CB09-B534-12CC87EA6A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JavaScript </a:t>
            </a:r>
            <a:r>
              <a:rPr lang="nl-NL" dirty="0" err="1"/>
              <a:t>library</a:t>
            </a:r>
            <a:r>
              <a:rPr lang="nl-NL" dirty="0"/>
              <a:t> for building user interfaces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Since</a:t>
            </a:r>
            <a:r>
              <a:rPr lang="nl-NL" dirty="0"/>
              <a:t> javascript </a:t>
            </a:r>
            <a:r>
              <a:rPr lang="nl-NL" dirty="0" err="1"/>
              <a:t>works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frontend =&gt;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fluid</a:t>
            </a:r>
            <a:r>
              <a:rPr lang="nl-NL" dirty="0"/>
              <a:t> </a:t>
            </a:r>
            <a:r>
              <a:rPr lang="nl-NL" dirty="0" err="1"/>
              <a:t>transitions</a:t>
            </a:r>
            <a:r>
              <a:rPr lang="nl-NL" dirty="0"/>
              <a:t> in web apps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javascript frontend “</a:t>
            </a:r>
            <a:r>
              <a:rPr lang="nl-NL" dirty="0" err="1"/>
              <a:t>calculations</a:t>
            </a:r>
            <a:r>
              <a:rPr lang="nl-NL" dirty="0"/>
              <a:t>”</a:t>
            </a: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6D371F9A-479B-E124-24D5-180F1D656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05" y="3255617"/>
            <a:ext cx="8170640" cy="300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43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F5E7E-F58D-71AC-C8A4-790FE8A97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plain</a:t>
            </a:r>
            <a:r>
              <a:rPr lang="nl-NL" dirty="0"/>
              <a:t> JavaScript?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66D1A0E-631D-6249-63EA-73A004405DA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F1F64D6-D893-2F53-7621-D4E55BFF51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19333" y="1268031"/>
            <a:ext cx="6135860" cy="2812798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dirty="0"/>
              <a:t>complex JavaScript code is:</a:t>
            </a:r>
          </a:p>
          <a:p>
            <a:pPr marL="702900" lvl="1" indent="-342900">
              <a:lnSpc>
                <a:spcPct val="100000"/>
              </a:lnSpc>
            </a:pPr>
            <a:r>
              <a:rPr lang="nl-NL" dirty="0"/>
              <a:t> </a:t>
            </a:r>
            <a:r>
              <a:rPr lang="nl-NL" dirty="0" err="1"/>
              <a:t>difficult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write</a:t>
            </a:r>
            <a:endParaRPr lang="nl-NL" dirty="0"/>
          </a:p>
          <a:p>
            <a:pPr marL="702900" lvl="1" indent="-342900">
              <a:lnSpc>
                <a:spcPct val="100000"/>
              </a:lnSpc>
            </a:pPr>
            <a:r>
              <a:rPr lang="nl-NL" dirty="0"/>
              <a:t>hard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maintain</a:t>
            </a:r>
            <a:r>
              <a:rPr lang="nl-NL" dirty="0"/>
              <a:t> or </a:t>
            </a:r>
            <a:r>
              <a:rPr lang="nl-NL" dirty="0" err="1"/>
              <a:t>edit</a:t>
            </a:r>
            <a:endParaRPr lang="nl-NL" dirty="0"/>
          </a:p>
          <a:p>
            <a:pPr marL="702900" lvl="1" indent="-342900">
              <a:lnSpc>
                <a:spcPct val="100000"/>
              </a:lnSpc>
            </a:pPr>
            <a:r>
              <a:rPr lang="nl-NL" dirty="0"/>
              <a:t>error-</a:t>
            </a:r>
            <a:r>
              <a:rPr lang="nl-NL" dirty="0" err="1"/>
              <a:t>prone</a:t>
            </a:r>
            <a:endParaRPr lang="nl-NL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90FEDE6-28CE-ED74-1729-A91F7D41B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191"/>
          <a:stretch/>
        </p:blipFill>
        <p:spPr>
          <a:xfrm>
            <a:off x="7962018" y="2763668"/>
            <a:ext cx="4035076" cy="3982006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1750B89-A44A-D544-10D4-950D60B9FC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39"/>
          <a:stretch/>
        </p:blipFill>
        <p:spPr>
          <a:xfrm>
            <a:off x="212194" y="1268031"/>
            <a:ext cx="4830939" cy="3982006"/>
          </a:xfrm>
          <a:prstGeom prst="rect">
            <a:avLst/>
          </a:prstGeom>
        </p:spPr>
      </p:pic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5E2478C6-AEA7-3119-A078-23FE1C36BFE0}"/>
              </a:ext>
            </a:extLst>
          </p:cNvPr>
          <p:cNvSpPr txBox="1">
            <a:spLocks/>
          </p:cNvSpPr>
          <p:nvPr/>
        </p:nvSpPr>
        <p:spPr>
          <a:xfrm>
            <a:off x="2223732" y="4952870"/>
            <a:ext cx="5662086" cy="1792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nl-NL" dirty="0"/>
          </a:p>
          <a:p>
            <a:pPr algn="r">
              <a:lnSpc>
                <a:spcPct val="100000"/>
              </a:lnSpc>
            </a:pPr>
            <a:r>
              <a:rPr lang="nl-NL" dirty="0"/>
              <a:t>React:</a:t>
            </a:r>
          </a:p>
          <a:p>
            <a:pPr marL="702900" lvl="1" indent="-342900" algn="r">
              <a:lnSpc>
                <a:spcPct val="100000"/>
              </a:lnSpc>
            </a:pPr>
            <a:r>
              <a:rPr lang="nl-NL" dirty="0" err="1"/>
              <a:t>Simpler</a:t>
            </a:r>
            <a:r>
              <a:rPr lang="nl-NL" dirty="0"/>
              <a:t> </a:t>
            </a:r>
            <a:r>
              <a:rPr lang="nl-NL" dirty="0" err="1"/>
              <a:t>mental</a:t>
            </a:r>
            <a:r>
              <a:rPr lang="nl-NL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984486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0C8E9D-B67A-36AD-6CB2-EEDCC647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noProof="0" dirty="0" err="1"/>
              <a:t>nstallation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66AC7FF-E3E7-5108-5454-A18D7A7CFD3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F08BFC7-E76D-718D-0F2A-A31BAB35717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5" y="1213909"/>
            <a:ext cx="11160127" cy="471646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dirty="0"/>
              <a:t>The </a:t>
            </a:r>
            <a:r>
              <a:rPr lang="nl-NL" dirty="0" err="1"/>
              <a:t>react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 are </a:t>
            </a:r>
            <a:r>
              <a:rPr lang="nl-NL" dirty="0" err="1"/>
              <a:t>written</a:t>
            </a:r>
            <a:r>
              <a:rPr lang="nl-NL" dirty="0"/>
              <a:t> in JSX,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understood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browser</a:t>
            </a:r>
            <a:br>
              <a:rPr lang="nl-NL" dirty="0"/>
            </a:br>
            <a:r>
              <a:rPr lang="nl-NL" dirty="0"/>
              <a:t>	=&gt; node.js is </a:t>
            </a:r>
            <a:r>
              <a:rPr lang="nl-NL" dirty="0" err="1"/>
              <a:t>needed</a:t>
            </a:r>
            <a:r>
              <a:rPr lang="nl-NL" dirty="0"/>
              <a:t> for </a:t>
            </a:r>
            <a:r>
              <a:rPr lang="nl-NL" dirty="0" err="1"/>
              <a:t>that</a:t>
            </a:r>
            <a:endParaRPr lang="nl-NL" dirty="0"/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A477CC4-AFFB-F574-8FD4-A254DEA41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67" y="2410922"/>
            <a:ext cx="10250330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04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BCBCDC-C14A-BF80-961B-C206DC4C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Installation: node and </a:t>
            </a:r>
            <a:r>
              <a:rPr lang="en-US" noProof="0" dirty="0" err="1"/>
              <a:t>npm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A638787-7E4D-F169-89F5-06AC962ECC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1175BAE-63E1-60AC-B01B-BDFA0542F6F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Node.js:</a:t>
            </a:r>
          </a:p>
          <a:p>
            <a:pPr lvl="1">
              <a:lnSpc>
                <a:spcPct val="120000"/>
              </a:lnSpc>
            </a:pPr>
            <a:r>
              <a:rPr lang="en-US" noProof="0" dirty="0"/>
              <a:t>open source server framework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run JavaScript outside the browser, in the JavaScript engine of Node.js itself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contains a built-in HTTP server =&gt; possible to run a web server without Apache</a:t>
            </a:r>
          </a:p>
          <a:p>
            <a:pPr lvl="1">
              <a:lnSpc>
                <a:spcPct val="120000"/>
              </a:lnSpc>
            </a:pPr>
            <a:r>
              <a:rPr lang="en-US" noProof="0" dirty="0"/>
              <a:t>download: </a:t>
            </a:r>
            <a:r>
              <a:rPr lang="en-US" noProof="0" dirty="0">
                <a:hlinkClick r:id="rId2"/>
              </a:rPr>
              <a:t>https://nodejs.org/en/download/</a:t>
            </a:r>
            <a:endParaRPr lang="en-US" noProof="0" dirty="0"/>
          </a:p>
          <a:p>
            <a:pPr marL="355600" lvl="1" indent="0">
              <a:buNone/>
            </a:pPr>
            <a:endParaRPr lang="en-US" noProof="0" dirty="0"/>
          </a:p>
          <a:p>
            <a:r>
              <a:rPr lang="en-US" noProof="0" dirty="0"/>
              <a:t>NPM:</a:t>
            </a:r>
          </a:p>
          <a:p>
            <a:pPr lvl="1">
              <a:lnSpc>
                <a:spcPct val="120000"/>
              </a:lnSpc>
            </a:pPr>
            <a:r>
              <a:rPr lang="en-US" u="sng" noProof="0" dirty="0"/>
              <a:t>N</a:t>
            </a:r>
            <a:r>
              <a:rPr lang="en-US" noProof="0" dirty="0"/>
              <a:t>ode.js </a:t>
            </a:r>
            <a:r>
              <a:rPr lang="en-US" u="sng" noProof="0" dirty="0"/>
              <a:t>P</a:t>
            </a:r>
            <a:r>
              <a:rPr lang="en-US" noProof="0" dirty="0"/>
              <a:t>ackage </a:t>
            </a:r>
            <a:r>
              <a:rPr lang="en-US" u="sng" noProof="0" dirty="0"/>
              <a:t>M</a:t>
            </a:r>
            <a:r>
              <a:rPr lang="en-US" noProof="0" dirty="0"/>
              <a:t>anager</a:t>
            </a:r>
          </a:p>
          <a:p>
            <a:pPr lvl="1">
              <a:lnSpc>
                <a:spcPct val="120000"/>
              </a:lnSpc>
            </a:pPr>
            <a:r>
              <a:rPr lang="en-US" noProof="0" dirty="0"/>
              <a:t>Package or module = JavaScript library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with</a:t>
            </a:r>
            <a:r>
              <a:rPr lang="en-US" noProof="0" dirty="0"/>
              <a:t> NPM</a:t>
            </a:r>
            <a:r>
              <a:rPr lang="en-US" dirty="0"/>
              <a:t>: install necessary packages</a:t>
            </a:r>
            <a:endParaRPr lang="en-US" noProof="0" dirty="0"/>
          </a:p>
          <a:p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9B083C2-B899-5DC2-1823-A9466AC15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413" y="1420431"/>
            <a:ext cx="1584176" cy="891538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7B969372-29BF-4264-A378-B1052CF030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3887018"/>
            <a:ext cx="1299402" cy="505684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EBBFEAB-3337-EDF9-93ED-F76AF8AC8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167" y="4581128"/>
            <a:ext cx="2260119" cy="226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84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5" r="13880"/>
          <a:stretch/>
        </p:blipFill>
        <p:spPr>
          <a:xfrm>
            <a:off x="6700939" y="10"/>
            <a:ext cx="4975124" cy="685799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4" name="Tijdelijke aanduiding voor dianummer 3"/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3B80295F-48CD-49FC-897A-CCEC919B8070}" type="slidenum">
              <a:rPr lang="nl-BE" smtClean="0"/>
              <a:pPr>
                <a:spcAft>
                  <a:spcPts val="600"/>
                </a:spcAft>
              </a:pPr>
              <a:t>6</a:t>
            </a:fld>
            <a:endParaRPr lang="nl-B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515937" y="304419"/>
            <a:ext cx="5580063" cy="1116012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installation: </a:t>
            </a:r>
            <a:r>
              <a:rPr lang="en-US" noProof="0" dirty="0" err="1"/>
              <a:t>cmder</a:t>
            </a:r>
            <a:endParaRPr lang="en-US" noProof="0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5580064" cy="4716463"/>
          </a:xfrm>
        </p:spPr>
        <p:txBody>
          <a:bodyPr>
            <a:normAutofit/>
          </a:bodyPr>
          <a:lstStyle/>
          <a:p>
            <a:r>
              <a:rPr lang="en-US" noProof="0" dirty="0"/>
              <a:t>React Vite</a:t>
            </a:r>
          </a:p>
          <a:p>
            <a:pPr marL="355600" lvl="1" indent="0">
              <a:buNone/>
            </a:pPr>
            <a:r>
              <a:rPr lang="en-US" noProof="0" dirty="0"/>
              <a:t>= command line interface for </a:t>
            </a:r>
            <a:r>
              <a:rPr lang="en-US" dirty="0"/>
              <a:t>R</a:t>
            </a:r>
            <a:r>
              <a:rPr lang="en-US" noProof="0" dirty="0" err="1"/>
              <a:t>eact</a:t>
            </a:r>
            <a:endParaRPr lang="en-US" noProof="0" dirty="0"/>
          </a:p>
          <a:p>
            <a:pPr marL="355600" lvl="1" indent="0">
              <a:buNone/>
            </a:pPr>
            <a:r>
              <a:rPr lang="en-US" dirty="0"/>
              <a:t>Very convenient to create projects, </a:t>
            </a:r>
            <a:r>
              <a:rPr lang="en-US" noProof="0" dirty="0"/>
              <a:t>…</a:t>
            </a:r>
          </a:p>
          <a:p>
            <a:endParaRPr lang="en-US" noProof="0" dirty="0"/>
          </a:p>
          <a:p>
            <a:r>
              <a:rPr lang="en-US" dirty="0"/>
              <a:t>Runs in terminal but standard windows terminal (</a:t>
            </a:r>
            <a:r>
              <a:rPr lang="en-US" dirty="0" err="1"/>
              <a:t>cmd</a:t>
            </a:r>
            <a:r>
              <a:rPr lang="en-US" dirty="0"/>
              <a:t>) not so handy</a:t>
            </a:r>
          </a:p>
          <a:p>
            <a:r>
              <a:rPr lang="en-US" noProof="0" dirty="0"/>
              <a:t>Install </a:t>
            </a:r>
            <a:r>
              <a:rPr lang="en-US" noProof="0" dirty="0" err="1"/>
              <a:t>cmder</a:t>
            </a:r>
            <a:r>
              <a:rPr lang="en-US" noProof="0" dirty="0"/>
              <a:t> (full version) at </a:t>
            </a:r>
            <a:br>
              <a:rPr lang="en-US" noProof="0" dirty="0"/>
            </a:br>
            <a:r>
              <a:rPr lang="en-US" noProof="0" dirty="0">
                <a:hlinkClick r:id="rId3"/>
              </a:rPr>
              <a:t>http://cmder.app/</a:t>
            </a:r>
            <a:endParaRPr lang="en-US" noProof="0" dirty="0"/>
          </a:p>
          <a:p>
            <a:pPr>
              <a:buFont typeface="Symbol" panose="05050102010706020507" pitchFamily="18" charset="2"/>
              <a:buChar char="Þ"/>
            </a:pPr>
            <a:endParaRPr lang="en-US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4294967295"/>
          </p:nvPr>
        </p:nvSpPr>
        <p:spPr>
          <a:xfrm>
            <a:off x="515936" y="6468675"/>
            <a:ext cx="7250677" cy="27699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nl-BE"/>
              <a:t>GUI design</a:t>
            </a:r>
          </a:p>
        </p:txBody>
      </p:sp>
    </p:spTree>
    <p:extLst>
      <p:ext uri="{BB962C8B-B14F-4D97-AF65-F5344CB8AC3E}">
        <p14:creationId xmlns:p14="http://schemas.microsoft.com/office/powerpoint/2010/main" val="1943318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C30BD-1850-3D8C-0C64-70B32C11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Create new Project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E354231-3B92-5A18-0001-91206A01786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C48CDA5-C437-DFD7-2C12-D31B859B645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335636"/>
            <a:ext cx="11160127" cy="4716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 </a:t>
            </a:r>
            <a:r>
              <a:rPr lang="nl-NL" dirty="0" err="1"/>
              <a:t>cmder</a:t>
            </a:r>
            <a:r>
              <a:rPr lang="nl-NL" dirty="0"/>
              <a:t> enter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following</a:t>
            </a:r>
            <a:r>
              <a:rPr lang="nl-NL" dirty="0"/>
              <a:t> </a:t>
            </a:r>
            <a:r>
              <a:rPr lang="nl-NL" dirty="0" err="1"/>
              <a:t>commands</a:t>
            </a:r>
            <a:r>
              <a:rPr lang="nl-NL" dirty="0"/>
              <a:t>:</a:t>
            </a:r>
          </a:p>
          <a:p>
            <a:br>
              <a:rPr lang="nl-NL" dirty="0"/>
            </a:b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npm</a:t>
            </a:r>
            <a:r>
              <a:rPr lang="nl-NL" dirty="0"/>
              <a:t> </a:t>
            </a:r>
            <a:r>
              <a:rPr lang="nl-NL" dirty="0" err="1"/>
              <a:t>suggests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install</a:t>
            </a:r>
            <a:r>
              <a:rPr lang="nl-NL" dirty="0"/>
              <a:t> an extra package </a:t>
            </a:r>
            <a:r>
              <a:rPr lang="nl-NL" dirty="0" err="1"/>
              <a:t>create-vite</a:t>
            </a:r>
            <a:r>
              <a:rPr lang="nl-NL" dirty="0"/>
              <a:t> =&gt; </a:t>
            </a:r>
            <a:r>
              <a:rPr lang="nl-NL" dirty="0" err="1"/>
              <a:t>choose</a:t>
            </a:r>
            <a:r>
              <a:rPr lang="nl-NL" dirty="0"/>
              <a:t> ‘y’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Fill</a:t>
            </a:r>
            <a:r>
              <a:rPr lang="nl-NL" dirty="0"/>
              <a:t> in project name and select </a:t>
            </a:r>
            <a:br>
              <a:rPr lang="nl-NL" dirty="0"/>
            </a:br>
            <a:r>
              <a:rPr lang="nl-NL" dirty="0"/>
              <a:t>React framework: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6" name="Afgeronde rechthoek 7">
            <a:extLst>
              <a:ext uri="{FF2B5EF4-FFF2-40B4-BE49-F238E27FC236}">
                <a16:creationId xmlns:a16="http://schemas.microsoft.com/office/drawing/2014/main" id="{FFB6A28F-E3F7-4181-C46F-5CFCE34A463B}"/>
              </a:ext>
            </a:extLst>
          </p:cNvPr>
          <p:cNvSpPr/>
          <p:nvPr/>
        </p:nvSpPr>
        <p:spPr>
          <a:xfrm>
            <a:off x="6503244" y="1097261"/>
            <a:ext cx="4773510" cy="919401"/>
          </a:xfrm>
          <a:prstGeom prst="roundRect">
            <a:avLst/>
          </a:prstGeom>
          <a:ln>
            <a:solidFill>
              <a:srgbClr val="00A0A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&gt; cd [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ToWorkingDir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create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vite@latest</a:t>
            </a:r>
            <a:endParaRPr lang="nl-BE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9F29EB5-9597-0AB4-4A3F-A522D902D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54" y="2755502"/>
            <a:ext cx="4904607" cy="855929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505625B3-4955-4584-2E95-33B1906D4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703" y="3778774"/>
            <a:ext cx="6575564" cy="298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2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12BD9-C7EB-B495-68AD-072AD459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65D23C-A691-D6AB-A11E-F98B00B1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31931"/>
            <a:ext cx="11160125" cy="1116012"/>
          </a:xfrm>
        </p:spPr>
        <p:txBody>
          <a:bodyPr/>
          <a:lstStyle/>
          <a:p>
            <a:r>
              <a:rPr lang="en-US" noProof="0" dirty="0"/>
              <a:t>Create new Project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7EE39E-DE91-F98E-A2BD-C58232596B2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E108D50-BEC6-B3BB-BE3A-AC4DB12CF67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335636"/>
            <a:ext cx="11160127" cy="4716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Finally</a:t>
            </a:r>
            <a:r>
              <a:rPr lang="nl-NL" dirty="0"/>
              <a:t>,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JavaScript variant, select no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question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beta</a:t>
            </a:r>
            <a:r>
              <a:rPr lang="nl-NL" dirty="0"/>
              <a:t> </a:t>
            </a:r>
            <a:r>
              <a:rPr lang="nl-NL" dirty="0" err="1"/>
              <a:t>version</a:t>
            </a:r>
            <a:r>
              <a:rPr lang="nl-NL" dirty="0"/>
              <a:t> </a:t>
            </a:r>
            <a:r>
              <a:rPr lang="nl-NL" dirty="0" err="1"/>
              <a:t>usage</a:t>
            </a:r>
            <a:r>
              <a:rPr lang="nl-NL" dirty="0"/>
              <a:t> and yes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npm</a:t>
            </a:r>
            <a:r>
              <a:rPr lang="nl-NL" dirty="0"/>
              <a:t> </a:t>
            </a:r>
            <a:r>
              <a:rPr lang="nl-NL" dirty="0" err="1"/>
              <a:t>install</a:t>
            </a: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install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necessary</a:t>
            </a:r>
            <a:r>
              <a:rPr lang="nl-NL" dirty="0"/>
              <a:t> </a:t>
            </a:r>
            <a:r>
              <a:rPr lang="nl-NL" dirty="0" err="1"/>
              <a:t>build</a:t>
            </a:r>
            <a:r>
              <a:rPr lang="nl-NL" dirty="0"/>
              <a:t>-in packages for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newly</a:t>
            </a:r>
            <a:r>
              <a:rPr lang="nl-NL" dirty="0"/>
              <a:t> </a:t>
            </a:r>
            <a:r>
              <a:rPr lang="nl-NL" dirty="0" err="1"/>
              <a:t>created</a:t>
            </a:r>
            <a:r>
              <a:rPr lang="nl-NL" dirty="0"/>
              <a:t> project, run: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br>
              <a:rPr lang="nl-NL" dirty="0"/>
            </a:br>
            <a:endParaRPr lang="nl-NL" dirty="0"/>
          </a:p>
        </p:txBody>
      </p:sp>
      <p:sp>
        <p:nvSpPr>
          <p:cNvPr id="6" name="Afgeronde rechthoek 7">
            <a:extLst>
              <a:ext uri="{FF2B5EF4-FFF2-40B4-BE49-F238E27FC236}">
                <a16:creationId xmlns:a16="http://schemas.microsoft.com/office/drawing/2014/main" id="{2FB16BDB-F398-969E-9455-24B911EEF648}"/>
              </a:ext>
            </a:extLst>
          </p:cNvPr>
          <p:cNvSpPr/>
          <p:nvPr/>
        </p:nvSpPr>
        <p:spPr>
          <a:xfrm>
            <a:off x="907384" y="5099518"/>
            <a:ext cx="4773510" cy="1328023"/>
          </a:xfrm>
          <a:prstGeom prst="roundRect">
            <a:avLst/>
          </a:prstGeom>
          <a:ln>
            <a:solidFill>
              <a:srgbClr val="00A0A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&gt; cd [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projectName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endParaRPr lang="nl-BE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 run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dev</a:t>
            </a:r>
            <a:endParaRPr lang="nl-BE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E22323F-B8FC-FFC1-6663-F1DA92771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84" y="2155261"/>
            <a:ext cx="3423319" cy="2031596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146F5F8F-3352-7C26-7999-102CB8AE74FF}"/>
              </a:ext>
            </a:extLst>
          </p:cNvPr>
          <p:cNvSpPr/>
          <p:nvPr/>
        </p:nvSpPr>
        <p:spPr>
          <a:xfrm>
            <a:off x="6187202" y="4988787"/>
            <a:ext cx="45485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000" dirty="0" err="1">
                <a:solidFill>
                  <a:srgbClr val="F04619"/>
                </a:solidFill>
              </a:rPr>
              <a:t>launches</a:t>
            </a:r>
            <a:r>
              <a:rPr lang="nl-BE" sz="2000" dirty="0">
                <a:solidFill>
                  <a:srgbClr val="F04619"/>
                </a:solidFill>
              </a:rPr>
              <a:t> a webserver, </a:t>
            </a:r>
            <a:r>
              <a:rPr lang="nl-BE" sz="2000" dirty="0" err="1">
                <a:solidFill>
                  <a:srgbClr val="F04619"/>
                </a:solidFill>
              </a:rPr>
              <a:t>watches</a:t>
            </a:r>
            <a:r>
              <a:rPr lang="nl-BE" sz="2000" dirty="0">
                <a:solidFill>
                  <a:srgbClr val="F04619"/>
                </a:solidFill>
              </a:rPr>
              <a:t> </a:t>
            </a:r>
            <a:r>
              <a:rPr lang="nl-BE" sz="2000" dirty="0" err="1">
                <a:solidFill>
                  <a:srgbClr val="F04619"/>
                </a:solidFill>
              </a:rPr>
              <a:t>your</a:t>
            </a:r>
            <a:r>
              <a:rPr lang="nl-BE" sz="2000" dirty="0">
                <a:solidFill>
                  <a:srgbClr val="F04619"/>
                </a:solidFill>
              </a:rPr>
              <a:t> files and </a:t>
            </a:r>
            <a:r>
              <a:rPr lang="nl-BE" sz="2000" dirty="0" err="1">
                <a:solidFill>
                  <a:srgbClr val="F04619"/>
                </a:solidFill>
              </a:rPr>
              <a:t>rebuilds</a:t>
            </a:r>
            <a:r>
              <a:rPr lang="nl-BE" sz="2000" dirty="0">
                <a:solidFill>
                  <a:srgbClr val="F04619"/>
                </a:solidFill>
              </a:rPr>
              <a:t> </a:t>
            </a:r>
            <a:r>
              <a:rPr lang="nl-BE" sz="2000" dirty="0" err="1">
                <a:solidFill>
                  <a:srgbClr val="F04619"/>
                </a:solidFill>
              </a:rPr>
              <a:t>the</a:t>
            </a:r>
            <a:r>
              <a:rPr lang="nl-BE" sz="2000" dirty="0">
                <a:solidFill>
                  <a:srgbClr val="F04619"/>
                </a:solidFill>
              </a:rPr>
              <a:t> app as </a:t>
            </a:r>
            <a:r>
              <a:rPr lang="nl-BE" sz="2000" dirty="0" err="1">
                <a:solidFill>
                  <a:srgbClr val="F04619"/>
                </a:solidFill>
              </a:rPr>
              <a:t>you</a:t>
            </a:r>
            <a:r>
              <a:rPr lang="nl-BE" sz="2000" dirty="0">
                <a:solidFill>
                  <a:srgbClr val="F04619"/>
                </a:solidFill>
              </a:rPr>
              <a:t> make changes </a:t>
            </a:r>
            <a:r>
              <a:rPr lang="nl-BE" sz="2000" dirty="0" err="1">
                <a:solidFill>
                  <a:srgbClr val="F04619"/>
                </a:solidFill>
              </a:rPr>
              <a:t>to</a:t>
            </a:r>
            <a:r>
              <a:rPr lang="nl-BE" sz="2000" dirty="0">
                <a:solidFill>
                  <a:srgbClr val="F04619"/>
                </a:solidFill>
              </a:rPr>
              <a:t> </a:t>
            </a:r>
            <a:r>
              <a:rPr lang="nl-BE" sz="2000" dirty="0" err="1">
                <a:solidFill>
                  <a:srgbClr val="F04619"/>
                </a:solidFill>
              </a:rPr>
              <a:t>those</a:t>
            </a:r>
            <a:r>
              <a:rPr lang="nl-BE" sz="2000" dirty="0">
                <a:solidFill>
                  <a:srgbClr val="F04619"/>
                </a:solidFill>
              </a:rPr>
              <a:t> files</a:t>
            </a:r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5BCAC432-8F96-6923-B774-5784BC779531}"/>
              </a:ext>
            </a:extLst>
          </p:cNvPr>
          <p:cNvCxnSpPr>
            <a:cxnSpLocks/>
          </p:cNvCxnSpPr>
          <p:nvPr/>
        </p:nvCxnSpPr>
        <p:spPr>
          <a:xfrm flipV="1">
            <a:off x="3519577" y="5567838"/>
            <a:ext cx="2667625" cy="57195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5CF5A8F3-D196-7C10-B9EF-E7EB68D545C4}"/>
              </a:ext>
            </a:extLst>
          </p:cNvPr>
          <p:cNvSpPr txBox="1"/>
          <p:nvPr/>
        </p:nvSpPr>
        <p:spPr>
          <a:xfrm>
            <a:off x="6187202" y="6227486"/>
            <a:ext cx="47601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/>
              <a:t>Now surf to http://localhost:</a:t>
            </a:r>
            <a:r>
              <a:rPr lang="en-US" sz="2000" b="1" dirty="0"/>
              <a:t>5173</a:t>
            </a:r>
            <a:r>
              <a:rPr lang="en-US" sz="2000" b="1" noProof="0" dirty="0"/>
              <a:t> </a:t>
            </a:r>
            <a:endParaRPr lang="nl-BE" sz="2000" b="1" dirty="0"/>
          </a:p>
        </p:txBody>
      </p:sp>
    </p:spTree>
    <p:extLst>
      <p:ext uri="{BB962C8B-B14F-4D97-AF65-F5344CB8AC3E}">
        <p14:creationId xmlns:p14="http://schemas.microsoft.com/office/powerpoint/2010/main" val="1949991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2E81CC-2544-D522-3A4A-EC398DB6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Project </a:t>
            </a:r>
            <a:r>
              <a:rPr lang="nl-NL" dirty="0" err="1"/>
              <a:t>structure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67ECEC2-B062-0099-9C95-BF985867055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876E747-7626-1ABE-0FE2-2E9231F013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node_modules</a:t>
            </a:r>
            <a:r>
              <a:rPr lang="en-US" dirty="0"/>
              <a:t>: all locally installed node modules </a:t>
            </a:r>
            <a:br>
              <a:rPr lang="en-US" dirty="0"/>
            </a:br>
            <a:r>
              <a:rPr lang="en-US" dirty="0"/>
              <a:t>                          (</a:t>
            </a:r>
            <a:r>
              <a:rPr lang="en-US" dirty="0" err="1"/>
              <a:t>npm</a:t>
            </a:r>
            <a:r>
              <a:rPr lang="en-US" dirty="0"/>
              <a:t> install)</a:t>
            </a:r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assets:  extra parts of the website such as images, …</a:t>
            </a:r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index.html:  start page of the app, does not need to be changed</a:t>
            </a:r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package.json</a:t>
            </a:r>
            <a:r>
              <a:rPr lang="en-US" dirty="0"/>
              <a:t>: contains versions for all packages </a:t>
            </a:r>
            <a:br>
              <a:rPr lang="en-US" dirty="0"/>
            </a:br>
            <a:r>
              <a:rPr lang="en-US" dirty="0"/>
              <a:t>                        used in the project</a:t>
            </a:r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FDA7502-83B5-14F7-7518-677862A0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904" y="306804"/>
            <a:ext cx="2662074" cy="6457758"/>
          </a:xfrm>
          <a:prstGeom prst="rect">
            <a:avLst/>
          </a:prstGeom>
        </p:spPr>
      </p:pic>
      <p:sp>
        <p:nvSpPr>
          <p:cNvPr id="7" name="Tijdelijke aanduiding voor inhoud 1">
            <a:extLst>
              <a:ext uri="{FF2B5EF4-FFF2-40B4-BE49-F238E27FC236}">
                <a16:creationId xmlns:a16="http://schemas.microsoft.com/office/drawing/2014/main" id="{02AC79D8-8F1C-B9A7-A3BE-0FC5F0E0A106}"/>
              </a:ext>
            </a:extLst>
          </p:cNvPr>
          <p:cNvSpPr txBox="1">
            <a:spLocks/>
          </p:cNvSpPr>
          <p:nvPr/>
        </p:nvSpPr>
        <p:spPr>
          <a:xfrm>
            <a:off x="922867" y="1333543"/>
            <a:ext cx="7236296" cy="493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1200"/>
              </a:spcBef>
            </a:pPr>
            <a:endParaRPr lang="en-US" dirty="0"/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A7D1AE00-66EB-7D23-1D57-B2B6DFA31DF4}"/>
              </a:ext>
            </a:extLst>
          </p:cNvPr>
          <p:cNvCxnSpPr/>
          <p:nvPr/>
        </p:nvCxnSpPr>
        <p:spPr>
          <a:xfrm>
            <a:off x="8818481" y="869717"/>
            <a:ext cx="435304" cy="0"/>
          </a:xfrm>
          <a:prstGeom prst="straightConnector1">
            <a:avLst/>
          </a:prstGeom>
          <a:ln w="28575">
            <a:solidFill>
              <a:srgbClr val="003C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DCA8651C-4D56-BCAC-5353-0821116035AF}"/>
              </a:ext>
            </a:extLst>
          </p:cNvPr>
          <p:cNvCxnSpPr/>
          <p:nvPr/>
        </p:nvCxnSpPr>
        <p:spPr>
          <a:xfrm>
            <a:off x="8818481" y="2026202"/>
            <a:ext cx="435304" cy="0"/>
          </a:xfrm>
          <a:prstGeom prst="straightConnector1">
            <a:avLst/>
          </a:prstGeom>
          <a:ln w="28575">
            <a:solidFill>
              <a:srgbClr val="003C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89721117-DE12-7DD0-EEFB-DB3A5057C25F}"/>
              </a:ext>
            </a:extLst>
          </p:cNvPr>
          <p:cNvCxnSpPr/>
          <p:nvPr/>
        </p:nvCxnSpPr>
        <p:spPr>
          <a:xfrm>
            <a:off x="8790070" y="4871994"/>
            <a:ext cx="435304" cy="0"/>
          </a:xfrm>
          <a:prstGeom prst="straightConnector1">
            <a:avLst/>
          </a:prstGeom>
          <a:ln w="28575">
            <a:solidFill>
              <a:srgbClr val="003C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DB560E58-A7F5-827C-C4C2-F79978AF95F8}"/>
              </a:ext>
            </a:extLst>
          </p:cNvPr>
          <p:cNvCxnSpPr/>
          <p:nvPr/>
        </p:nvCxnSpPr>
        <p:spPr>
          <a:xfrm>
            <a:off x="8818481" y="5710976"/>
            <a:ext cx="435304" cy="0"/>
          </a:xfrm>
          <a:prstGeom prst="straightConnector1">
            <a:avLst/>
          </a:prstGeom>
          <a:ln w="28575">
            <a:solidFill>
              <a:srgbClr val="003C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80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A79A6B-6FC8-38BA-4343-22115B9F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NL" dirty="0"/>
              <a:t>Demo project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9237C1-4D34-4C2A-0445-B454E70AA9C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10</a:t>
            </a:fld>
            <a:endParaRPr lang="en-BE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7623103-F9AE-3423-018A-B7B68234D3E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r>
              <a:rPr lang="en-US" dirty="0"/>
              <a:t>Find “count is 0” in index.html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83E7539B-DA46-CA01-E9F4-813AD9C1A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30" y="2600891"/>
            <a:ext cx="6738762" cy="277222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2FEF3F1-58DE-E37A-9998-C9C539FC49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7685"/>
          <a:stretch/>
        </p:blipFill>
        <p:spPr>
          <a:xfrm>
            <a:off x="6353973" y="1628775"/>
            <a:ext cx="5322092" cy="471646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7D5487D5-BC63-AA28-2C20-B8327C814460}"/>
              </a:ext>
            </a:extLst>
          </p:cNvPr>
          <p:cNvSpPr txBox="1"/>
          <p:nvPr/>
        </p:nvSpPr>
        <p:spPr>
          <a:xfrm>
            <a:off x="649964" y="5630250"/>
            <a:ext cx="42435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is filled by the </a:t>
            </a:r>
            <a:r>
              <a:rPr lang="en-US" dirty="0" err="1">
                <a:solidFill>
                  <a:srgbClr val="EC4B2F"/>
                </a:solidFill>
              </a:rPr>
              <a:t>App.jsx</a:t>
            </a:r>
            <a:r>
              <a:rPr lang="en-US" dirty="0">
                <a:solidFill>
                  <a:srgbClr val="EC4B2F"/>
                </a:solidFill>
              </a:rPr>
              <a:t> component with its own html template</a:t>
            </a:r>
            <a:endParaRPr lang="nl-BE" dirty="0">
              <a:solidFill>
                <a:srgbClr val="EC4B2F"/>
              </a:solidFill>
            </a:endParaRP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B035D665-CA22-BDE4-0984-BF05EC53A22D}"/>
              </a:ext>
            </a:extLst>
          </p:cNvPr>
          <p:cNvSpPr/>
          <p:nvPr/>
        </p:nvSpPr>
        <p:spPr>
          <a:xfrm>
            <a:off x="1217084" y="4478316"/>
            <a:ext cx="1767416" cy="380585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1ADE6847-270F-A2C6-6DF6-74298D9C6665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2100792" y="4858901"/>
            <a:ext cx="111125" cy="748278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al 14">
            <a:extLst>
              <a:ext uri="{FF2B5EF4-FFF2-40B4-BE49-F238E27FC236}">
                <a16:creationId xmlns:a16="http://schemas.microsoft.com/office/drawing/2014/main" id="{3FDAAA1E-9744-42B5-3E9C-CB8FF98F1F0D}"/>
              </a:ext>
            </a:extLst>
          </p:cNvPr>
          <p:cNvSpPr/>
          <p:nvPr/>
        </p:nvSpPr>
        <p:spPr>
          <a:xfrm>
            <a:off x="8042910" y="5179478"/>
            <a:ext cx="1944217" cy="450772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978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Tijdelijke aanduiding voor inhoud 5">
            <a:extLst>
              <a:ext uri="{FF2B5EF4-FFF2-40B4-BE49-F238E27FC236}">
                <a16:creationId xmlns:a16="http://schemas.microsoft.com/office/drawing/2014/main" id="{7B1C908D-71DD-8041-25C0-1139C7847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4060" y="1284719"/>
            <a:ext cx="4458428" cy="3600449"/>
          </a:xfrm>
          <a:prstGeom prst="roundRect">
            <a:avLst>
              <a:gd name="adj" fmla="val 0"/>
            </a:avLst>
          </a:prstGeom>
          <a:noFill/>
          <a:ln>
            <a:solidFill>
              <a:srgbClr val="000000"/>
            </a:solidFill>
          </a:ln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D00A1068-6406-777F-B24F-7D1159F24E01}"/>
              </a:ext>
            </a:extLst>
          </p:cNvPr>
          <p:cNvSpPr txBox="1"/>
          <p:nvPr/>
        </p:nvSpPr>
        <p:spPr>
          <a:xfrm>
            <a:off x="5837477" y="5096933"/>
            <a:ext cx="5322089" cy="145664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23850" indent="-32385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2800">
                <a:solidFill>
                  <a:srgbClr val="000000"/>
                </a:solidFill>
                <a:latin typeface="Trebuchet MS" pitchFamily="34" charset="0"/>
              </a:defRPr>
            </a:lvl1pPr>
            <a:lvl2pPr marL="723900" indent="-3683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>
                <a:solidFill>
                  <a:srgbClr val="000000"/>
                </a:solidFill>
                <a:latin typeface="Trebuchet MS" pitchFamily="34" charset="0"/>
              </a:defRPr>
            </a:lvl2pPr>
            <a:lvl3pPr marL="982663" indent="-258763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>
                <a:solidFill>
                  <a:srgbClr val="000000"/>
                </a:solidFill>
                <a:latin typeface="Trebuchet MS" pitchFamily="34" charset="0"/>
              </a:defRPr>
            </a:lvl3pPr>
            <a:lvl4pPr marL="1255713" indent="-27305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>
                <a:solidFill>
                  <a:srgbClr val="000000"/>
                </a:solidFill>
                <a:latin typeface="Trebuchet MS" pitchFamily="34" charset="0"/>
              </a:defRPr>
            </a:lvl4pPr>
            <a:lvl5pPr marL="1609725" indent="-2587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>
                <a:solidFill>
                  <a:schemeClr val="accent4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</a:pPr>
            <a:r>
              <a:rPr lang="nl-BE" sz="2400" b="0" i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Pages are made up of </a:t>
            </a:r>
            <a:r>
              <a:rPr lang="nl-BE" sz="2400" b="0" i="0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components</a:t>
            </a:r>
            <a:endParaRPr lang="nl-BE" sz="2400" b="0" i="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</a:pPr>
            <a:r>
              <a:rPr lang="nl-BE" sz="2400" b="0" i="0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Reusable</a:t>
            </a:r>
            <a:endParaRPr lang="nl-BE" sz="2400" b="0" i="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</a:pPr>
            <a:r>
              <a:rPr lang="nl-BE" sz="2400" b="0" i="0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nl-BE" sz="2400" b="0" i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nl-BE" sz="2400" b="0" i="0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nl-BE" sz="2400" b="0" i="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nl-BE" sz="2400" b="0" i="0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nested</a:t>
            </a:r>
            <a:endParaRPr lang="nl-BE" sz="1500" b="0" i="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4F61C76-A949-7C9E-776A-EA13C282EC72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065397" y="6468675"/>
            <a:ext cx="610665" cy="276999"/>
          </a:xfrm>
        </p:spPr>
        <p:txBody>
          <a:bodyPr wrap="square" rIns="0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11</a:t>
            </a:fld>
            <a:endParaRPr lang="en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B28521-A250-760A-7320-0E452562F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vert="horz" lIns="90000" tIns="45720" rIns="90000" bIns="45720" rtlCol="0" anchor="ctr">
            <a:normAutofit/>
          </a:bodyPr>
          <a:lstStyle/>
          <a:p>
            <a:r>
              <a:rPr lang="en-US" noProof="0"/>
              <a:t>Architecture React app</a:t>
            </a:r>
            <a:endParaRPr lang="nl-BE" dirty="0"/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002C22A3-9CD6-CDFA-625D-45B4F3118D58}"/>
              </a:ext>
            </a:extLst>
          </p:cNvPr>
          <p:cNvGrpSpPr/>
          <p:nvPr/>
        </p:nvGrpSpPr>
        <p:grpSpPr>
          <a:xfrm>
            <a:off x="871544" y="1563460"/>
            <a:ext cx="4797339" cy="3976159"/>
            <a:chOff x="107504" y="1247324"/>
            <a:chExt cx="4824536" cy="3787414"/>
          </a:xfrm>
        </p:grpSpPr>
        <p:sp>
          <p:nvSpPr>
            <p:cNvPr id="6" name="Afgeronde rechthoek 7">
              <a:extLst>
                <a:ext uri="{FF2B5EF4-FFF2-40B4-BE49-F238E27FC236}">
                  <a16:creationId xmlns:a16="http://schemas.microsoft.com/office/drawing/2014/main" id="{EA0F5CDE-C47B-F20A-EE1F-78F6CE2AF221}"/>
                </a:ext>
              </a:extLst>
            </p:cNvPr>
            <p:cNvSpPr/>
            <p:nvPr/>
          </p:nvSpPr>
          <p:spPr>
            <a:xfrm>
              <a:off x="1591469" y="1387126"/>
              <a:ext cx="1584176" cy="943175"/>
            </a:xfrm>
            <a:prstGeom prst="roundRect">
              <a:avLst/>
            </a:prstGeom>
            <a:solidFill>
              <a:srgbClr val="EC4B2F"/>
            </a:solidFill>
            <a:ln>
              <a:solidFill>
                <a:srgbClr val="EC4B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8680">
                <a:spcAft>
                  <a:spcPts val="600"/>
                </a:spcAft>
              </a:pPr>
              <a:r>
                <a:rPr lang="nl-BE" sz="171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app component</a:t>
              </a:r>
              <a:endParaRPr lang="nl-BE"/>
            </a:p>
          </p:txBody>
        </p:sp>
        <p:sp>
          <p:nvSpPr>
            <p:cNvPr id="7" name="Afgeronde rechthoek 8">
              <a:extLst>
                <a:ext uri="{FF2B5EF4-FFF2-40B4-BE49-F238E27FC236}">
                  <a16:creationId xmlns:a16="http://schemas.microsoft.com/office/drawing/2014/main" id="{4807EBD1-2149-D316-798A-518FB537414D}"/>
                </a:ext>
              </a:extLst>
            </p:cNvPr>
            <p:cNvSpPr/>
            <p:nvPr/>
          </p:nvSpPr>
          <p:spPr>
            <a:xfrm>
              <a:off x="218964" y="2965334"/>
              <a:ext cx="1073224" cy="648157"/>
            </a:xfrm>
            <a:prstGeom prst="roundRect">
              <a:avLst/>
            </a:prstGeom>
            <a:solidFill>
              <a:srgbClr val="00A0AE"/>
            </a:solidFill>
            <a:ln>
              <a:solidFill>
                <a:srgbClr val="00A0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8680">
                <a:spcAft>
                  <a:spcPts val="600"/>
                </a:spcAft>
              </a:pPr>
              <a:r>
                <a:rPr lang="nl-BE" sz="1710" kern="120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Navbar</a:t>
              </a:r>
              <a:endParaRPr lang="nl-BE"/>
            </a:p>
          </p:txBody>
        </p:sp>
        <p:sp>
          <p:nvSpPr>
            <p:cNvPr id="8" name="Afgeronde rechthoek 10">
              <a:extLst>
                <a:ext uri="{FF2B5EF4-FFF2-40B4-BE49-F238E27FC236}">
                  <a16:creationId xmlns:a16="http://schemas.microsoft.com/office/drawing/2014/main" id="{95F4B19D-30EF-F56F-BB73-EC89326AEECB}"/>
                </a:ext>
              </a:extLst>
            </p:cNvPr>
            <p:cNvSpPr/>
            <p:nvPr/>
          </p:nvSpPr>
          <p:spPr>
            <a:xfrm>
              <a:off x="1792933" y="2946775"/>
              <a:ext cx="1181248" cy="648157"/>
            </a:xfrm>
            <a:prstGeom prst="roundRect">
              <a:avLst/>
            </a:prstGeom>
            <a:solidFill>
              <a:srgbClr val="00A0AE"/>
            </a:solidFill>
            <a:ln>
              <a:solidFill>
                <a:srgbClr val="00A0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8680">
                <a:spcAft>
                  <a:spcPts val="600"/>
                </a:spcAft>
              </a:pPr>
              <a:r>
                <a:rPr lang="nl-BE" sz="171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Courses</a:t>
              </a:r>
              <a:endParaRPr lang="nl-BE"/>
            </a:p>
          </p:txBody>
        </p:sp>
        <p:sp>
          <p:nvSpPr>
            <p:cNvPr id="9" name="Afgeronde rechthoek 11">
              <a:extLst>
                <a:ext uri="{FF2B5EF4-FFF2-40B4-BE49-F238E27FC236}">
                  <a16:creationId xmlns:a16="http://schemas.microsoft.com/office/drawing/2014/main" id="{3B7E7922-399D-53D6-83AD-5094F9826584}"/>
                </a:ext>
              </a:extLst>
            </p:cNvPr>
            <p:cNvSpPr/>
            <p:nvPr/>
          </p:nvSpPr>
          <p:spPr>
            <a:xfrm>
              <a:off x="3474926" y="2958903"/>
              <a:ext cx="1176300" cy="648157"/>
            </a:xfrm>
            <a:prstGeom prst="roundRect">
              <a:avLst/>
            </a:prstGeom>
            <a:solidFill>
              <a:srgbClr val="00A0AE"/>
            </a:solidFill>
            <a:ln>
              <a:solidFill>
                <a:srgbClr val="00A0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8680">
                <a:spcAft>
                  <a:spcPts val="600"/>
                </a:spcAft>
              </a:pPr>
              <a:r>
                <a:rPr lang="nl-BE" sz="171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Sidebar</a:t>
              </a:r>
              <a:endParaRPr lang="nl-BE"/>
            </a:p>
          </p:txBody>
        </p:sp>
        <p:sp>
          <p:nvSpPr>
            <p:cNvPr id="10" name="Afgeronde rechthoek 12">
              <a:extLst>
                <a:ext uri="{FF2B5EF4-FFF2-40B4-BE49-F238E27FC236}">
                  <a16:creationId xmlns:a16="http://schemas.microsoft.com/office/drawing/2014/main" id="{B1CAE830-467D-4EB1-A337-1F4CFD2219E5}"/>
                </a:ext>
              </a:extLst>
            </p:cNvPr>
            <p:cNvSpPr/>
            <p:nvPr/>
          </p:nvSpPr>
          <p:spPr>
            <a:xfrm>
              <a:off x="1792933" y="4149080"/>
              <a:ext cx="1181248" cy="648157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8680">
                <a:spcAft>
                  <a:spcPts val="600"/>
                </a:spcAft>
              </a:pPr>
              <a:r>
                <a:rPr lang="nl-BE" sz="171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Course</a:t>
              </a:r>
              <a:endParaRPr lang="nl-BE" dirty="0"/>
            </a:p>
          </p:txBody>
        </p: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772F88DE-CFF5-2A1E-FFD7-74F1657AF00A}"/>
                </a:ext>
              </a:extLst>
            </p:cNvPr>
            <p:cNvCxnSpPr/>
            <p:nvPr/>
          </p:nvCxnSpPr>
          <p:spPr>
            <a:xfrm flipH="1">
              <a:off x="1292188" y="2420010"/>
              <a:ext cx="831540" cy="454602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Rechte verbindingslijn 11">
              <a:extLst>
                <a:ext uri="{FF2B5EF4-FFF2-40B4-BE49-F238E27FC236}">
                  <a16:creationId xmlns:a16="http://schemas.microsoft.com/office/drawing/2014/main" id="{96CA0667-D583-99E2-1A83-3167866D4800}"/>
                </a:ext>
              </a:extLst>
            </p:cNvPr>
            <p:cNvCxnSpPr/>
            <p:nvPr/>
          </p:nvCxnSpPr>
          <p:spPr>
            <a:xfrm>
              <a:off x="2826855" y="2420010"/>
              <a:ext cx="831540" cy="454602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81AF8D39-8930-171A-76DA-B6D5BFC1DECA}"/>
                </a:ext>
              </a:extLst>
            </p:cNvPr>
            <p:cNvCxnSpPr/>
            <p:nvPr/>
          </p:nvCxnSpPr>
          <p:spPr>
            <a:xfrm>
              <a:off x="2411760" y="2420898"/>
              <a:ext cx="0" cy="426945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F5D3A09A-60B7-F2EC-6373-2A9A1792F7F6}"/>
                </a:ext>
              </a:extLst>
            </p:cNvPr>
            <p:cNvCxnSpPr/>
            <p:nvPr/>
          </p:nvCxnSpPr>
          <p:spPr>
            <a:xfrm>
              <a:off x="2390061" y="3650127"/>
              <a:ext cx="0" cy="426945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Afgeronde rechthoek 1">
              <a:extLst>
                <a:ext uri="{FF2B5EF4-FFF2-40B4-BE49-F238E27FC236}">
                  <a16:creationId xmlns:a16="http://schemas.microsoft.com/office/drawing/2014/main" id="{074F850F-3706-9A2A-1D6A-E16A4AEA6E8A}"/>
                </a:ext>
              </a:extLst>
            </p:cNvPr>
            <p:cNvSpPr/>
            <p:nvPr/>
          </p:nvSpPr>
          <p:spPr>
            <a:xfrm>
              <a:off x="107504" y="1247324"/>
              <a:ext cx="4824536" cy="3787414"/>
            </a:xfrm>
            <a:prstGeom prst="round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Afgeronde rechthoek 12">
            <a:extLst>
              <a:ext uri="{FF2B5EF4-FFF2-40B4-BE49-F238E27FC236}">
                <a16:creationId xmlns:a16="http://schemas.microsoft.com/office/drawing/2014/main" id="{6D2C3E89-01E7-85A4-D967-2AAF6574120D}"/>
              </a:ext>
            </a:extLst>
          </p:cNvPr>
          <p:cNvSpPr/>
          <p:nvPr/>
        </p:nvSpPr>
        <p:spPr>
          <a:xfrm>
            <a:off x="3931510" y="4615081"/>
            <a:ext cx="1174589" cy="680458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68680">
              <a:spcAft>
                <a:spcPts val="600"/>
              </a:spcAft>
            </a:pPr>
            <a:r>
              <a:rPr lang="nl-BE" sz="1710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Course</a:t>
            </a:r>
            <a:endParaRPr lang="nl-BE" dirty="0"/>
          </a:p>
        </p:txBody>
      </p:sp>
      <p:sp>
        <p:nvSpPr>
          <p:cNvPr id="18" name="Afgeronde rechthoek 12">
            <a:extLst>
              <a:ext uri="{FF2B5EF4-FFF2-40B4-BE49-F238E27FC236}">
                <a16:creationId xmlns:a16="http://schemas.microsoft.com/office/drawing/2014/main" id="{B14D95E0-9C3D-D66A-DD93-F1842A4D074A}"/>
              </a:ext>
            </a:extLst>
          </p:cNvPr>
          <p:cNvSpPr/>
          <p:nvPr/>
        </p:nvSpPr>
        <p:spPr>
          <a:xfrm>
            <a:off x="1191216" y="4580610"/>
            <a:ext cx="1174589" cy="680458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68680">
              <a:spcAft>
                <a:spcPts val="600"/>
              </a:spcAft>
            </a:pPr>
            <a:r>
              <a:rPr lang="nl-BE" sz="1710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Course</a:t>
            </a:r>
            <a:endParaRPr lang="nl-BE" dirty="0"/>
          </a:p>
        </p:txBody>
      </p: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42B812CB-A9BB-C506-7EC6-07A7F7FD9F3C}"/>
              </a:ext>
            </a:extLst>
          </p:cNvPr>
          <p:cNvCxnSpPr>
            <a:cxnSpLocks/>
          </p:cNvCxnSpPr>
          <p:nvPr/>
        </p:nvCxnSpPr>
        <p:spPr>
          <a:xfrm flipH="1">
            <a:off x="2113846" y="4103657"/>
            <a:ext cx="762556" cy="402305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932D3948-417A-56A3-4FB8-45F731B81E88}"/>
              </a:ext>
            </a:extLst>
          </p:cNvPr>
          <p:cNvCxnSpPr>
            <a:cxnSpLocks/>
          </p:cNvCxnSpPr>
          <p:nvPr/>
        </p:nvCxnSpPr>
        <p:spPr>
          <a:xfrm flipH="1" flipV="1">
            <a:off x="3444404" y="4106645"/>
            <a:ext cx="762556" cy="402305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03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15CA5F-084C-1F0D-2CB3-E2792CA1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?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400F7FE-E9BE-B23D-92DE-29C231EFF1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065CAD51-2C47-3D73-E090-5B534AAE466B}"/>
              </a:ext>
            </a:extLst>
          </p:cNvPr>
          <p:cNvSpPr txBox="1">
            <a:spLocks/>
          </p:cNvSpPr>
          <p:nvPr/>
        </p:nvSpPr>
        <p:spPr>
          <a:xfrm>
            <a:off x="8119536" y="1586321"/>
            <a:ext cx="4089400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>
                <a:solidFill>
                  <a:srgbClr val="F04619"/>
                </a:solidFill>
              </a:rPr>
              <a:t>Separation</a:t>
            </a:r>
            <a:r>
              <a:rPr lang="nl-NL" dirty="0">
                <a:solidFill>
                  <a:srgbClr val="F04619"/>
                </a:solidFill>
              </a:rPr>
              <a:t> of concerns</a:t>
            </a:r>
          </a:p>
          <a:p>
            <a:endParaRPr lang="nl-NL" dirty="0"/>
          </a:p>
          <a:p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Different </a:t>
            </a:r>
            <a:r>
              <a:rPr lang="nl-NL" dirty="0" err="1"/>
              <a:t>components</a:t>
            </a:r>
            <a:r>
              <a:rPr lang="nl-NL" dirty="0"/>
              <a:t> handle different data and logic:</a:t>
            </a:r>
          </a:p>
          <a:p>
            <a:pPr marL="702900" lvl="1" indent="-342900"/>
            <a:r>
              <a:rPr lang="nl-NL" dirty="0" err="1"/>
              <a:t>Some</a:t>
            </a:r>
            <a:r>
              <a:rPr lang="nl-NL" dirty="0"/>
              <a:t> are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show data</a:t>
            </a:r>
          </a:p>
          <a:p>
            <a:pPr marL="702900" lvl="1" indent="-342900"/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request data</a:t>
            </a:r>
          </a:p>
          <a:p>
            <a:pPr marL="702900" lvl="1" indent="-342900"/>
            <a:r>
              <a:rPr lang="nl-NL" dirty="0"/>
              <a:t>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Simplifies</a:t>
            </a:r>
            <a:r>
              <a:rPr lang="nl-NL" dirty="0"/>
              <a:t> </a:t>
            </a:r>
            <a:r>
              <a:rPr lang="nl-NL" dirty="0" err="1"/>
              <a:t>working</a:t>
            </a:r>
            <a:r>
              <a:rPr lang="nl-NL" dirty="0"/>
              <a:t> on complex apps</a:t>
            </a: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B5FA8F61-433F-C34D-6BB8-C502AC6A2F2D}"/>
              </a:ext>
            </a:extLst>
          </p:cNvPr>
          <p:cNvSpPr txBox="1">
            <a:spLocks/>
          </p:cNvSpPr>
          <p:nvPr/>
        </p:nvSpPr>
        <p:spPr>
          <a:xfrm>
            <a:off x="152135" y="1586321"/>
            <a:ext cx="3674797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>
                <a:solidFill>
                  <a:srgbClr val="7030A0"/>
                </a:solidFill>
              </a:rPr>
              <a:t>Reusable</a:t>
            </a:r>
            <a:r>
              <a:rPr lang="nl-NL" dirty="0">
                <a:solidFill>
                  <a:srgbClr val="7030A0"/>
                </a:solidFill>
              </a:rPr>
              <a:t> Building Blocks</a:t>
            </a:r>
          </a:p>
          <a:p>
            <a:endParaRPr lang="nl-NL" dirty="0"/>
          </a:p>
          <a:p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Compose</a:t>
            </a:r>
            <a:r>
              <a:rPr lang="nl-NL" dirty="0"/>
              <a:t> UI </a:t>
            </a:r>
            <a:r>
              <a:rPr lang="nl-NL" dirty="0" err="1"/>
              <a:t>from</a:t>
            </a:r>
            <a:r>
              <a:rPr lang="nl-NL" dirty="0"/>
              <a:t> small building </a:t>
            </a:r>
            <a:r>
              <a:rPr lang="nl-NL" dirty="0" err="1"/>
              <a:t>blocks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Reuse</a:t>
            </a:r>
            <a:r>
              <a:rPr lang="nl-NL" dirty="0"/>
              <a:t> building </a:t>
            </a:r>
            <a:r>
              <a:rPr lang="nl-NL" dirty="0" err="1"/>
              <a:t>blocks</a:t>
            </a:r>
            <a:r>
              <a:rPr lang="nl-NL" dirty="0"/>
              <a:t> in different </a:t>
            </a:r>
            <a:r>
              <a:rPr lang="nl-NL" dirty="0" err="1"/>
              <a:t>parts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UI (e.g. </a:t>
            </a:r>
            <a:r>
              <a:rPr lang="nl-NL" dirty="0" err="1"/>
              <a:t>reusable</a:t>
            </a:r>
            <a:r>
              <a:rPr lang="nl-NL" dirty="0"/>
              <a:t> button)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D2F06459-E9F9-67D2-626B-8FD2E2CA0626}"/>
              </a:ext>
            </a:extLst>
          </p:cNvPr>
          <p:cNvSpPr txBox="1">
            <a:spLocks/>
          </p:cNvSpPr>
          <p:nvPr/>
        </p:nvSpPr>
        <p:spPr>
          <a:xfrm>
            <a:off x="3928534" y="1586321"/>
            <a:ext cx="4089400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>
                <a:solidFill>
                  <a:srgbClr val="00B050"/>
                </a:solidFill>
              </a:rPr>
              <a:t>Related</a:t>
            </a:r>
            <a:r>
              <a:rPr lang="nl-NL" dirty="0">
                <a:solidFill>
                  <a:srgbClr val="00B050"/>
                </a:solidFill>
              </a:rPr>
              <a:t> code </a:t>
            </a:r>
            <a:r>
              <a:rPr lang="nl-NL" dirty="0" err="1">
                <a:solidFill>
                  <a:srgbClr val="00B050"/>
                </a:solidFill>
              </a:rPr>
              <a:t>lives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>
                <a:solidFill>
                  <a:srgbClr val="00B050"/>
                </a:solidFill>
              </a:rPr>
              <a:t>toghether</a:t>
            </a:r>
            <a:endParaRPr lang="nl-NL" dirty="0">
              <a:solidFill>
                <a:srgbClr val="00B050"/>
              </a:solidFill>
            </a:endParaRPr>
          </a:p>
          <a:p>
            <a:endParaRPr lang="nl-NL" dirty="0">
              <a:solidFill>
                <a:srgbClr val="00B050"/>
              </a:solidFill>
            </a:endParaRPr>
          </a:p>
          <a:p>
            <a:endParaRPr lang="nl-NL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rgbClr val="000A1E"/>
                </a:solidFill>
              </a:rPr>
              <a:t>Related</a:t>
            </a:r>
            <a:r>
              <a:rPr lang="nl-NL" dirty="0">
                <a:solidFill>
                  <a:srgbClr val="000A1E"/>
                </a:solidFill>
              </a:rPr>
              <a:t> HTML, JS and CSS are </a:t>
            </a:r>
            <a:r>
              <a:rPr lang="nl-NL" dirty="0" err="1">
                <a:solidFill>
                  <a:srgbClr val="000A1E"/>
                </a:solidFill>
              </a:rPr>
              <a:t>stored</a:t>
            </a:r>
            <a:r>
              <a:rPr lang="nl-NL" dirty="0">
                <a:solidFill>
                  <a:srgbClr val="000A1E"/>
                </a:solidFill>
              </a:rPr>
              <a:t> </a:t>
            </a:r>
            <a:r>
              <a:rPr lang="nl-NL" dirty="0" err="1">
                <a:solidFill>
                  <a:srgbClr val="000A1E"/>
                </a:solidFill>
              </a:rPr>
              <a:t>together</a:t>
            </a:r>
            <a:endParaRPr lang="nl-NL" dirty="0">
              <a:solidFill>
                <a:srgbClr val="000A1E"/>
              </a:solidFill>
            </a:endParaRPr>
          </a:p>
        </p:txBody>
      </p: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0B785B04-950A-EB05-DF04-523E93596181}"/>
              </a:ext>
            </a:extLst>
          </p:cNvPr>
          <p:cNvCxnSpPr/>
          <p:nvPr/>
        </p:nvCxnSpPr>
        <p:spPr>
          <a:xfrm>
            <a:off x="245533" y="2226733"/>
            <a:ext cx="34036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D48BA96E-79E5-CD4D-95E2-53A045D63229}"/>
              </a:ext>
            </a:extLst>
          </p:cNvPr>
          <p:cNvCxnSpPr/>
          <p:nvPr/>
        </p:nvCxnSpPr>
        <p:spPr>
          <a:xfrm>
            <a:off x="8212666" y="2226733"/>
            <a:ext cx="3403600" cy="0"/>
          </a:xfrm>
          <a:prstGeom prst="line">
            <a:avLst/>
          </a:prstGeom>
          <a:ln w="28575">
            <a:solidFill>
              <a:srgbClr val="FA64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4CAB6CB7-19A3-C560-8EB5-0199295C81A2}"/>
              </a:ext>
            </a:extLst>
          </p:cNvPr>
          <p:cNvCxnSpPr>
            <a:cxnSpLocks/>
          </p:cNvCxnSpPr>
          <p:nvPr/>
        </p:nvCxnSpPr>
        <p:spPr>
          <a:xfrm>
            <a:off x="4055533" y="2226733"/>
            <a:ext cx="3810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B54BC4A2-AD01-B7F1-A623-677016894066}"/>
              </a:ext>
            </a:extLst>
          </p:cNvPr>
          <p:cNvCxnSpPr/>
          <p:nvPr/>
        </p:nvCxnSpPr>
        <p:spPr>
          <a:xfrm>
            <a:off x="3826932" y="1586321"/>
            <a:ext cx="0" cy="45435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658138D4-22E8-FD40-608B-4BED09D557A4}"/>
              </a:ext>
            </a:extLst>
          </p:cNvPr>
          <p:cNvCxnSpPr/>
          <p:nvPr/>
        </p:nvCxnSpPr>
        <p:spPr>
          <a:xfrm>
            <a:off x="8034866" y="1518587"/>
            <a:ext cx="0" cy="45435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463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183CA3-C4BA-EA69-EBB4-6E8BFB33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Component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09FD0C6-8496-545E-6838-C1CFD616F66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AAC5B5C-4C39-C538-497E-26BB4AAAB62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69364" y="1628775"/>
            <a:ext cx="7333860" cy="4716463"/>
          </a:xfrm>
        </p:spPr>
        <p:txBody>
          <a:bodyPr>
            <a:normAutofit/>
          </a:bodyPr>
          <a:lstStyle/>
          <a:p>
            <a:r>
              <a:rPr lang="nl-NL" dirty="0"/>
              <a:t>	</a:t>
            </a:r>
            <a:r>
              <a:rPr lang="nl-NL" b="1" dirty="0"/>
              <a:t>Component is JS </a:t>
            </a:r>
            <a:r>
              <a:rPr lang="nl-NL" b="1" dirty="0" err="1"/>
              <a:t>function</a:t>
            </a:r>
            <a:r>
              <a:rPr lang="nl-NL" b="1" dirty="0"/>
              <a:t> </a:t>
            </a:r>
            <a:r>
              <a:rPr lang="nl-NL" b="1" dirty="0" err="1"/>
              <a:t>with</a:t>
            </a:r>
            <a:r>
              <a:rPr lang="nl-NL" dirty="0"/>
              <a:t>:</a:t>
            </a:r>
          </a:p>
          <a:p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name:</a:t>
            </a:r>
          </a:p>
          <a:p>
            <a:pPr marL="702900" lvl="1" indent="-342900"/>
            <a:r>
              <a:rPr lang="nl-NL" dirty="0"/>
              <a:t>must 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uppercase</a:t>
            </a:r>
            <a:r>
              <a:rPr lang="nl-NL" dirty="0"/>
              <a:t> (</a:t>
            </a:r>
            <a:r>
              <a:rPr lang="nl-NL" dirty="0" err="1"/>
              <a:t>needed</a:t>
            </a:r>
            <a:r>
              <a:rPr lang="nl-NL" dirty="0"/>
              <a:t> for React </a:t>
            </a:r>
            <a:r>
              <a:rPr lang="nl-NL" dirty="0" err="1"/>
              <a:t>to</a:t>
            </a:r>
            <a:r>
              <a:rPr lang="nl-NL" dirty="0"/>
              <a:t> make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difference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HTML </a:t>
            </a:r>
            <a:r>
              <a:rPr lang="nl-NL" dirty="0" err="1"/>
              <a:t>build</a:t>
            </a:r>
            <a:r>
              <a:rPr lang="nl-NL" dirty="0"/>
              <a:t>-in tags) </a:t>
            </a:r>
          </a:p>
          <a:p>
            <a:pPr marL="702900" lvl="1" indent="-342900"/>
            <a:r>
              <a:rPr lang="nl-NL" dirty="0" err="1"/>
              <a:t>multi</a:t>
            </a:r>
            <a:r>
              <a:rPr lang="nl-NL" dirty="0"/>
              <a:t>-word must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PascalCase</a:t>
            </a:r>
            <a:r>
              <a:rPr lang="nl-NL" dirty="0"/>
              <a:t> (e.g. “</a:t>
            </a:r>
            <a:r>
              <a:rPr lang="nl-NL" dirty="0" err="1"/>
              <a:t>AppHeader</a:t>
            </a:r>
            <a:r>
              <a:rPr lang="nl-NL" dirty="0"/>
              <a:t>”)</a:t>
            </a:r>
          </a:p>
          <a:p>
            <a:pPr marL="702900" lvl="1" indent="-342900"/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names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describe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UI building block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return:</a:t>
            </a:r>
          </a:p>
          <a:p>
            <a:pPr marL="702900" lvl="1" indent="-342900"/>
            <a:r>
              <a:rPr lang="nl-NL" dirty="0" err="1"/>
              <a:t>renderable</a:t>
            </a:r>
            <a:r>
              <a:rPr lang="nl-NL" dirty="0"/>
              <a:t> content:</a:t>
            </a:r>
          </a:p>
          <a:p>
            <a:pPr marL="1062900" lvl="2" indent="-342900"/>
            <a:r>
              <a:rPr lang="nl-NL" dirty="0"/>
              <a:t>JSX (Javascript XML)</a:t>
            </a:r>
          </a:p>
          <a:p>
            <a:pPr marL="1062900" lvl="2" indent="-342900"/>
            <a:r>
              <a:rPr lang="nl-NL" dirty="0"/>
              <a:t>String, </a:t>
            </a:r>
            <a:r>
              <a:rPr lang="nl-NL" dirty="0" err="1"/>
              <a:t>number</a:t>
            </a:r>
            <a:r>
              <a:rPr lang="nl-NL" dirty="0"/>
              <a:t>, </a:t>
            </a:r>
            <a:r>
              <a:rPr lang="nl-NL" dirty="0" err="1"/>
              <a:t>boolean</a:t>
            </a:r>
            <a:r>
              <a:rPr lang="nl-NL" dirty="0"/>
              <a:t>, </a:t>
            </a:r>
            <a:r>
              <a:rPr lang="nl-NL" dirty="0" err="1"/>
              <a:t>null</a:t>
            </a:r>
            <a:r>
              <a:rPr lang="nl-NL" dirty="0"/>
              <a:t>, array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C605DC40-9522-A8A8-E938-14565241F44D}"/>
              </a:ext>
            </a:extLst>
          </p:cNvPr>
          <p:cNvGrpSpPr/>
          <p:nvPr/>
        </p:nvGrpSpPr>
        <p:grpSpPr>
          <a:xfrm>
            <a:off x="1204530" y="2284073"/>
            <a:ext cx="2696854" cy="2289854"/>
            <a:chOff x="1363150" y="2132856"/>
            <a:chExt cx="2696854" cy="2289854"/>
          </a:xfrm>
        </p:grpSpPr>
        <p:grpSp>
          <p:nvGrpSpPr>
            <p:cNvPr id="11" name="Groep 10">
              <a:extLst>
                <a:ext uri="{FF2B5EF4-FFF2-40B4-BE49-F238E27FC236}">
                  <a16:creationId xmlns:a16="http://schemas.microsoft.com/office/drawing/2014/main" id="{B5F17490-C1D7-EDB0-0016-EB6B7EA6D8F3}"/>
                </a:ext>
              </a:extLst>
            </p:cNvPr>
            <p:cNvGrpSpPr/>
            <p:nvPr/>
          </p:nvGrpSpPr>
          <p:grpSpPr>
            <a:xfrm>
              <a:off x="1363150" y="2132856"/>
              <a:ext cx="2696854" cy="2289854"/>
              <a:chOff x="1613592" y="1324029"/>
              <a:chExt cx="2696854" cy="2289854"/>
            </a:xfrm>
          </p:grpSpPr>
          <p:sp>
            <p:nvSpPr>
              <p:cNvPr id="13" name="Afgeronde rechthoek 6">
                <a:extLst>
                  <a:ext uri="{FF2B5EF4-FFF2-40B4-BE49-F238E27FC236}">
                    <a16:creationId xmlns:a16="http://schemas.microsoft.com/office/drawing/2014/main" id="{74CD430B-E160-6459-B32E-FB92184D11B0}"/>
                  </a:ext>
                </a:extLst>
              </p:cNvPr>
              <p:cNvSpPr/>
              <p:nvPr/>
            </p:nvSpPr>
            <p:spPr>
              <a:xfrm>
                <a:off x="2212689" y="1324029"/>
                <a:ext cx="1584176" cy="672553"/>
              </a:xfrm>
              <a:prstGeom prst="roundRect">
                <a:avLst/>
              </a:prstGeom>
              <a:solidFill>
                <a:srgbClr val="EC4B2F"/>
              </a:solidFill>
              <a:ln>
                <a:solidFill>
                  <a:srgbClr val="EC4B2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dirty="0"/>
                  <a:t>component</a:t>
                </a:r>
              </a:p>
            </p:txBody>
          </p:sp>
          <p:cxnSp>
            <p:nvCxnSpPr>
              <p:cNvPr id="14" name="Rechte verbindingslijn 13">
                <a:extLst>
                  <a:ext uri="{FF2B5EF4-FFF2-40B4-BE49-F238E27FC236}">
                    <a16:creationId xmlns:a16="http://schemas.microsoft.com/office/drawing/2014/main" id="{E0CF514F-EA4E-7427-4F4E-B04F2806B190}"/>
                  </a:ext>
                </a:extLst>
              </p:cNvPr>
              <p:cNvCxnSpPr>
                <a:cxnSpLocks/>
                <a:stCxn id="13" idx="2"/>
              </p:cNvCxnSpPr>
              <p:nvPr/>
            </p:nvCxnSpPr>
            <p:spPr>
              <a:xfrm flipH="1">
                <a:off x="2212689" y="1996582"/>
                <a:ext cx="792088" cy="539096"/>
              </a:xfrm>
              <a:prstGeom prst="line">
                <a:avLst/>
              </a:prstGeom>
              <a:ln w="1270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Afgeronde rechthoek 13">
                <a:extLst>
                  <a:ext uri="{FF2B5EF4-FFF2-40B4-BE49-F238E27FC236}">
                    <a16:creationId xmlns:a16="http://schemas.microsoft.com/office/drawing/2014/main" id="{4ADF1A6D-C76F-BD2F-8723-98472A8C7C2E}"/>
                  </a:ext>
                </a:extLst>
              </p:cNvPr>
              <p:cNvSpPr/>
              <p:nvPr/>
            </p:nvSpPr>
            <p:spPr>
              <a:xfrm>
                <a:off x="1613592" y="2620173"/>
                <a:ext cx="1198194" cy="993710"/>
              </a:xfrm>
              <a:prstGeom prst="roundRect">
                <a:avLst/>
              </a:prstGeom>
              <a:solidFill>
                <a:srgbClr val="00A0AE"/>
              </a:solidFill>
              <a:ln>
                <a:solidFill>
                  <a:srgbClr val="00A0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1600" dirty="0"/>
                  <a:t>Logic and template</a:t>
                </a:r>
                <a:endParaRPr lang="nl-BE" sz="1100" dirty="0"/>
              </a:p>
              <a:p>
                <a:pPr algn="ctr"/>
                <a:r>
                  <a:rPr lang="nl-BE" sz="1100" dirty="0"/>
                  <a:t>JSX</a:t>
                </a:r>
              </a:p>
            </p:txBody>
          </p:sp>
          <p:sp>
            <p:nvSpPr>
              <p:cNvPr id="16" name="Afgeronde rechthoek 14">
                <a:extLst>
                  <a:ext uri="{FF2B5EF4-FFF2-40B4-BE49-F238E27FC236}">
                    <a16:creationId xmlns:a16="http://schemas.microsoft.com/office/drawing/2014/main" id="{CF2CAF90-BEEA-4D45-F7B0-F6A24F3BA5D9}"/>
                  </a:ext>
                </a:extLst>
              </p:cNvPr>
              <p:cNvSpPr/>
              <p:nvPr/>
            </p:nvSpPr>
            <p:spPr>
              <a:xfrm>
                <a:off x="3283283" y="2633117"/>
                <a:ext cx="1027163" cy="980766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1600" dirty="0"/>
                  <a:t>Style</a:t>
                </a:r>
                <a:endParaRPr lang="nl-BE" sz="1100" dirty="0"/>
              </a:p>
              <a:p>
                <a:pPr algn="ctr"/>
                <a:r>
                  <a:rPr lang="nl-BE" sz="1100" dirty="0"/>
                  <a:t>CSS</a:t>
                </a:r>
              </a:p>
            </p:txBody>
          </p:sp>
        </p:grpSp>
        <p:cxnSp>
          <p:nvCxnSpPr>
            <p:cNvPr id="12" name="Rechte verbindingslijn 11">
              <a:extLst>
                <a:ext uri="{FF2B5EF4-FFF2-40B4-BE49-F238E27FC236}">
                  <a16:creationId xmlns:a16="http://schemas.microsoft.com/office/drawing/2014/main" id="{0F23B222-0922-DD5D-3ECB-68D9993BE5B2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2754335" y="2805409"/>
              <a:ext cx="681978" cy="545568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4909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D78D-7E98-3FB6-87BA-AF2D27B96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368C0-13C3-BA57-9C6E-CF5E71FD3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NL" dirty="0"/>
              <a:t>Demo project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0DE1FD6-F575-EB30-1088-1F6B2D1447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14</a:t>
            </a:fld>
            <a:endParaRPr lang="en-BE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6FDD38E-B698-68DB-F6DA-AFB6D7BF38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r>
              <a:rPr lang="en-US" dirty="0"/>
              <a:t>“count is 0” can not be found in index.html !!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31C493E-E48E-A996-275E-FBCDC00B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30" y="2600891"/>
            <a:ext cx="6738762" cy="277222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4BE70D19-0EE6-E1D1-99A9-7F38D8C857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7685"/>
          <a:stretch/>
        </p:blipFill>
        <p:spPr>
          <a:xfrm>
            <a:off x="6353973" y="1628775"/>
            <a:ext cx="5322092" cy="471646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89B67E27-FB8F-F4CD-6E10-52F3A42EB53E}"/>
              </a:ext>
            </a:extLst>
          </p:cNvPr>
          <p:cNvSpPr txBox="1"/>
          <p:nvPr/>
        </p:nvSpPr>
        <p:spPr>
          <a:xfrm>
            <a:off x="2708813" y="5838813"/>
            <a:ext cx="25331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Includes </a:t>
            </a:r>
            <a:r>
              <a:rPr lang="en-US" dirty="0" err="1">
                <a:solidFill>
                  <a:srgbClr val="EC4B2F"/>
                </a:solidFill>
              </a:rPr>
              <a:t>main.jsx</a:t>
            </a:r>
            <a:r>
              <a:rPr lang="en-US" dirty="0">
                <a:solidFill>
                  <a:srgbClr val="EC4B2F"/>
                </a:solidFill>
              </a:rPr>
              <a:t> file</a:t>
            </a:r>
            <a:endParaRPr lang="nl-BE" dirty="0">
              <a:solidFill>
                <a:srgbClr val="EC4B2F"/>
              </a:solidFill>
            </a:endParaRP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3733092A-3818-E04B-E6E6-80EA8BA72E36}"/>
              </a:ext>
            </a:extLst>
          </p:cNvPr>
          <p:cNvSpPr/>
          <p:nvPr/>
        </p:nvSpPr>
        <p:spPr>
          <a:xfrm>
            <a:off x="2980570" y="4686272"/>
            <a:ext cx="1767416" cy="380585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49711418-760B-64F1-004D-5230E2C0972E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3864278" y="5066857"/>
            <a:ext cx="111125" cy="748278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al 14">
            <a:extLst>
              <a:ext uri="{FF2B5EF4-FFF2-40B4-BE49-F238E27FC236}">
                <a16:creationId xmlns:a16="http://schemas.microsoft.com/office/drawing/2014/main" id="{5432B797-5A57-8870-9311-022C94D4066A}"/>
              </a:ext>
            </a:extLst>
          </p:cNvPr>
          <p:cNvSpPr/>
          <p:nvPr/>
        </p:nvSpPr>
        <p:spPr>
          <a:xfrm>
            <a:off x="8042910" y="5179478"/>
            <a:ext cx="1944217" cy="450772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2796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A3543F-F59E-D6CB-7A25-B3A21F8E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Rendering</a:t>
            </a:r>
            <a:r>
              <a:rPr lang="nl-NL" dirty="0"/>
              <a:t> app component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646D728-B575-9CD0-2DAB-EF947E56E35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9499638-D694-8D01-AC8B-8C52BF177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49" y="1420431"/>
            <a:ext cx="6287377" cy="293410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E80A1F3C-DF45-B045-3919-5E39D7060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300" y="3970516"/>
            <a:ext cx="6738762" cy="2772229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0" name="Ovaal 9">
            <a:extLst>
              <a:ext uri="{FF2B5EF4-FFF2-40B4-BE49-F238E27FC236}">
                <a16:creationId xmlns:a16="http://schemas.microsoft.com/office/drawing/2014/main" id="{CA727581-A674-3D53-66CE-9EFCC1A7A413}"/>
              </a:ext>
            </a:extLst>
          </p:cNvPr>
          <p:cNvSpPr/>
          <p:nvPr/>
        </p:nvSpPr>
        <p:spPr>
          <a:xfrm>
            <a:off x="2488201" y="2978052"/>
            <a:ext cx="3500618" cy="380585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72E345DD-1956-FBD3-03A4-470612BE20F6}"/>
              </a:ext>
            </a:extLst>
          </p:cNvPr>
          <p:cNvCxnSpPr>
            <a:cxnSpLocks/>
          </p:cNvCxnSpPr>
          <p:nvPr/>
        </p:nvCxnSpPr>
        <p:spPr>
          <a:xfrm>
            <a:off x="4501662" y="6063108"/>
            <a:ext cx="1161865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E52168F2-306E-761A-0715-05D57648EE83}"/>
              </a:ext>
            </a:extLst>
          </p:cNvPr>
          <p:cNvCxnSpPr>
            <a:cxnSpLocks/>
          </p:cNvCxnSpPr>
          <p:nvPr/>
        </p:nvCxnSpPr>
        <p:spPr>
          <a:xfrm>
            <a:off x="6522212" y="2350777"/>
            <a:ext cx="0" cy="71771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DE06D609-F460-6D12-84D4-55CAFB0F463E}"/>
              </a:ext>
            </a:extLst>
          </p:cNvPr>
          <p:cNvCxnSpPr>
            <a:cxnSpLocks/>
          </p:cNvCxnSpPr>
          <p:nvPr/>
        </p:nvCxnSpPr>
        <p:spPr>
          <a:xfrm flipH="1">
            <a:off x="2954215" y="3717890"/>
            <a:ext cx="763675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kstvak 17">
            <a:extLst>
              <a:ext uri="{FF2B5EF4-FFF2-40B4-BE49-F238E27FC236}">
                <a16:creationId xmlns:a16="http://schemas.microsoft.com/office/drawing/2014/main" id="{0583B46B-7C1A-A362-8FA7-84741A3B56AB}"/>
              </a:ext>
            </a:extLst>
          </p:cNvPr>
          <p:cNvSpPr txBox="1"/>
          <p:nvPr/>
        </p:nvSpPr>
        <p:spPr>
          <a:xfrm>
            <a:off x="2069462" y="5858857"/>
            <a:ext cx="25331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Select div with id root</a:t>
            </a:r>
            <a:endParaRPr lang="nl-BE" dirty="0">
              <a:solidFill>
                <a:srgbClr val="EC4B2F"/>
              </a:solidFill>
            </a:endParaRP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CBE64EB3-1C94-A5C8-C066-718F49A76BF6}"/>
              </a:ext>
            </a:extLst>
          </p:cNvPr>
          <p:cNvSpPr txBox="1"/>
          <p:nvPr/>
        </p:nvSpPr>
        <p:spPr>
          <a:xfrm>
            <a:off x="6634959" y="2518153"/>
            <a:ext cx="534117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Use the renderer to render inside this element</a:t>
            </a:r>
            <a:endParaRPr lang="nl-BE" dirty="0">
              <a:solidFill>
                <a:srgbClr val="EC4B2F"/>
              </a:solidFill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A12594D8-E041-BABD-F0BD-F3BB9AFC2783}"/>
              </a:ext>
            </a:extLst>
          </p:cNvPr>
          <p:cNvSpPr txBox="1"/>
          <p:nvPr/>
        </p:nvSpPr>
        <p:spPr>
          <a:xfrm>
            <a:off x="3876323" y="3547311"/>
            <a:ext cx="264588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Call the App component</a:t>
            </a:r>
            <a:endParaRPr lang="nl-BE" dirty="0">
              <a:solidFill>
                <a:srgbClr val="EC4B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03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E8057-A137-C20A-96F1-ED44F72DE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App component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8C3B26E-2A00-EEF6-529F-75E6FC3F4AB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73D0820-300F-D223-360F-66EEAD96306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nl-NL" dirty="0"/>
              <a:t>App component is a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name: </a:t>
            </a:r>
          </a:p>
          <a:p>
            <a:r>
              <a:rPr lang="nl-NL" dirty="0"/>
              <a:t>	App</a:t>
            </a:r>
          </a:p>
          <a:p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return: </a:t>
            </a:r>
          </a:p>
          <a:p>
            <a:r>
              <a:rPr lang="nl-NL" dirty="0"/>
              <a:t>	HTML and JS code</a:t>
            </a:r>
          </a:p>
          <a:p>
            <a:r>
              <a:rPr lang="nl-NL" dirty="0"/>
              <a:t>	looks like HTML but is </a:t>
            </a:r>
            <a:r>
              <a:rPr lang="nl-NL" dirty="0" err="1"/>
              <a:t>not</a:t>
            </a:r>
            <a:r>
              <a:rPr lang="nl-NL" dirty="0"/>
              <a:t> </a:t>
            </a:r>
          </a:p>
          <a:p>
            <a:r>
              <a:rPr lang="nl-NL" dirty="0"/>
              <a:t>  	</a:t>
            </a:r>
            <a:r>
              <a:rPr lang="nl-NL" dirty="0" err="1"/>
              <a:t>always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!!</a:t>
            </a:r>
          </a:p>
          <a:p>
            <a:endParaRPr lang="nl-NL" dirty="0"/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A509E0E-6688-578A-026E-A1A03365F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959" y="96289"/>
            <a:ext cx="6200961" cy="666542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A826D59D-A322-D8CF-8841-941E8F73C25F}"/>
              </a:ext>
            </a:extLst>
          </p:cNvPr>
          <p:cNvSpPr/>
          <p:nvPr/>
        </p:nvSpPr>
        <p:spPr>
          <a:xfrm>
            <a:off x="6095999" y="269771"/>
            <a:ext cx="3421224" cy="787263"/>
          </a:xfrm>
          <a:prstGeom prst="rect">
            <a:avLst/>
          </a:prstGeom>
          <a:noFill/>
          <a:ln w="19050">
            <a:solidFill>
              <a:srgbClr val="F046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774664A-2278-46D0-285D-12202D871D40}"/>
              </a:ext>
            </a:extLst>
          </p:cNvPr>
          <p:cNvSpPr txBox="1"/>
          <p:nvPr/>
        </p:nvSpPr>
        <p:spPr>
          <a:xfrm>
            <a:off x="9691078" y="340236"/>
            <a:ext cx="1811128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Import of used elements</a:t>
            </a:r>
            <a:endParaRPr lang="nl-BE" dirty="0">
              <a:solidFill>
                <a:srgbClr val="EC4B2F"/>
              </a:solidFill>
            </a:endParaRP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C41E5A18-8253-A28B-F4EE-A512BBE83835}"/>
              </a:ext>
            </a:extLst>
          </p:cNvPr>
          <p:cNvSpPr/>
          <p:nvPr/>
        </p:nvSpPr>
        <p:spPr>
          <a:xfrm>
            <a:off x="6251510" y="6610646"/>
            <a:ext cx="1726164" cy="185713"/>
          </a:xfrm>
          <a:prstGeom prst="rect">
            <a:avLst/>
          </a:prstGeom>
          <a:noFill/>
          <a:ln w="19050">
            <a:solidFill>
              <a:srgbClr val="F046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2513B79-C0BD-8C85-CB38-22E1CF201616}"/>
              </a:ext>
            </a:extLst>
          </p:cNvPr>
          <p:cNvSpPr txBox="1"/>
          <p:nvPr/>
        </p:nvSpPr>
        <p:spPr>
          <a:xfrm>
            <a:off x="363894" y="6057171"/>
            <a:ext cx="5280766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Export of app function to be able to use it in other JSX files</a:t>
            </a:r>
            <a:endParaRPr lang="nl-BE" dirty="0">
              <a:solidFill>
                <a:srgbClr val="EC4B2F"/>
              </a:solidFill>
            </a:endParaRPr>
          </a:p>
        </p:txBody>
      </p:sp>
      <p:cxnSp>
        <p:nvCxnSpPr>
          <p:cNvPr id="5" name="Rechte verbindingslijn met pijl 4">
            <a:extLst>
              <a:ext uri="{FF2B5EF4-FFF2-40B4-BE49-F238E27FC236}">
                <a16:creationId xmlns:a16="http://schemas.microsoft.com/office/drawing/2014/main" id="{3102DD68-C4A8-AD4D-D390-4ED99F7A8EF4}"/>
              </a:ext>
            </a:extLst>
          </p:cNvPr>
          <p:cNvCxnSpPr>
            <a:cxnSpLocks/>
          </p:cNvCxnSpPr>
          <p:nvPr/>
        </p:nvCxnSpPr>
        <p:spPr>
          <a:xfrm>
            <a:off x="5570376" y="1304496"/>
            <a:ext cx="718457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D77C7387-45DC-0320-857C-AF6AA7590EB8}"/>
              </a:ext>
            </a:extLst>
          </p:cNvPr>
          <p:cNvCxnSpPr>
            <a:cxnSpLocks/>
          </p:cNvCxnSpPr>
          <p:nvPr/>
        </p:nvCxnSpPr>
        <p:spPr>
          <a:xfrm>
            <a:off x="5570376" y="1848782"/>
            <a:ext cx="718457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5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6AECB-9E96-7742-C63D-024BE7C4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DA7F8-87F3-DE17-4C4B-33988DD52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Markup</a:t>
            </a:r>
            <a:r>
              <a:rPr lang="nl-NL" dirty="0"/>
              <a:t> in JSX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A989DB6-ED6F-9004-3406-1130924D0F8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32E5F34-AB4E-1FB3-BBF3-23EE0C93CD2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628775"/>
            <a:ext cx="5280766" cy="471646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JSX is </a:t>
            </a:r>
            <a:r>
              <a:rPr lang="nl-NL" dirty="0" err="1"/>
              <a:t>stricter</a:t>
            </a:r>
            <a:r>
              <a:rPr lang="nl-NL" dirty="0"/>
              <a:t> </a:t>
            </a:r>
            <a:r>
              <a:rPr lang="nl-NL" dirty="0" err="1"/>
              <a:t>then</a:t>
            </a:r>
            <a:r>
              <a:rPr lang="nl-NL" dirty="0"/>
              <a:t> HTML =&gt; </a:t>
            </a:r>
            <a:r>
              <a:rPr lang="nl-NL" dirty="0" err="1"/>
              <a:t>always</a:t>
            </a:r>
            <a:r>
              <a:rPr lang="nl-NL" dirty="0"/>
              <a:t> close tags:</a:t>
            </a:r>
          </a:p>
          <a:p>
            <a:pPr marL="702900" lvl="1" indent="-342900"/>
            <a:r>
              <a:rPr lang="nl-NL" dirty="0"/>
              <a:t>&lt;h1&gt;….&lt;/h1&gt;</a:t>
            </a:r>
          </a:p>
          <a:p>
            <a:pPr marL="702900" lvl="1" indent="-342900"/>
            <a:r>
              <a:rPr lang="nl-NL" dirty="0"/>
              <a:t>&lt;</a:t>
            </a:r>
            <a:r>
              <a:rPr lang="nl-NL" dirty="0" err="1"/>
              <a:t>br</a:t>
            </a:r>
            <a:r>
              <a:rPr lang="nl-NL" dirty="0"/>
              <a:t> </a:t>
            </a:r>
            <a:r>
              <a:rPr lang="nl-NL" b="1" dirty="0">
                <a:solidFill>
                  <a:srgbClr val="FA6432"/>
                </a:solidFill>
              </a:rPr>
              <a:t>/</a:t>
            </a:r>
            <a:r>
              <a:rPr lang="nl-NL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Return a single root element:</a:t>
            </a:r>
          </a:p>
          <a:p>
            <a:pPr marL="702900" lvl="1" indent="-342900"/>
            <a:r>
              <a:rPr lang="nl-NL" dirty="0" err="1"/>
              <a:t>wrap</a:t>
            </a:r>
            <a:r>
              <a:rPr lang="nl-NL" dirty="0"/>
              <a:t> tags </a:t>
            </a:r>
            <a:r>
              <a:rPr lang="nl-NL" dirty="0" err="1"/>
              <a:t>into</a:t>
            </a:r>
            <a:r>
              <a:rPr lang="nl-NL" dirty="0"/>
              <a:t> shared </a:t>
            </a:r>
            <a:r>
              <a:rPr lang="nl-NL" dirty="0" err="1"/>
              <a:t>parent</a:t>
            </a:r>
            <a:r>
              <a:rPr lang="nl-NL" dirty="0"/>
              <a:t> like</a:t>
            </a:r>
          </a:p>
          <a:p>
            <a:pPr marL="1062900" lvl="2" indent="-342900"/>
            <a:r>
              <a:rPr lang="nl-NL" dirty="0"/>
              <a:t>&lt;div&gt; … &lt;/div&gt;: extra div</a:t>
            </a:r>
          </a:p>
          <a:p>
            <a:pPr marL="1062900" lvl="2" indent="-342900"/>
            <a:r>
              <a:rPr lang="nl-NL" dirty="0"/>
              <a:t>&lt;&gt; …. &lt;/&gt;: fragment (</a:t>
            </a:r>
            <a:r>
              <a:rPr lang="nl-NL" dirty="0" err="1"/>
              <a:t>groups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 without </a:t>
            </a:r>
            <a:r>
              <a:rPr lang="nl-NL" dirty="0" err="1"/>
              <a:t>impacting</a:t>
            </a:r>
            <a:r>
              <a:rPr lang="nl-NL" dirty="0"/>
              <a:t> HTML tree in browser)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JS code </a:t>
            </a:r>
            <a:r>
              <a:rPr lang="nl-NL" dirty="0" err="1"/>
              <a:t>inside</a:t>
            </a:r>
            <a:r>
              <a:rPr lang="nl-NL" dirty="0"/>
              <a:t> JSX must </a:t>
            </a:r>
            <a:r>
              <a:rPr lang="nl-NL" dirty="0" err="1"/>
              <a:t>be</a:t>
            </a:r>
            <a:r>
              <a:rPr lang="nl-NL" dirty="0"/>
              <a:t> in </a:t>
            </a:r>
            <a:r>
              <a:rPr lang="nl-NL" dirty="0" err="1"/>
              <a:t>between</a:t>
            </a:r>
            <a:r>
              <a:rPr lang="nl-NL"/>
              <a:t> { }</a:t>
            </a:r>
            <a:endParaRPr lang="nl-NL" dirty="0"/>
          </a:p>
          <a:p>
            <a:endParaRPr lang="nl-NL" dirty="0"/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84495B7-9FDC-2F1A-D1C2-4F8C8B8E3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848" b="4396"/>
          <a:stretch/>
        </p:blipFill>
        <p:spPr>
          <a:xfrm>
            <a:off x="5991039" y="1512841"/>
            <a:ext cx="6200961" cy="4782835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5" name="Rechte verbindingslijn met pijl 4">
            <a:extLst>
              <a:ext uri="{FF2B5EF4-FFF2-40B4-BE49-F238E27FC236}">
                <a16:creationId xmlns:a16="http://schemas.microsoft.com/office/drawing/2014/main" id="{17449B37-7822-DF2C-06D1-BFAF935F00CD}"/>
              </a:ext>
            </a:extLst>
          </p:cNvPr>
          <p:cNvCxnSpPr>
            <a:cxnSpLocks/>
          </p:cNvCxnSpPr>
          <p:nvPr/>
        </p:nvCxnSpPr>
        <p:spPr>
          <a:xfrm>
            <a:off x="5377543" y="5773859"/>
            <a:ext cx="718457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438AA03F-6839-5E0C-A587-9A751F5B0912}"/>
              </a:ext>
            </a:extLst>
          </p:cNvPr>
          <p:cNvCxnSpPr>
            <a:cxnSpLocks/>
          </p:cNvCxnSpPr>
          <p:nvPr/>
        </p:nvCxnSpPr>
        <p:spPr>
          <a:xfrm>
            <a:off x="5631810" y="1879462"/>
            <a:ext cx="718457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00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0271C3-25A0-FB6C-6A66-2B0A0191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Create</a:t>
            </a:r>
            <a:r>
              <a:rPr lang="nl-NL" dirty="0"/>
              <a:t> new component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07F0672-8F01-2EE4-B133-FA6D67B37F9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1D09FF6-D871-AAF4-EAB2-13B622AB91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628775"/>
            <a:ext cx="5241052" cy="4716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Store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a folder ‘</a:t>
            </a:r>
            <a:r>
              <a:rPr lang="nl-NL" dirty="0" err="1"/>
              <a:t>components</a:t>
            </a:r>
            <a:r>
              <a:rPr lang="nl-NL" dirty="0"/>
              <a:t>’ in ‘</a:t>
            </a:r>
            <a:r>
              <a:rPr lang="nl-NL" dirty="0" err="1"/>
              <a:t>src</a:t>
            </a:r>
            <a:r>
              <a:rPr lang="nl-NL" dirty="0"/>
              <a:t>’ folder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separate .JSX file for </a:t>
            </a:r>
            <a:r>
              <a:rPr lang="nl-NL" dirty="0" err="1"/>
              <a:t>every</a:t>
            </a:r>
            <a:r>
              <a:rPr lang="nl-NL" dirty="0"/>
              <a:t>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name of .</a:t>
            </a:r>
            <a:r>
              <a:rPr lang="nl-NL" dirty="0" err="1"/>
              <a:t>jsx</a:t>
            </a:r>
            <a:r>
              <a:rPr lang="nl-NL" dirty="0"/>
              <a:t> file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as </a:t>
            </a:r>
            <a:r>
              <a:rPr lang="nl-NL" dirty="0" err="1"/>
              <a:t>the</a:t>
            </a:r>
            <a:r>
              <a:rPr lang="nl-NL" dirty="0"/>
              <a:t> name of </a:t>
            </a:r>
            <a:r>
              <a:rPr lang="nl-NL" dirty="0" err="1"/>
              <a:t>the</a:t>
            </a:r>
            <a:r>
              <a:rPr lang="nl-NL" dirty="0"/>
              <a:t>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180B898-F300-964A-088A-75A0F11D0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668" y="1896503"/>
            <a:ext cx="3214610" cy="3790813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4C17E70F-1D91-04AE-F8EA-4E55C6C7CB51}"/>
              </a:ext>
            </a:extLst>
          </p:cNvPr>
          <p:cNvCxnSpPr>
            <a:cxnSpLocks/>
          </p:cNvCxnSpPr>
          <p:nvPr/>
        </p:nvCxnSpPr>
        <p:spPr>
          <a:xfrm>
            <a:off x="5593344" y="2284210"/>
            <a:ext cx="1796501" cy="75757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CC79BECB-7131-2023-3202-51EBC0ADA650}"/>
              </a:ext>
            </a:extLst>
          </p:cNvPr>
          <p:cNvCxnSpPr>
            <a:cxnSpLocks/>
          </p:cNvCxnSpPr>
          <p:nvPr/>
        </p:nvCxnSpPr>
        <p:spPr>
          <a:xfrm>
            <a:off x="4928333" y="3250124"/>
            <a:ext cx="2335335" cy="315644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9A433239-87FA-59F4-AC16-0D64E77ED8C7}"/>
              </a:ext>
            </a:extLst>
          </p:cNvPr>
          <p:cNvCxnSpPr>
            <a:cxnSpLocks/>
          </p:cNvCxnSpPr>
          <p:nvPr/>
        </p:nvCxnSpPr>
        <p:spPr>
          <a:xfrm flipV="1">
            <a:off x="5855174" y="3697215"/>
            <a:ext cx="2365095" cy="509511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71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0190A-12D3-DB8A-013A-7A120762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C855D3A-AA57-0CCE-D045-9C674118C58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19</a:t>
            </a:fld>
            <a:endParaRPr lang="en-B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99B4629B-344F-F4F3-167C-6E47946CD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45" y="1255435"/>
            <a:ext cx="8973802" cy="3858163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B5D9EE41-EEAF-2A77-59C4-0990FCBCD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059" y="2802822"/>
            <a:ext cx="5563376" cy="387721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B2961CEF-4C7C-7B0D-6FC2-E3358B1BC211}"/>
              </a:ext>
            </a:extLst>
          </p:cNvPr>
          <p:cNvSpPr txBox="1"/>
          <p:nvPr/>
        </p:nvSpPr>
        <p:spPr>
          <a:xfrm>
            <a:off x="515937" y="5476445"/>
            <a:ext cx="327548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Export component </a:t>
            </a:r>
            <a:r>
              <a:rPr lang="nl-NL" dirty="0" err="1">
                <a:solidFill>
                  <a:srgbClr val="F04619"/>
                </a:solidFill>
              </a:rPr>
              <a:t>to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be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used</a:t>
            </a:r>
            <a:r>
              <a:rPr lang="nl-NL" dirty="0">
                <a:solidFill>
                  <a:srgbClr val="F04619"/>
                </a:solidFill>
              </a:rPr>
              <a:t> in </a:t>
            </a:r>
            <a:r>
              <a:rPr lang="nl-NL" dirty="0" err="1">
                <a:solidFill>
                  <a:srgbClr val="F04619"/>
                </a:solidFill>
              </a:rPr>
              <a:t>other</a:t>
            </a:r>
            <a:r>
              <a:rPr lang="nl-NL" dirty="0">
                <a:solidFill>
                  <a:srgbClr val="F04619"/>
                </a:solidFill>
              </a:rPr>
              <a:t> .</a:t>
            </a:r>
            <a:r>
              <a:rPr lang="nl-NL" dirty="0" err="1">
                <a:solidFill>
                  <a:srgbClr val="F04619"/>
                </a:solidFill>
              </a:rPr>
              <a:t>jsx</a:t>
            </a:r>
            <a:r>
              <a:rPr lang="nl-NL" dirty="0">
                <a:solidFill>
                  <a:srgbClr val="F04619"/>
                </a:solidFill>
              </a:rPr>
              <a:t> files</a:t>
            </a:r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3646E58C-D916-4983-48C7-A8AA6EFC8B05}"/>
              </a:ext>
            </a:extLst>
          </p:cNvPr>
          <p:cNvCxnSpPr>
            <a:cxnSpLocks/>
          </p:cNvCxnSpPr>
          <p:nvPr/>
        </p:nvCxnSpPr>
        <p:spPr>
          <a:xfrm flipH="1">
            <a:off x="989045" y="2888229"/>
            <a:ext cx="340209" cy="25882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991CA16E-967D-F156-A5EC-7102521A769D}"/>
              </a:ext>
            </a:extLst>
          </p:cNvPr>
          <p:cNvSpPr txBox="1"/>
          <p:nvPr/>
        </p:nvSpPr>
        <p:spPr>
          <a:xfrm>
            <a:off x="7712949" y="1831164"/>
            <a:ext cx="356776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00283C"/>
                </a:solidFill>
              </a:rPr>
              <a:t>Import component in </a:t>
            </a:r>
            <a:r>
              <a:rPr lang="nl-NL" dirty="0" err="1">
                <a:solidFill>
                  <a:srgbClr val="00283C"/>
                </a:solidFill>
              </a:rPr>
              <a:t>App.jsx</a:t>
            </a:r>
            <a:r>
              <a:rPr lang="nl-NL" dirty="0">
                <a:solidFill>
                  <a:srgbClr val="00283C"/>
                </a:solidFill>
              </a:rPr>
              <a:t> file</a:t>
            </a:r>
          </a:p>
        </p:txBody>
      </p: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B7F3A58C-81DB-3940-CEAA-B9089855C30B}"/>
              </a:ext>
            </a:extLst>
          </p:cNvPr>
          <p:cNvCxnSpPr>
            <a:cxnSpLocks/>
          </p:cNvCxnSpPr>
          <p:nvPr/>
        </p:nvCxnSpPr>
        <p:spPr>
          <a:xfrm flipV="1">
            <a:off x="7828384" y="2200496"/>
            <a:ext cx="867747" cy="1363798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kstvak 20">
            <a:extLst>
              <a:ext uri="{FF2B5EF4-FFF2-40B4-BE49-F238E27FC236}">
                <a16:creationId xmlns:a16="http://schemas.microsoft.com/office/drawing/2014/main" id="{270E0665-4569-C66D-A0A9-8BF1B99C0FA9}"/>
              </a:ext>
            </a:extLst>
          </p:cNvPr>
          <p:cNvSpPr txBox="1"/>
          <p:nvPr/>
        </p:nvSpPr>
        <p:spPr>
          <a:xfrm>
            <a:off x="9103923" y="5661850"/>
            <a:ext cx="257213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rgbClr val="00B050"/>
                </a:solidFill>
              </a:rPr>
              <a:t>Use</a:t>
            </a:r>
            <a:r>
              <a:rPr lang="nl-NL" dirty="0">
                <a:solidFill>
                  <a:srgbClr val="00B050"/>
                </a:solidFill>
              </a:rPr>
              <a:t> component in JSX</a:t>
            </a:r>
          </a:p>
        </p:txBody>
      </p: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15C6C7FA-E918-C6F6-F919-6A132C6CB9F6}"/>
              </a:ext>
            </a:extLst>
          </p:cNvPr>
          <p:cNvCxnSpPr>
            <a:cxnSpLocks/>
          </p:cNvCxnSpPr>
          <p:nvPr/>
        </p:nvCxnSpPr>
        <p:spPr>
          <a:xfrm>
            <a:off x="9129898" y="5254089"/>
            <a:ext cx="449247" cy="40046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Afbeelding 24">
            <a:extLst>
              <a:ext uri="{FF2B5EF4-FFF2-40B4-BE49-F238E27FC236}">
                <a16:creationId xmlns:a16="http://schemas.microsoft.com/office/drawing/2014/main" id="{58F0A9EB-3F60-861A-6F4F-31151B9AD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92" y="177962"/>
            <a:ext cx="10679015" cy="9050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6284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C44B26-2F67-EFCF-2E58-1F0C01E9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Adding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CD2E18-3D30-8208-D478-19DB1B672B5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07ABC8B-DE3A-DE69-5E9A-5BF9710F7A1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Using classes:</a:t>
            </a:r>
          </a:p>
          <a:p>
            <a:pPr lvl="1" indent="0">
              <a:buNone/>
            </a:pPr>
            <a:r>
              <a:rPr lang="nl-NL" dirty="0"/>
              <a:t>	Inside JSX file:				Inside index.css file:</a:t>
            </a:r>
          </a:p>
          <a:p>
            <a:r>
              <a:rPr lang="nl-NL" dirty="0"/>
              <a:t>	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className</a:t>
            </a:r>
            <a:r>
              <a:rPr lang="nl-NL" dirty="0"/>
              <a:t> </a:t>
            </a:r>
            <a:r>
              <a:rPr lang="nl-NL" dirty="0" err="1"/>
              <a:t>instead</a:t>
            </a:r>
            <a:r>
              <a:rPr lang="nl-NL" dirty="0"/>
              <a:t> of </a:t>
            </a:r>
            <a:br>
              <a:rPr lang="nl-NL" dirty="0"/>
            </a:br>
            <a:r>
              <a:rPr lang="nl-NL" dirty="0"/>
              <a:t>           class in HTML:</a:t>
            </a:r>
          </a:p>
          <a:p>
            <a:endParaRPr lang="nl-NL" dirty="0"/>
          </a:p>
          <a:p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inline-style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JSX (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-time </a:t>
            </a:r>
            <a:r>
              <a:rPr lang="nl-NL" dirty="0" err="1"/>
              <a:t>style</a:t>
            </a:r>
            <a:r>
              <a:rPr lang="nl-NL" dirty="0"/>
              <a:t> </a:t>
            </a:r>
            <a:r>
              <a:rPr lang="nl-NL" dirty="0" err="1"/>
              <a:t>definitions</a:t>
            </a:r>
            <a:r>
              <a:rPr lang="nl-NL" dirty="0"/>
              <a:t>!):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B1B81FA-A1CD-31BC-06C7-2076C0AA7C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82" t="55465" r="53367" b="41180"/>
          <a:stretch/>
        </p:blipFill>
        <p:spPr>
          <a:xfrm>
            <a:off x="1520492" y="3158879"/>
            <a:ext cx="3975240" cy="443022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236D5A13-F74C-52FB-3B8C-FC604C2D7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545" y="2564129"/>
            <a:ext cx="2127778" cy="9871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0B81433-EF1C-0452-2D05-E3E248A3E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492" y="4583864"/>
            <a:ext cx="6418737" cy="99496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35482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A96B1-1389-09A7-95D9-FFB56927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styles</a:t>
            </a:r>
            <a:r>
              <a:rPr lang="nl-NL" dirty="0"/>
              <a:t> </a:t>
            </a:r>
            <a:r>
              <a:rPr lang="nl-NL" dirty="0" err="1"/>
              <a:t>belonging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component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6DDDA6C-2E0B-B6F1-D136-0312F77F3D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21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0C44E19-893E-5475-F953-398F1C4660D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23061" y="5432725"/>
            <a:ext cx="4166918" cy="436949"/>
          </a:xfrm>
        </p:spPr>
        <p:txBody>
          <a:bodyPr/>
          <a:lstStyle/>
          <a:p>
            <a:r>
              <a:rPr lang="nl-NL" dirty="0" err="1">
                <a:solidFill>
                  <a:srgbClr val="F04619"/>
                </a:solidFill>
              </a:rPr>
              <a:t>Create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css</a:t>
            </a:r>
            <a:r>
              <a:rPr lang="nl-NL" dirty="0">
                <a:solidFill>
                  <a:srgbClr val="F04619"/>
                </a:solidFill>
              </a:rPr>
              <a:t> file next </a:t>
            </a:r>
            <a:r>
              <a:rPr lang="nl-NL" dirty="0" err="1">
                <a:solidFill>
                  <a:srgbClr val="F04619"/>
                </a:solidFill>
              </a:rPr>
              <a:t>to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jsx</a:t>
            </a:r>
            <a:r>
              <a:rPr lang="nl-NL" dirty="0">
                <a:solidFill>
                  <a:srgbClr val="F04619"/>
                </a:solidFill>
              </a:rPr>
              <a:t> file</a:t>
            </a:r>
            <a:endParaRPr lang="nl-BE" dirty="0">
              <a:solidFill>
                <a:srgbClr val="F04619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CD09867-145A-83A0-982C-325261D5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82" y="1206800"/>
            <a:ext cx="6672533" cy="3812876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B807CFF2-EABB-628B-BF83-0D95F4AE5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429000"/>
            <a:ext cx="7282639" cy="3326715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9CE66512-F247-E2A8-FBD4-01BF5061AB1B}"/>
              </a:ext>
            </a:extLst>
          </p:cNvPr>
          <p:cNvCxnSpPr>
            <a:cxnSpLocks/>
          </p:cNvCxnSpPr>
          <p:nvPr/>
        </p:nvCxnSpPr>
        <p:spPr>
          <a:xfrm flipV="1">
            <a:off x="1733550" y="3924300"/>
            <a:ext cx="0" cy="1508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F598EB46-449E-B291-0212-9FFC1E295E22}"/>
              </a:ext>
            </a:extLst>
          </p:cNvPr>
          <p:cNvSpPr txBox="1">
            <a:spLocks/>
          </p:cNvSpPr>
          <p:nvPr/>
        </p:nvSpPr>
        <p:spPr>
          <a:xfrm>
            <a:off x="8737015" y="4241563"/>
            <a:ext cx="4166918" cy="436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04619"/>
                </a:solidFill>
              </a:rPr>
              <a:t>Include in </a:t>
            </a:r>
            <a:r>
              <a:rPr lang="en-US" dirty="0" err="1">
                <a:solidFill>
                  <a:srgbClr val="F04619"/>
                </a:solidFill>
              </a:rPr>
              <a:t>Header.jsx</a:t>
            </a:r>
            <a:endParaRPr lang="en-US" dirty="0">
              <a:solidFill>
                <a:srgbClr val="F04619"/>
              </a:solidFill>
            </a:endParaRPr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BF61DD3-5C09-274E-AFED-9392B1F62D93}"/>
              </a:ext>
            </a:extLst>
          </p:cNvPr>
          <p:cNvCxnSpPr>
            <a:cxnSpLocks/>
          </p:cNvCxnSpPr>
          <p:nvPr/>
        </p:nvCxnSpPr>
        <p:spPr>
          <a:xfrm flipH="1" flipV="1">
            <a:off x="7263442" y="4321834"/>
            <a:ext cx="1396664" cy="13820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ter: 12 punten 19">
            <a:extLst>
              <a:ext uri="{FF2B5EF4-FFF2-40B4-BE49-F238E27FC236}">
                <a16:creationId xmlns:a16="http://schemas.microsoft.com/office/drawing/2014/main" id="{B1B4D48B-DFDA-31AB-BB2F-80885B1427D8}"/>
              </a:ext>
            </a:extLst>
          </p:cNvPr>
          <p:cNvSpPr/>
          <p:nvPr/>
        </p:nvSpPr>
        <p:spPr>
          <a:xfrm>
            <a:off x="7151267" y="1206801"/>
            <a:ext cx="4817672" cy="2851928"/>
          </a:xfrm>
          <a:prstGeom prst="star12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Styles are not limited to this component !!!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Keep using different class names</a:t>
            </a:r>
          </a:p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48181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FB40B0-4BA6-1CD6-D201-B720BCEE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Adding</a:t>
            </a:r>
            <a:r>
              <a:rPr lang="nl-NL" dirty="0"/>
              <a:t> CSS reset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A29D5BA-C472-5620-6E01-B5D644A212E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22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4198662-87F4-3A3A-D7DB-AD91FD3C7C4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Using </a:t>
            </a:r>
            <a:r>
              <a:rPr lang="nl-NL" dirty="0" err="1"/>
              <a:t>npm</a:t>
            </a:r>
            <a:r>
              <a:rPr lang="nl-NL" dirty="0"/>
              <a:t>, </a:t>
            </a:r>
            <a:r>
              <a:rPr lang="nl-NL" dirty="0" err="1"/>
              <a:t>install</a:t>
            </a:r>
            <a:r>
              <a:rPr lang="nl-NL" dirty="0"/>
              <a:t> a package </a:t>
            </a:r>
            <a:r>
              <a:rPr lang="nl-NL" dirty="0" err="1"/>
              <a:t>called</a:t>
            </a:r>
            <a:r>
              <a:rPr lang="nl-NL" dirty="0"/>
              <a:t> ‘normalize.css’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Import nomalize.css </a:t>
            </a:r>
            <a:r>
              <a:rPr lang="nl-BE" dirty="0" err="1"/>
              <a:t>before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import of index.css in </a:t>
            </a:r>
            <a:r>
              <a:rPr lang="nl-BE" dirty="0" err="1"/>
              <a:t>main.jsx</a:t>
            </a:r>
            <a:r>
              <a:rPr lang="nl-BE" dirty="0"/>
              <a:t>:</a:t>
            </a:r>
          </a:p>
        </p:txBody>
      </p:sp>
      <p:sp>
        <p:nvSpPr>
          <p:cNvPr id="5" name="Afgeronde rechthoek 7">
            <a:extLst>
              <a:ext uri="{FF2B5EF4-FFF2-40B4-BE49-F238E27FC236}">
                <a16:creationId xmlns:a16="http://schemas.microsoft.com/office/drawing/2014/main" id="{58BDAE20-AF01-815E-4A70-5B0D7E910AE7}"/>
              </a:ext>
            </a:extLst>
          </p:cNvPr>
          <p:cNvSpPr/>
          <p:nvPr/>
        </p:nvSpPr>
        <p:spPr>
          <a:xfrm>
            <a:off x="944707" y="2234231"/>
            <a:ext cx="7079620" cy="510778"/>
          </a:xfrm>
          <a:prstGeom prst="roundRect">
            <a:avLst/>
          </a:prstGeom>
          <a:ln>
            <a:solidFill>
              <a:srgbClr val="00A0A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 normalize.css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6F39818A-EBE8-C0E6-317E-70EFCD05B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07" y="3434741"/>
            <a:ext cx="5277587" cy="2972215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1B3A13B2-300C-151A-0C94-D8F08D97706A}"/>
              </a:ext>
            </a:extLst>
          </p:cNvPr>
          <p:cNvCxnSpPr>
            <a:cxnSpLocks/>
          </p:cNvCxnSpPr>
          <p:nvPr/>
        </p:nvCxnSpPr>
        <p:spPr>
          <a:xfrm flipH="1">
            <a:off x="3834882" y="4599992"/>
            <a:ext cx="3331028" cy="0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61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ACDD2-34E6-29AA-DEA1-500BB2A7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420D37-4122-EB47-FEFB-932858E2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Adding</a:t>
            </a:r>
            <a:r>
              <a:rPr lang="nl-NL" dirty="0"/>
              <a:t> bootstrap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31B27A0-0643-DB69-837B-05E5B468818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23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1D38FE0-7B89-E91B-09BC-95A56D3E35F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628775"/>
            <a:ext cx="7592366" cy="47164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Using </a:t>
            </a:r>
            <a:r>
              <a:rPr lang="nl-NL" dirty="0" err="1"/>
              <a:t>npm</a:t>
            </a:r>
            <a:r>
              <a:rPr lang="nl-NL" dirty="0"/>
              <a:t>, </a:t>
            </a:r>
            <a:r>
              <a:rPr lang="nl-NL" dirty="0" err="1"/>
              <a:t>install</a:t>
            </a:r>
            <a:r>
              <a:rPr lang="nl-NL" dirty="0"/>
              <a:t> a package </a:t>
            </a:r>
            <a:r>
              <a:rPr lang="nl-NL" dirty="0" err="1"/>
              <a:t>called</a:t>
            </a:r>
            <a:r>
              <a:rPr lang="nl-NL" dirty="0"/>
              <a:t> ‘</a:t>
            </a:r>
            <a:r>
              <a:rPr lang="nl-NL" dirty="0" err="1"/>
              <a:t>react</a:t>
            </a:r>
            <a:r>
              <a:rPr lang="nl-NL" dirty="0"/>
              <a:t>-bootstrap’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Import bootstrap </a:t>
            </a:r>
            <a:r>
              <a:rPr lang="nl-BE" dirty="0" err="1"/>
              <a:t>before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import of index.css and </a:t>
            </a:r>
            <a:r>
              <a:rPr lang="nl-BE" dirty="0" err="1"/>
              <a:t>after</a:t>
            </a:r>
            <a:r>
              <a:rPr lang="nl-BE" dirty="0"/>
              <a:t> nomalize.css in </a:t>
            </a:r>
            <a:r>
              <a:rPr lang="nl-BE" dirty="0" err="1"/>
              <a:t>main.jsx</a:t>
            </a:r>
            <a:r>
              <a:rPr lang="nl-BE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In </a:t>
            </a:r>
            <a:r>
              <a:rPr lang="nl-BE" dirty="0" err="1"/>
              <a:t>package.json</a:t>
            </a:r>
            <a:r>
              <a:rPr lang="nl-BE" dirty="0"/>
              <a:t>:</a:t>
            </a:r>
          </a:p>
        </p:txBody>
      </p:sp>
      <p:sp>
        <p:nvSpPr>
          <p:cNvPr id="5" name="Afgeronde rechthoek 7">
            <a:extLst>
              <a:ext uri="{FF2B5EF4-FFF2-40B4-BE49-F238E27FC236}">
                <a16:creationId xmlns:a16="http://schemas.microsoft.com/office/drawing/2014/main" id="{5DD0F3F0-B163-2C91-1477-A30DDFC56471}"/>
              </a:ext>
            </a:extLst>
          </p:cNvPr>
          <p:cNvSpPr/>
          <p:nvPr/>
        </p:nvSpPr>
        <p:spPr>
          <a:xfrm>
            <a:off x="944707" y="2234231"/>
            <a:ext cx="7079620" cy="510778"/>
          </a:xfrm>
          <a:prstGeom prst="roundRect">
            <a:avLst/>
          </a:prstGeom>
          <a:ln>
            <a:solidFill>
              <a:srgbClr val="00A0A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react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-bootstrap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bootstrap</a:t>
            </a:r>
            <a:endParaRPr lang="nl-BE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E6AF96D-4097-7CDC-59BD-3832D4097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16" y="4444902"/>
            <a:ext cx="5466402" cy="928017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BC74B08-61C6-26E7-7056-D097C5B91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215" y="1720155"/>
            <a:ext cx="3600953" cy="4448796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0C32A7AE-699D-CFD7-B8DA-92CB1FC4D96D}"/>
              </a:ext>
            </a:extLst>
          </p:cNvPr>
          <p:cNvCxnSpPr>
            <a:cxnSpLocks/>
          </p:cNvCxnSpPr>
          <p:nvPr/>
        </p:nvCxnSpPr>
        <p:spPr>
          <a:xfrm flipV="1">
            <a:off x="3516923" y="4348065"/>
            <a:ext cx="5477787" cy="1516404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644199DB-D056-5B4F-BE86-30798D1C9825}"/>
              </a:ext>
            </a:extLst>
          </p:cNvPr>
          <p:cNvCxnSpPr>
            <a:cxnSpLocks/>
          </p:cNvCxnSpPr>
          <p:nvPr/>
        </p:nvCxnSpPr>
        <p:spPr>
          <a:xfrm flipV="1">
            <a:off x="3446585" y="4590871"/>
            <a:ext cx="5688037" cy="1273598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F6AD9F3B-426C-6C5C-5B45-7008FDCEBD04}"/>
              </a:ext>
            </a:extLst>
          </p:cNvPr>
          <p:cNvCxnSpPr>
            <a:cxnSpLocks/>
          </p:cNvCxnSpPr>
          <p:nvPr/>
        </p:nvCxnSpPr>
        <p:spPr>
          <a:xfrm flipV="1">
            <a:off x="3446585" y="4993021"/>
            <a:ext cx="5688037" cy="871448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027A0051-5617-7711-1B50-BC20766109CB}"/>
              </a:ext>
            </a:extLst>
          </p:cNvPr>
          <p:cNvSpPr txBox="1"/>
          <p:nvPr/>
        </p:nvSpPr>
        <p:spPr>
          <a:xfrm>
            <a:off x="6095999" y="52664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 err="1">
                <a:solidFill>
                  <a:srgbClr val="00283C"/>
                </a:solidFill>
              </a:rPr>
              <a:t>Adding</a:t>
            </a:r>
            <a:r>
              <a:rPr lang="nl-BE" dirty="0">
                <a:solidFill>
                  <a:srgbClr val="00283C"/>
                </a:solidFill>
              </a:rPr>
              <a:t> bootstrap as well </a:t>
            </a:r>
            <a:r>
              <a:rPr lang="nl-BE" dirty="0" err="1">
                <a:solidFill>
                  <a:srgbClr val="00283C"/>
                </a:solidFill>
              </a:rPr>
              <a:t>allows</a:t>
            </a:r>
            <a:r>
              <a:rPr lang="nl-BE" dirty="0">
                <a:solidFill>
                  <a:srgbClr val="00283C"/>
                </a:solidFill>
              </a:rPr>
              <a:t> </a:t>
            </a:r>
            <a:r>
              <a:rPr lang="nl-BE" dirty="0" err="1">
                <a:solidFill>
                  <a:srgbClr val="00283C"/>
                </a:solidFill>
              </a:rPr>
              <a:t>you</a:t>
            </a:r>
            <a:r>
              <a:rPr lang="nl-BE" dirty="0">
                <a:solidFill>
                  <a:srgbClr val="00283C"/>
                </a:solidFill>
              </a:rPr>
              <a:t> </a:t>
            </a:r>
            <a:r>
              <a:rPr lang="nl-BE" dirty="0" err="1">
                <a:solidFill>
                  <a:srgbClr val="00283C"/>
                </a:solidFill>
              </a:rPr>
              <a:t>to</a:t>
            </a:r>
            <a:r>
              <a:rPr lang="nl-BE" dirty="0">
                <a:solidFill>
                  <a:srgbClr val="00283C"/>
                </a:solidFill>
              </a:rPr>
              <a:t> </a:t>
            </a:r>
            <a:r>
              <a:rPr lang="nl-BE" dirty="0" err="1">
                <a:solidFill>
                  <a:srgbClr val="00283C"/>
                </a:solidFill>
              </a:rPr>
              <a:t>use</a:t>
            </a:r>
            <a:r>
              <a:rPr lang="nl-BE" dirty="0">
                <a:solidFill>
                  <a:srgbClr val="00283C"/>
                </a:solidFill>
              </a:rPr>
              <a:t> </a:t>
            </a:r>
            <a:r>
              <a:rPr lang="nl-BE" dirty="0" err="1">
                <a:solidFill>
                  <a:srgbClr val="00283C"/>
                </a:solidFill>
              </a:rPr>
              <a:t>it</a:t>
            </a:r>
            <a:r>
              <a:rPr lang="nl-BE" dirty="0">
                <a:solidFill>
                  <a:srgbClr val="00283C"/>
                </a:solidFill>
              </a:rPr>
              <a:t> </a:t>
            </a:r>
            <a:r>
              <a:rPr lang="nl-BE" dirty="0" err="1">
                <a:solidFill>
                  <a:srgbClr val="00283C"/>
                </a:solidFill>
              </a:rPr>
              <a:t>also</a:t>
            </a:r>
            <a:r>
              <a:rPr lang="nl-BE" dirty="0">
                <a:solidFill>
                  <a:srgbClr val="00283C"/>
                </a:solidFill>
              </a:rPr>
              <a:t> without </a:t>
            </a:r>
            <a:r>
              <a:rPr lang="nl-BE" dirty="0" err="1">
                <a:solidFill>
                  <a:srgbClr val="00283C"/>
                </a:solidFill>
              </a:rPr>
              <a:t>the</a:t>
            </a:r>
            <a:r>
              <a:rPr lang="nl-BE" dirty="0">
                <a:solidFill>
                  <a:srgbClr val="00283C"/>
                </a:solidFill>
              </a:rPr>
              <a:t> special </a:t>
            </a:r>
            <a:r>
              <a:rPr lang="nl-BE" dirty="0" err="1">
                <a:solidFill>
                  <a:srgbClr val="00283C"/>
                </a:solidFill>
              </a:rPr>
              <a:t>react</a:t>
            </a:r>
            <a:r>
              <a:rPr lang="nl-BE" dirty="0">
                <a:solidFill>
                  <a:srgbClr val="00283C"/>
                </a:solidFill>
              </a:rPr>
              <a:t>-bootstrap </a:t>
            </a:r>
            <a:r>
              <a:rPr lang="nl-BE" dirty="0" err="1">
                <a:solidFill>
                  <a:srgbClr val="00283C"/>
                </a:solidFill>
              </a:rPr>
              <a:t>components</a:t>
            </a:r>
            <a:endParaRPr lang="nl-BE" dirty="0">
              <a:solidFill>
                <a:srgbClr val="00283C"/>
              </a:solidFill>
            </a:endParaRPr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813CDAAB-8A7C-2E8A-DEB1-75823DF47F16}"/>
              </a:ext>
            </a:extLst>
          </p:cNvPr>
          <p:cNvCxnSpPr>
            <a:cxnSpLocks/>
          </p:cNvCxnSpPr>
          <p:nvPr/>
        </p:nvCxnSpPr>
        <p:spPr>
          <a:xfrm flipV="1">
            <a:off x="6898433" y="1172974"/>
            <a:ext cx="565320" cy="1156787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488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8F583-9678-B8EB-001D-87458762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React-Bootsrap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8AF6BAD-EEE0-A818-0657-3FE4A1CA487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24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884B069-6574-45CC-7D74-A26A8C089ED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Package </a:t>
            </a:r>
            <a:r>
              <a:rPr lang="nl-NL" dirty="0" err="1"/>
              <a:t>created</a:t>
            </a:r>
            <a:r>
              <a:rPr lang="nl-NL" dirty="0"/>
              <a:t> for React </a:t>
            </a:r>
            <a:r>
              <a:rPr lang="nl-NL" dirty="0" err="1"/>
              <a:t>based</a:t>
            </a:r>
            <a:r>
              <a:rPr lang="nl-NL" dirty="0"/>
              <a:t> </a:t>
            </a:r>
            <a:r>
              <a:rPr lang="nl-NL" dirty="0" err="1"/>
              <a:t>upon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bootstrap framework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Contains</a:t>
            </a:r>
            <a:r>
              <a:rPr lang="nl-NL" dirty="0"/>
              <a:t> React </a:t>
            </a:r>
            <a:r>
              <a:rPr lang="nl-NL" dirty="0" err="1"/>
              <a:t>components</a:t>
            </a:r>
            <a:r>
              <a:rPr lang="nl-NL" dirty="0"/>
              <a:t> for different UI </a:t>
            </a:r>
            <a:r>
              <a:rPr lang="nl-NL" dirty="0" err="1"/>
              <a:t>elements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Documentation</a:t>
            </a:r>
            <a:r>
              <a:rPr lang="nl-NL" dirty="0"/>
              <a:t>:</a:t>
            </a:r>
            <a:br>
              <a:rPr lang="nl-NL" dirty="0"/>
            </a:br>
            <a:r>
              <a:rPr lang="nl-NL" dirty="0">
                <a:hlinkClick r:id="rId2"/>
              </a:rPr>
              <a:t>https://react-bootstrap.netlify.app/docs/getting-started/why-react-bootstrap</a:t>
            </a:r>
            <a:r>
              <a:rPr lang="nl-NL" dirty="0"/>
              <a:t>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44637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2222D9-339E-ACF0-049D-399BC835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React-Bootstrap =&gt; button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A94C3A1-FEFF-DB7A-7FED-6D0E08B5EA3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25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CBB7CD9-7B7E-AC1F-F0F7-473F2112D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6" y="1624419"/>
            <a:ext cx="6619304" cy="484425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Ovaal 6">
            <a:extLst>
              <a:ext uri="{FF2B5EF4-FFF2-40B4-BE49-F238E27FC236}">
                <a16:creationId xmlns:a16="http://schemas.microsoft.com/office/drawing/2014/main" id="{06997717-74A3-7323-8E98-44FB52D08C86}"/>
              </a:ext>
            </a:extLst>
          </p:cNvPr>
          <p:cNvSpPr/>
          <p:nvPr/>
        </p:nvSpPr>
        <p:spPr>
          <a:xfrm>
            <a:off x="3226885" y="3497332"/>
            <a:ext cx="1819899" cy="360039"/>
          </a:xfrm>
          <a:prstGeom prst="ellipse">
            <a:avLst/>
          </a:prstGeom>
          <a:noFill/>
          <a:ln w="28575">
            <a:solidFill>
              <a:srgbClr val="0028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5E78F1BB-8667-1141-8CCF-13155BEDD976}"/>
              </a:ext>
            </a:extLst>
          </p:cNvPr>
          <p:cNvCxnSpPr>
            <a:cxnSpLocks/>
          </p:cNvCxnSpPr>
          <p:nvPr/>
        </p:nvCxnSpPr>
        <p:spPr>
          <a:xfrm flipV="1">
            <a:off x="4901382" y="3135179"/>
            <a:ext cx="933820" cy="450977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6945E8C8-5144-D8DE-4F17-BBDE2FCEC64F}"/>
              </a:ext>
            </a:extLst>
          </p:cNvPr>
          <p:cNvSpPr txBox="1"/>
          <p:nvPr/>
        </p:nvSpPr>
        <p:spPr>
          <a:xfrm>
            <a:off x="5835202" y="2848519"/>
            <a:ext cx="271099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00283C"/>
                </a:solidFill>
              </a:rPr>
              <a:t>Select a </a:t>
            </a:r>
            <a:r>
              <a:rPr lang="nl-BE" dirty="0" err="1">
                <a:solidFill>
                  <a:srgbClr val="00283C"/>
                </a:solidFill>
              </a:rPr>
              <a:t>predefined</a:t>
            </a:r>
            <a:r>
              <a:rPr lang="nl-BE" dirty="0">
                <a:solidFill>
                  <a:srgbClr val="00283C"/>
                </a:solidFill>
              </a:rPr>
              <a:t> </a:t>
            </a:r>
            <a:r>
              <a:rPr lang="nl-BE" dirty="0" err="1">
                <a:solidFill>
                  <a:srgbClr val="00283C"/>
                </a:solidFill>
              </a:rPr>
              <a:t>style</a:t>
            </a:r>
            <a:endParaRPr lang="nl-BE" dirty="0">
              <a:solidFill>
                <a:srgbClr val="00283C"/>
              </a:solidFill>
            </a:endParaRPr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8603978C-D195-8649-8491-CC719DB7B1DF}"/>
              </a:ext>
            </a:extLst>
          </p:cNvPr>
          <p:cNvSpPr/>
          <p:nvPr/>
        </p:nvSpPr>
        <p:spPr>
          <a:xfrm>
            <a:off x="2567354" y="5442073"/>
            <a:ext cx="712285" cy="360039"/>
          </a:xfrm>
          <a:prstGeom prst="ellipse">
            <a:avLst/>
          </a:prstGeom>
          <a:noFill/>
          <a:ln w="28575">
            <a:solidFill>
              <a:srgbClr val="0028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20F8862B-F09E-D2F9-02F2-A53252944E08}"/>
              </a:ext>
            </a:extLst>
          </p:cNvPr>
          <p:cNvSpPr txBox="1"/>
          <p:nvPr/>
        </p:nvSpPr>
        <p:spPr>
          <a:xfrm>
            <a:off x="3684018" y="6049501"/>
            <a:ext cx="54809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BE" dirty="0" err="1">
                <a:solidFill>
                  <a:srgbClr val="00283C"/>
                </a:solidFill>
              </a:rPr>
              <a:t>Use</a:t>
            </a:r>
            <a:r>
              <a:rPr lang="nl-BE" dirty="0">
                <a:solidFill>
                  <a:srgbClr val="00283C"/>
                </a:solidFill>
              </a:rPr>
              <a:t> Button component </a:t>
            </a:r>
            <a:r>
              <a:rPr lang="nl-BE" dirty="0" err="1">
                <a:solidFill>
                  <a:srgbClr val="00283C"/>
                </a:solidFill>
              </a:rPr>
              <a:t>from</a:t>
            </a:r>
            <a:r>
              <a:rPr lang="nl-BE" dirty="0">
                <a:solidFill>
                  <a:srgbClr val="00283C"/>
                </a:solidFill>
              </a:rPr>
              <a:t> React-Bootstrap </a:t>
            </a:r>
            <a:r>
              <a:rPr lang="nl-BE" dirty="0" err="1">
                <a:solidFill>
                  <a:srgbClr val="00283C"/>
                </a:solidFill>
              </a:rPr>
              <a:t>library</a:t>
            </a:r>
            <a:endParaRPr lang="nl-BE" dirty="0">
              <a:solidFill>
                <a:srgbClr val="00283C"/>
              </a:solidFill>
            </a:endParaRPr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5329BA94-9DC9-71FC-FF78-1E373DE4A892}"/>
              </a:ext>
            </a:extLst>
          </p:cNvPr>
          <p:cNvCxnSpPr>
            <a:cxnSpLocks/>
          </p:cNvCxnSpPr>
          <p:nvPr/>
        </p:nvCxnSpPr>
        <p:spPr>
          <a:xfrm>
            <a:off x="3244578" y="5759966"/>
            <a:ext cx="518530" cy="377065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30F4407B-CAFD-B582-4601-F6C262E66A09}"/>
              </a:ext>
            </a:extLst>
          </p:cNvPr>
          <p:cNvCxnSpPr>
            <a:cxnSpLocks/>
          </p:cNvCxnSpPr>
          <p:nvPr/>
        </p:nvCxnSpPr>
        <p:spPr>
          <a:xfrm flipH="1">
            <a:off x="5789409" y="2463837"/>
            <a:ext cx="1640091" cy="0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518330EE-EA17-C446-0801-79358BAC5BA5}"/>
              </a:ext>
            </a:extLst>
          </p:cNvPr>
          <p:cNvSpPr txBox="1"/>
          <p:nvPr/>
        </p:nvSpPr>
        <p:spPr>
          <a:xfrm>
            <a:off x="7429500" y="2279171"/>
            <a:ext cx="274947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00283C"/>
                </a:solidFill>
              </a:rPr>
              <a:t>import button component</a:t>
            </a:r>
            <a:endParaRPr lang="nl-BE" dirty="0">
              <a:solidFill>
                <a:srgbClr val="00283C"/>
              </a:solidFill>
            </a:endParaRPr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461110B7-A7F3-A2CC-DBFE-B5D03F273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847" y="1192619"/>
            <a:ext cx="6277851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73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3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63D48-66CB-D0DF-0ABA-7A9688E8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Limiting</a:t>
            </a:r>
            <a:r>
              <a:rPr lang="nl-NL" dirty="0"/>
              <a:t> </a:t>
            </a:r>
            <a:r>
              <a:rPr lang="nl-NL" dirty="0" err="1"/>
              <a:t>css</a:t>
            </a:r>
            <a:r>
              <a:rPr lang="nl-NL" dirty="0"/>
              <a:t> scope </a:t>
            </a:r>
            <a:r>
              <a:rPr lang="nl-NL" dirty="0" err="1"/>
              <a:t>to</a:t>
            </a:r>
            <a:r>
              <a:rPr lang="nl-NL" dirty="0"/>
              <a:t> component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6C03ADF-20A1-892A-9A48-CF8046338BF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26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D7EEDA5-A410-DD43-E17C-9E14194425F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Use</a:t>
            </a:r>
            <a:r>
              <a:rPr lang="nl-NL" dirty="0"/>
              <a:t> CSS 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For </a:t>
            </a:r>
            <a:r>
              <a:rPr lang="nl-NL" dirty="0" err="1"/>
              <a:t>specific</a:t>
            </a:r>
            <a:r>
              <a:rPr lang="nl-NL" dirty="0"/>
              <a:t> </a:t>
            </a:r>
            <a:r>
              <a:rPr lang="nl-NL" dirty="0" err="1"/>
              <a:t>css</a:t>
            </a:r>
            <a:r>
              <a:rPr lang="nl-NL" dirty="0"/>
              <a:t> </a:t>
            </a:r>
            <a:r>
              <a:rPr lang="nl-NL" dirty="0" err="1"/>
              <a:t>belonging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1 component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 err="1"/>
              <a:t>Rename</a:t>
            </a:r>
            <a:r>
              <a:rPr lang="nl-BE" dirty="0"/>
              <a:t> </a:t>
            </a:r>
            <a:r>
              <a:rPr lang="nl-BE" dirty="0" err="1"/>
              <a:t>css</a:t>
            </a:r>
            <a:r>
              <a:rPr lang="nl-BE" dirty="0"/>
              <a:t> file </a:t>
            </a:r>
            <a:r>
              <a:rPr lang="nl-BE" dirty="0" err="1"/>
              <a:t>into</a:t>
            </a:r>
            <a:r>
              <a:rPr lang="nl-BE" dirty="0"/>
              <a:t> .module.css</a:t>
            </a:r>
            <a:br>
              <a:rPr lang="nl-BE" dirty="0"/>
            </a:br>
            <a:br>
              <a:rPr lang="nl-BE" dirty="0"/>
            </a:b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Import </a:t>
            </a:r>
            <a:r>
              <a:rPr lang="nl-BE" dirty="0" err="1"/>
              <a:t>all</a:t>
            </a:r>
            <a:r>
              <a:rPr lang="nl-BE" dirty="0"/>
              <a:t> </a:t>
            </a:r>
            <a:r>
              <a:rPr lang="nl-BE" dirty="0" err="1"/>
              <a:t>css</a:t>
            </a:r>
            <a:r>
              <a:rPr lang="nl-BE" dirty="0"/>
              <a:t> class </a:t>
            </a:r>
            <a:r>
              <a:rPr lang="nl-BE" dirty="0" err="1"/>
              <a:t>names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module.css file </a:t>
            </a:r>
            <a:r>
              <a:rPr lang="nl-BE" dirty="0" err="1"/>
              <a:t>into</a:t>
            </a:r>
            <a:r>
              <a:rPr lang="nl-BE" dirty="0"/>
              <a:t> a JS object: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dirty="0" err="1"/>
              <a:t>css</a:t>
            </a:r>
            <a:r>
              <a:rPr lang="nl-BE" dirty="0"/>
              <a:t> class </a:t>
            </a:r>
            <a:r>
              <a:rPr lang="nl-BE" dirty="0" err="1"/>
              <a:t>names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module.css file as </a:t>
            </a:r>
            <a:r>
              <a:rPr lang="nl-BE" dirty="0" err="1"/>
              <a:t>follows</a:t>
            </a:r>
            <a:r>
              <a:rPr lang="nl-BE" dirty="0"/>
              <a:t>: 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D6D9F3D-FF4B-6E83-BE54-E0DD0118F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64" y="2750682"/>
            <a:ext cx="2495898" cy="438211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55AEE1C7-7FA1-21CE-8954-7B77F900A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164" y="3803496"/>
            <a:ext cx="5830114" cy="362001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12957588-B43E-0C4D-E60B-43A37AD76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64" y="5133476"/>
            <a:ext cx="8145012" cy="71447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29863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1D20B-CEE8-A268-45B5-6B44E0C0A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D2D452-6367-F62D-5819-D720DC2A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Limiting</a:t>
            </a:r>
            <a:r>
              <a:rPr lang="nl-NL" dirty="0"/>
              <a:t> </a:t>
            </a:r>
            <a:r>
              <a:rPr lang="nl-NL" dirty="0" err="1"/>
              <a:t>css</a:t>
            </a:r>
            <a:r>
              <a:rPr lang="nl-NL" dirty="0"/>
              <a:t> scope </a:t>
            </a:r>
            <a:r>
              <a:rPr lang="nl-NL" dirty="0" err="1"/>
              <a:t>to</a:t>
            </a:r>
            <a:r>
              <a:rPr lang="nl-NL" dirty="0"/>
              <a:t> component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8EBF909-628D-3C14-6CC7-03CBAD6FB71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27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FE90A19-306C-3C7D-C8DE-FD9044B096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Css</a:t>
            </a:r>
            <a:r>
              <a:rPr lang="nl-NL" dirty="0"/>
              <a:t> class </a:t>
            </a:r>
            <a:r>
              <a:rPr lang="nl-NL" dirty="0" err="1"/>
              <a:t>names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module.css file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renamed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unique</a:t>
            </a:r>
            <a:r>
              <a:rPr lang="nl-NL" dirty="0"/>
              <a:t> </a:t>
            </a:r>
            <a:r>
              <a:rPr lang="nl-NL" dirty="0" err="1"/>
              <a:t>css</a:t>
            </a:r>
            <a:r>
              <a:rPr lang="nl-NL" dirty="0"/>
              <a:t> class </a:t>
            </a:r>
            <a:r>
              <a:rPr lang="nl-NL" dirty="0" err="1"/>
              <a:t>names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avoid</a:t>
            </a:r>
            <a:r>
              <a:rPr lang="nl-NL" dirty="0"/>
              <a:t> </a:t>
            </a:r>
            <a:r>
              <a:rPr lang="nl-NL" dirty="0" err="1"/>
              <a:t>collision</a:t>
            </a:r>
            <a:r>
              <a:rPr lang="nl-NL" dirty="0"/>
              <a:t>:</a:t>
            </a:r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91BAD01-0182-81E7-D6F6-CE5B65294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090" y="2590684"/>
            <a:ext cx="6574777" cy="116180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D4323C31-C18A-591B-4966-9C51BEA08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56" y="2590684"/>
            <a:ext cx="3051438" cy="2252086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12EAEB10-11E1-A360-D170-7D73BB79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88"/>
          <a:stretch/>
        </p:blipFill>
        <p:spPr>
          <a:xfrm>
            <a:off x="4620223" y="4230886"/>
            <a:ext cx="2951553" cy="1230227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A1774985-6FEA-A8F5-59DD-AC299391BEF1}"/>
              </a:ext>
            </a:extLst>
          </p:cNvPr>
          <p:cNvCxnSpPr>
            <a:cxnSpLocks/>
          </p:cNvCxnSpPr>
          <p:nvPr/>
        </p:nvCxnSpPr>
        <p:spPr>
          <a:xfrm>
            <a:off x="6935935" y="2353647"/>
            <a:ext cx="0" cy="474073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6ED7001C-5A93-FE01-AB2C-665683190FBB}"/>
              </a:ext>
            </a:extLst>
          </p:cNvPr>
          <p:cNvCxnSpPr>
            <a:cxnSpLocks/>
          </p:cNvCxnSpPr>
          <p:nvPr/>
        </p:nvCxnSpPr>
        <p:spPr>
          <a:xfrm>
            <a:off x="10202471" y="2590683"/>
            <a:ext cx="0" cy="474073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A34D7AD3-C20F-47F9-FF9F-D46B5850A137}"/>
              </a:ext>
            </a:extLst>
          </p:cNvPr>
          <p:cNvCxnSpPr>
            <a:cxnSpLocks/>
          </p:cNvCxnSpPr>
          <p:nvPr/>
        </p:nvCxnSpPr>
        <p:spPr>
          <a:xfrm>
            <a:off x="3525626" y="3410563"/>
            <a:ext cx="1270661" cy="997535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244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F4A35D-E4FA-B194-A948-B4F50E48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Debugging React Apps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F2ABB61-80DF-C989-1672-2E2BB85FD07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28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4106321-789D-41D1-A7A3-A5AC51BB90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F12 =&gt; </a:t>
            </a:r>
            <a:r>
              <a:rPr lang="nl-NL" dirty="0" err="1"/>
              <a:t>developer</a:t>
            </a:r>
            <a:r>
              <a:rPr lang="nl-NL" dirty="0"/>
              <a:t> tools:</a:t>
            </a:r>
          </a:p>
          <a:p>
            <a:pPr marL="702900" lvl="1" indent="-342900"/>
            <a:r>
              <a:rPr lang="nl-NL" dirty="0"/>
              <a:t>Tab sources: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0C15FD6-C4B1-45F8-618C-74280D9C5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628" y="2448911"/>
            <a:ext cx="9735487" cy="4137326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94588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ED4A-AED4-987E-6635-292DE418B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D0136F-4C7F-2CD4-CAE3-9992EE96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Debugging React Apps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13A52A-3B93-420E-434F-076095658E0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29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9B0A7A2-1110-A9CD-89ED-13D52B1458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4065589" cy="4716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Chrome </a:t>
            </a:r>
            <a:r>
              <a:rPr lang="nl-NL" dirty="0" err="1"/>
              <a:t>plugin</a:t>
            </a:r>
            <a:r>
              <a:rPr lang="nl-NL" dirty="0"/>
              <a:t>:</a:t>
            </a:r>
          </a:p>
          <a:p>
            <a:pPr marL="702900" lvl="1" indent="-342900"/>
            <a:r>
              <a:rPr lang="nl-NL" dirty="0">
                <a:hlinkClick r:id="rId2"/>
              </a:rPr>
              <a:t>React Developer Tools</a:t>
            </a:r>
            <a:endParaRPr lang="nl-NL" dirty="0"/>
          </a:p>
          <a:p>
            <a:pPr marL="702900" lvl="1" indent="-342900"/>
            <a:r>
              <a:rPr lang="nl-NL" dirty="0"/>
              <a:t>F12 =&gt; </a:t>
            </a:r>
            <a:r>
              <a:rPr lang="nl-NL" dirty="0" err="1"/>
              <a:t>components</a:t>
            </a:r>
            <a:endParaRPr lang="nl-NL" dirty="0"/>
          </a:p>
          <a:p>
            <a:pPr marL="702900" lvl="1" indent="-342900"/>
            <a:r>
              <a:rPr lang="nl-NL" dirty="0"/>
              <a:t>List of </a:t>
            </a:r>
            <a:r>
              <a:rPr lang="nl-NL" dirty="0" err="1"/>
              <a:t>components</a:t>
            </a:r>
            <a:r>
              <a:rPr lang="nl-NL" dirty="0"/>
              <a:t> in app </a:t>
            </a:r>
            <a:r>
              <a:rPr lang="nl-NL" dirty="0" err="1"/>
              <a:t>with</a:t>
            </a:r>
            <a:r>
              <a:rPr lang="nl-NL" dirty="0"/>
              <a:t> extra info like </a:t>
            </a:r>
            <a:r>
              <a:rPr lang="nl-NL" dirty="0" err="1"/>
              <a:t>props</a:t>
            </a:r>
            <a:r>
              <a:rPr lang="nl-NL" dirty="0"/>
              <a:t>, state, … (</a:t>
            </a:r>
            <a:r>
              <a:rPr lang="nl-NL" dirty="0" err="1"/>
              <a:t>see</a:t>
            </a:r>
            <a:r>
              <a:rPr lang="nl-NL" dirty="0"/>
              <a:t> later)</a:t>
            </a:r>
            <a:br>
              <a:rPr lang="nl-NL" dirty="0"/>
            </a:br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4E05529-EDEA-2B25-2312-EBCC3EDA2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634" y="1198228"/>
            <a:ext cx="7265133" cy="546034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10435418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5A7012BE-9589-4181-8E21-5EFD083870AD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AE080CEF-1B6E-4E11-BAC8-2E049189D1E6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369468EE-B720-4B8E-8A3B-E594BE133E2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M Colors Final">
    <a:dk1>
      <a:srgbClr val="000000"/>
    </a:dk1>
    <a:lt1>
      <a:srgbClr val="FFFFFF"/>
    </a:lt1>
    <a:dk2>
      <a:srgbClr val="00283C"/>
    </a:dk2>
    <a:lt2>
      <a:srgbClr val="FA6432"/>
    </a:lt2>
    <a:accent1>
      <a:srgbClr val="FA6232"/>
    </a:accent1>
    <a:accent2>
      <a:srgbClr val="FFC87B"/>
    </a:accent2>
    <a:accent3>
      <a:srgbClr val="00627B"/>
    </a:accent3>
    <a:accent4>
      <a:srgbClr val="63C8C8"/>
    </a:accent4>
    <a:accent5>
      <a:srgbClr val="86D278"/>
    </a:accent5>
    <a:accent6>
      <a:srgbClr val="C8E163"/>
    </a:accent6>
    <a:hlink>
      <a:srgbClr val="00637C"/>
    </a:hlink>
    <a:folHlink>
      <a:srgbClr val="00637C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153AE64-6066-456D-BAF4-C793C9EBE7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ef4c1-7c04-4bd8-aace-2dac36451d1b"/>
    <ds:schemaRef ds:uri="1946ab53-a53d-4984-8df3-e4b9666a14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B92E74-0DAA-4211-914A-CE18DD5C2D9B}">
  <ds:schemaRefs>
    <ds:schemaRef ds:uri="http://schemas.microsoft.com/office/2006/metadata/properties"/>
    <ds:schemaRef ds:uri="http://schemas.microsoft.com/office/infopath/2007/PartnerControls"/>
    <ds:schemaRef ds:uri="254ef4c1-7c04-4bd8-aace-2dac36451d1b"/>
    <ds:schemaRef ds:uri="1946ab53-a53d-4984-8df3-e4b9666a144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TM-PPT-sjabloon_2023-03-10_ENG</Template>
  <TotalTime>4154</TotalTime>
  <Words>1152</Words>
  <Application>Microsoft Office PowerPoint</Application>
  <PresentationFormat>Breedbeeld</PresentationFormat>
  <Paragraphs>244</Paragraphs>
  <Slides>29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3</vt:i4>
      </vt:variant>
      <vt:variant>
        <vt:lpstr>Diatitels</vt:lpstr>
      </vt:variant>
      <vt:variant>
        <vt:i4>29</vt:i4>
      </vt:variant>
    </vt:vector>
  </HeadingPairs>
  <TitlesOfParts>
    <vt:vector size="37" baseType="lpstr">
      <vt:lpstr>Arial</vt:lpstr>
      <vt:lpstr>Calibri</vt:lpstr>
      <vt:lpstr>Century Gothic</vt:lpstr>
      <vt:lpstr>Consolas</vt:lpstr>
      <vt:lpstr>Symbol</vt:lpstr>
      <vt:lpstr>WIT</vt:lpstr>
      <vt:lpstr>ORANJE</vt:lpstr>
      <vt:lpstr>BLAUW</vt:lpstr>
      <vt:lpstr>Installation - components</vt:lpstr>
      <vt:lpstr>What is React?</vt:lpstr>
      <vt:lpstr>Why not plain JavaScript?</vt:lpstr>
      <vt:lpstr>Installation</vt:lpstr>
      <vt:lpstr>Installation: node and npm</vt:lpstr>
      <vt:lpstr>installation: cmder</vt:lpstr>
      <vt:lpstr>Create new Project</vt:lpstr>
      <vt:lpstr>Create new Project</vt:lpstr>
      <vt:lpstr>Project structure</vt:lpstr>
      <vt:lpstr>Demo project</vt:lpstr>
      <vt:lpstr>Architecture React app</vt:lpstr>
      <vt:lpstr>Why components?</vt:lpstr>
      <vt:lpstr>Component</vt:lpstr>
      <vt:lpstr>Demo project</vt:lpstr>
      <vt:lpstr>Rendering app component</vt:lpstr>
      <vt:lpstr>App component</vt:lpstr>
      <vt:lpstr>Markup in JSX</vt:lpstr>
      <vt:lpstr>Create new component</vt:lpstr>
      <vt:lpstr>PowerPoint-presentatie</vt:lpstr>
      <vt:lpstr>Adding styles</vt:lpstr>
      <vt:lpstr>Add styles belonging to component</vt:lpstr>
      <vt:lpstr>Adding CSS reset</vt:lpstr>
      <vt:lpstr>Adding bootstrap</vt:lpstr>
      <vt:lpstr>React-Bootsrap</vt:lpstr>
      <vt:lpstr>React-Bootstrap =&gt; button</vt:lpstr>
      <vt:lpstr>Limiting css scope to component</vt:lpstr>
      <vt:lpstr>Limiting css scope to component</vt:lpstr>
      <vt:lpstr>Debugging React Apps</vt:lpstr>
      <vt:lpstr>Debugging React Apps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Sofie Beerens</dc:creator>
  <cp:lastModifiedBy>Sofie Beerens</cp:lastModifiedBy>
  <cp:revision>94</cp:revision>
  <cp:lastPrinted>2023-01-03T10:29:33Z</cp:lastPrinted>
  <dcterms:created xsi:type="dcterms:W3CDTF">2024-12-13T11:53:24Z</dcterms:created>
  <dcterms:modified xsi:type="dcterms:W3CDTF">2026-03-12T14:02:05Z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2023-03-10T10:43:24Z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432aaed0-9091-4564-aed9-c4e68b86c6a4</vt:lpwstr>
  </property>
  <property fmtid="{D5CDD505-2E9C-101B-9397-08002B2CF9AE}" pid="10" name="MSIP_Label_c337be75-dfbb-4261-9834-ac247c7dde13_ContentBits">
    <vt:lpwstr>0</vt:lpwstr>
  </property>
</Properties>
</file>