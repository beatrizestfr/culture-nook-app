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3" r:id="rId3"/>
    <p:sldId id="264" r:id="rId4"/>
    <p:sldId id="279" r:id="rId5"/>
    <p:sldId id="280" r:id="rId6"/>
    <p:sldId id="281" r:id="rId7"/>
    <p:sldId id="282" r:id="rId8"/>
    <p:sldId id="283" r:id="rId9"/>
    <p:sldId id="284" r:id="rId10"/>
    <p:sldId id="289" r:id="rId11"/>
    <p:sldId id="285" r:id="rId12"/>
    <p:sldId id="286" r:id="rId13"/>
    <p:sldId id="287" r:id="rId14"/>
    <p:sldId id="265" r:id="rId15"/>
    <p:sldId id="266" r:id="rId16"/>
    <p:sldId id="267" r:id="rId17"/>
    <p:sldId id="273" r:id="rId18"/>
    <p:sldId id="268" r:id="rId19"/>
    <p:sldId id="277" r:id="rId20"/>
    <p:sldId id="272" r:id="rId21"/>
    <p:sldId id="271" r:id="rId22"/>
    <p:sldId id="270" r:id="rId23"/>
    <p:sldId id="275" r:id="rId24"/>
    <p:sldId id="278" r:id="rId25"/>
    <p:sldId id="269" r:id="rId26"/>
    <p:sldId id="274" r:id="rId27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fie Beerens" initials="SB" lastIdx="1" clrIdx="0">
    <p:extLst>
      <p:ext uri="{19B8F6BF-5375-455C-9EA6-DF929625EA0E}">
        <p15:presenceInfo xmlns:p15="http://schemas.microsoft.com/office/powerpoint/2012/main" userId="Sofie Beeren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4B2F"/>
    <a:srgbClr val="00A0AE"/>
    <a:srgbClr val="000000"/>
    <a:srgbClr val="E1E7E7"/>
    <a:srgbClr val="4B2B4B"/>
    <a:srgbClr val="50C6DD"/>
    <a:srgbClr val="D1CAD2"/>
    <a:srgbClr val="B7A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3980" autoAdjust="0"/>
  </p:normalViewPr>
  <p:slideViewPr>
    <p:cSldViewPr showGuides="1">
      <p:cViewPr varScale="1">
        <p:scale>
          <a:sx n="104" d="100"/>
          <a:sy n="104" d="100"/>
        </p:scale>
        <p:origin x="187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-2022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F1A4A96-82D9-489B-915B-218BDB102403}" type="datetimeFigureOut">
              <a:rPr lang="nl-BE" smtClean="0"/>
              <a:pPr/>
              <a:t>12/03/2026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17EFB8-940B-4475-A4F4-BBE959E16336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1363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1925427-6E8A-463A-9752-7D22F5CAF14A}" type="datetimeFigureOut">
              <a:rPr lang="nl-BE" smtClean="0"/>
              <a:pPr/>
              <a:t>12/03/2026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ED9555-764A-4B78-873A-3D7406AAEA2B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58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9702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34943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GUI design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1" name="Picture 10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4" name="Picture 13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gagespark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articles/ux-mapping-cheat-shee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://pa11y.org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flow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GUI design – Sofie Beerens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Elements of user experience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" y="1412776"/>
            <a:ext cx="9057995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6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interviews en observations</a:t>
            </a:r>
          </a:p>
          <a:p>
            <a:r>
              <a:rPr lang="en-US" dirty="0"/>
              <a:t>workshops and focus groups with end users</a:t>
            </a:r>
          </a:p>
          <a:p>
            <a:r>
              <a:rPr lang="en-US" dirty="0"/>
              <a:t>web surveys</a:t>
            </a:r>
            <a:r>
              <a:rPr lang="en-US" noProof="0" dirty="0"/>
              <a:t>:</a:t>
            </a:r>
          </a:p>
          <a:p>
            <a:pPr lvl="1"/>
            <a:r>
              <a:rPr lang="en-US" noProof="0" dirty="0"/>
              <a:t>online</a:t>
            </a:r>
          </a:p>
          <a:p>
            <a:pPr lvl="1"/>
            <a:r>
              <a:rPr lang="en-US" noProof="0" dirty="0"/>
              <a:t>phone or </a:t>
            </a:r>
            <a:r>
              <a:rPr lang="en-US" noProof="0" dirty="0" err="1"/>
              <a:t>sms</a:t>
            </a:r>
            <a:r>
              <a:rPr lang="en-US" noProof="0" dirty="0"/>
              <a:t> (</a:t>
            </a:r>
            <a:r>
              <a:rPr lang="en-US" noProof="0" dirty="0">
                <a:hlinkClick r:id="rId2"/>
              </a:rPr>
              <a:t>EngageSpark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personal</a:t>
            </a:r>
          </a:p>
          <a:p>
            <a:r>
              <a:rPr lang="en-US" dirty="0"/>
              <a:t>review / test existing solutions</a:t>
            </a:r>
          </a:p>
          <a:p>
            <a:r>
              <a:rPr lang="en-US" noProof="0" dirty="0"/>
              <a:t>…</a:t>
            </a: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 needs &amp; specs/requirements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72509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big picture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7" name="Tijdelijke aanduiding voor inhoud 6"/>
          <p:cNvSpPr>
            <a:spLocks noGrp="1"/>
          </p:cNvSpPr>
          <p:nvPr>
            <p:ph idx="1"/>
          </p:nvPr>
        </p:nvSpPr>
        <p:spPr>
          <a:xfrm>
            <a:off x="5076056" y="1152000"/>
            <a:ext cx="4067944" cy="4428000"/>
          </a:xfrm>
        </p:spPr>
        <p:txBody>
          <a:bodyPr>
            <a:normAutofit/>
          </a:bodyPr>
          <a:lstStyle/>
          <a:p>
            <a:r>
              <a:rPr lang="en-US" sz="2400" noProof="0" dirty="0"/>
              <a:t>People don’t buy products, they buy better versions of themselves. </a:t>
            </a:r>
          </a:p>
          <a:p>
            <a:endParaRPr lang="en-US" sz="2400" noProof="0" dirty="0"/>
          </a:p>
          <a:p>
            <a:r>
              <a:rPr lang="en-US" sz="2400" dirty="0"/>
              <a:t>=&gt; Find out which features really need to be added</a:t>
            </a:r>
            <a:endParaRPr lang="en-US" sz="2400" noProof="0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27256"/>
            <a:ext cx="5552415" cy="3857928"/>
          </a:xfrm>
          <a:prstGeom prst="rect">
            <a:avLst/>
          </a:prstGeom>
        </p:spPr>
      </p:pic>
      <p:sp>
        <p:nvSpPr>
          <p:cNvPr id="2" name="Rechthoek 1"/>
          <p:cNvSpPr/>
          <p:nvPr/>
        </p:nvSpPr>
        <p:spPr>
          <a:xfrm>
            <a:off x="251520" y="5166320"/>
            <a:ext cx="8640960" cy="673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000000"/>
                </a:solidFill>
              </a:rPr>
              <a:t>ALWAYS consider "the big picture" =&gt; what does the customer want to achieve and what is the best way to do it?</a:t>
            </a:r>
          </a:p>
        </p:txBody>
      </p:sp>
    </p:spTree>
    <p:extLst>
      <p:ext uri="{BB962C8B-B14F-4D97-AF65-F5344CB8AC3E}">
        <p14:creationId xmlns:p14="http://schemas.microsoft.com/office/powerpoint/2010/main" val="85935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App development </a:t>
            </a:r>
          </a:p>
          <a:p>
            <a:pPr marL="0" indent="0">
              <a:buNone/>
            </a:pPr>
            <a:r>
              <a:rPr lang="en-US" dirty="0"/>
              <a:t>	=&gt; large team of people with different 			     backgrounds and experiences who </a:t>
            </a:r>
          </a:p>
          <a:p>
            <a:pPr marL="0" indent="0">
              <a:buNone/>
            </a:pPr>
            <a:r>
              <a:rPr lang="en-US" dirty="0"/>
              <a:t>	=&gt; must be on the same page about project 	  	    goals, user needs and behaviors</a:t>
            </a:r>
          </a:p>
          <a:p>
            <a:pPr marL="0" indent="0">
              <a:buNone/>
            </a:pPr>
            <a:r>
              <a:rPr lang="en-US" dirty="0"/>
              <a:t>	=&gt; this common understanding is built with  	 	    visualizations (mappings). </a:t>
            </a:r>
          </a:p>
          <a:p>
            <a:r>
              <a:rPr lang="en-US" dirty="0"/>
              <a:t>Mappings describe various aspects and processes associated with a product.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Ux</a:t>
            </a:r>
            <a:r>
              <a:rPr lang="nl-BE" dirty="0"/>
              <a:t> </a:t>
            </a:r>
            <a:r>
              <a:rPr lang="nl-BE" dirty="0" err="1"/>
              <a:t>mapping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5050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2915816" cy="442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>
                <a:hlinkClick r:id="rId3"/>
              </a:rPr>
              <a:t>4 types</a:t>
            </a:r>
            <a:r>
              <a:rPr lang="en-US" sz="2400" noProof="0" dirty="0"/>
              <a:t>:</a:t>
            </a:r>
          </a:p>
          <a:p>
            <a:r>
              <a:rPr lang="en-US" sz="2400" noProof="0" dirty="0"/>
              <a:t>Empathy</a:t>
            </a:r>
          </a:p>
          <a:p>
            <a:r>
              <a:rPr lang="en-US" sz="2400" noProof="0" dirty="0"/>
              <a:t>Customer journey</a:t>
            </a:r>
          </a:p>
          <a:p>
            <a:r>
              <a:rPr lang="en-US" sz="2400" noProof="0" dirty="0"/>
              <a:t>Experience</a:t>
            </a:r>
          </a:p>
          <a:p>
            <a:r>
              <a:rPr lang="en-US" sz="2400" noProof="0" dirty="0"/>
              <a:t>Service</a:t>
            </a:r>
          </a:p>
          <a:p>
            <a:pPr lvl="1"/>
            <a:endParaRPr lang="en-US" sz="20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Ux</a:t>
            </a:r>
            <a:r>
              <a:rPr lang="en-US" noProof="0" dirty="0"/>
              <a:t> mapping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1187432"/>
            <a:ext cx="6158993" cy="473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36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4572000" cy="4428000"/>
          </a:xfrm>
        </p:spPr>
        <p:txBody>
          <a:bodyPr>
            <a:normAutofit fontScale="77500" lnSpcReduction="20000"/>
          </a:bodyPr>
          <a:lstStyle/>
          <a:p>
            <a:r>
              <a:rPr lang="nl-BE" dirty="0"/>
              <a:t>Goal: </a:t>
            </a:r>
          </a:p>
          <a:p>
            <a:pPr lvl="1"/>
            <a:r>
              <a:rPr lang="nl-BE" dirty="0" err="1"/>
              <a:t>understand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user’s</a:t>
            </a:r>
            <a:r>
              <a:rPr lang="nl-BE" dirty="0"/>
              <a:t> </a:t>
            </a:r>
            <a:r>
              <a:rPr lang="nl-BE" dirty="0" err="1"/>
              <a:t>mindset</a:t>
            </a:r>
            <a:endParaRPr lang="nl-BE" dirty="0"/>
          </a:p>
          <a:p>
            <a:pPr lvl="1"/>
            <a:r>
              <a:rPr lang="nl-BE" dirty="0" err="1"/>
              <a:t>User’s</a:t>
            </a:r>
            <a:r>
              <a:rPr lang="nl-BE" dirty="0"/>
              <a:t> </a:t>
            </a:r>
            <a:r>
              <a:rPr lang="nl-BE" dirty="0" err="1"/>
              <a:t>perspective</a:t>
            </a:r>
            <a:r>
              <a:rPr lang="nl-BE" dirty="0"/>
              <a:t> </a:t>
            </a:r>
            <a:r>
              <a:rPr lang="nl-BE" dirty="0" err="1"/>
              <a:t>regarding</a:t>
            </a:r>
            <a:r>
              <a:rPr lang="nl-BE" dirty="0"/>
              <a:t> info / </a:t>
            </a:r>
            <a:r>
              <a:rPr lang="nl-BE" dirty="0" err="1"/>
              <a:t>functions</a:t>
            </a:r>
            <a:endParaRPr lang="nl-BE" dirty="0"/>
          </a:p>
          <a:p>
            <a:pPr lvl="1"/>
            <a:r>
              <a:rPr lang="nl-BE" dirty="0"/>
              <a:t>Force </a:t>
            </a:r>
            <a:r>
              <a:rPr lang="nl-BE" dirty="0" err="1"/>
              <a:t>alignment</a:t>
            </a:r>
            <a:r>
              <a:rPr lang="nl-BE" dirty="0"/>
              <a:t>/</a:t>
            </a:r>
            <a:r>
              <a:rPr lang="nl-BE" dirty="0" err="1"/>
              <a:t>understanding</a:t>
            </a:r>
            <a:r>
              <a:rPr lang="nl-BE" dirty="0"/>
              <a:t> </a:t>
            </a:r>
            <a:r>
              <a:rPr lang="nl-BE" dirty="0" err="1"/>
              <a:t>about</a:t>
            </a:r>
            <a:r>
              <a:rPr lang="nl-BE" dirty="0"/>
              <a:t> a user type</a:t>
            </a:r>
            <a:br>
              <a:rPr lang="nl-BE" dirty="0"/>
            </a:br>
            <a:endParaRPr lang="nl-BE" dirty="0"/>
          </a:p>
          <a:p>
            <a:r>
              <a:rPr lang="nl-BE" dirty="0" err="1"/>
              <a:t>Characteristics</a:t>
            </a:r>
            <a:r>
              <a:rPr lang="nl-BE" dirty="0"/>
              <a:t>:</a:t>
            </a:r>
          </a:p>
          <a:p>
            <a:pPr lvl="1"/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chronological</a:t>
            </a:r>
            <a:endParaRPr lang="nl-BE" dirty="0"/>
          </a:p>
          <a:p>
            <a:pPr lvl="1"/>
            <a:r>
              <a:rPr lang="nl-BE" dirty="0" err="1"/>
              <a:t>One</a:t>
            </a:r>
            <a:r>
              <a:rPr lang="nl-BE" dirty="0"/>
              <a:t> for </a:t>
            </a:r>
            <a:r>
              <a:rPr lang="nl-BE" dirty="0" err="1"/>
              <a:t>every</a:t>
            </a:r>
            <a:r>
              <a:rPr lang="nl-BE" dirty="0"/>
              <a:t> type of user</a:t>
            </a:r>
          </a:p>
          <a:p>
            <a:pPr lvl="1"/>
            <a:endParaRPr lang="nl-BE" dirty="0"/>
          </a:p>
          <a:p>
            <a:r>
              <a:rPr lang="nl-BE" dirty="0" err="1"/>
              <a:t>When</a:t>
            </a:r>
            <a:r>
              <a:rPr lang="nl-BE" dirty="0"/>
              <a:t>: </a:t>
            </a:r>
            <a:br>
              <a:rPr lang="nl-BE" dirty="0"/>
            </a:br>
            <a:r>
              <a:rPr lang="nl-BE" dirty="0"/>
              <a:t>   </a:t>
            </a:r>
            <a:r>
              <a:rPr lang="nl-BE" dirty="0" err="1"/>
              <a:t>beginning</a:t>
            </a:r>
            <a:r>
              <a:rPr lang="nl-BE" dirty="0"/>
              <a:t> design proces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Empathy</a:t>
            </a:r>
            <a:r>
              <a:rPr lang="nl-BE" dirty="0"/>
              <a:t> </a:t>
            </a:r>
            <a:r>
              <a:rPr lang="nl-BE" dirty="0" err="1"/>
              <a:t>mapping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2AA9E1F-0129-9C81-2B3B-BF042DB79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384160"/>
            <a:ext cx="4751406" cy="41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0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Customer </a:t>
            </a:r>
            <a:r>
              <a:rPr lang="nl-BE" dirty="0" err="1"/>
              <a:t>journey</a:t>
            </a:r>
            <a:r>
              <a:rPr lang="nl-BE" dirty="0"/>
              <a:t> </a:t>
            </a:r>
            <a:r>
              <a:rPr lang="nl-BE" dirty="0" err="1"/>
              <a:t>mapping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3" t="1370" r="8401" b="8219"/>
          <a:stretch/>
        </p:blipFill>
        <p:spPr>
          <a:xfrm>
            <a:off x="4251986" y="1196752"/>
            <a:ext cx="4856518" cy="4752528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4644008" cy="5085312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Goal: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visualize process to complete task / find information for specific product or service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Break down silos, one shared understanding of customer journey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define pain points and assign ownership to internal departments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one for every task</a:t>
            </a:r>
          </a:p>
          <a:p>
            <a:pPr lvl="1"/>
            <a:r>
              <a:rPr lang="en-US" dirty="0"/>
              <a:t>chronological</a:t>
            </a:r>
          </a:p>
          <a:p>
            <a:pPr lvl="1"/>
            <a:r>
              <a:rPr lang="en-US" dirty="0"/>
              <a:t>4 elements:</a:t>
            </a:r>
          </a:p>
          <a:p>
            <a:pPr lvl="2"/>
            <a:r>
              <a:rPr lang="en-US" dirty="0"/>
              <a:t>phases</a:t>
            </a:r>
          </a:p>
          <a:p>
            <a:pPr lvl="2"/>
            <a:r>
              <a:rPr lang="en-US" dirty="0"/>
              <a:t>actions</a:t>
            </a:r>
          </a:p>
          <a:p>
            <a:pPr lvl="2"/>
            <a:r>
              <a:rPr lang="en-US" dirty="0"/>
              <a:t>thoughts</a:t>
            </a:r>
          </a:p>
          <a:p>
            <a:pPr lvl="2"/>
            <a:r>
              <a:rPr lang="en-US" dirty="0"/>
              <a:t>mindsets/emotion</a:t>
            </a:r>
            <a:r>
              <a:rPr lang="nl-BE" dirty="0"/>
              <a:t>s</a:t>
            </a:r>
          </a:p>
          <a:p>
            <a:pPr lvl="2"/>
            <a:endParaRPr lang="nl-BE" dirty="0"/>
          </a:p>
          <a:p>
            <a:r>
              <a:rPr lang="nl-BE" dirty="0" err="1"/>
              <a:t>When</a:t>
            </a:r>
            <a:r>
              <a:rPr lang="nl-BE" dirty="0"/>
              <a:t>:</a:t>
            </a:r>
            <a:br>
              <a:rPr lang="nl-BE" dirty="0"/>
            </a:br>
            <a:r>
              <a:rPr lang="nl-BE" dirty="0"/>
              <a:t>     complete design </a:t>
            </a:r>
            <a:r>
              <a:rPr lang="nl-BE" dirty="0" err="1"/>
              <a:t>cycle</a:t>
            </a:r>
            <a:endParaRPr lang="nl-B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6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Experience</a:t>
            </a:r>
            <a:r>
              <a:rPr lang="nl-BE" dirty="0"/>
              <a:t> </a:t>
            </a:r>
            <a:r>
              <a:rPr lang="nl-BE" dirty="0" err="1"/>
              <a:t>mapping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1F2459D-491A-6D0E-B6C9-1D43A07F1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408"/>
            <a:ext cx="9144000" cy="476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36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C746-D473-3D15-3EA2-F63301C7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62F01BF-537F-547D-5C89-0A72B8F3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Experience</a:t>
            </a:r>
            <a:r>
              <a:rPr lang="nl-BE" dirty="0"/>
              <a:t> </a:t>
            </a:r>
            <a:r>
              <a:rPr lang="nl-BE" dirty="0" err="1"/>
              <a:t>mapping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C045C3-C39C-C17D-B77E-F2DDCB077E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14D9084-CE86-014D-6071-3C8B2CE17F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B6F0DFE-56D7-D496-DE25-FAE4E942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408"/>
            <a:ext cx="9144000" cy="4765184"/>
          </a:xfrm>
          <a:prstGeom prst="rect">
            <a:avLst/>
          </a:prstGeom>
        </p:spPr>
      </p:pic>
      <p:pic>
        <p:nvPicPr>
          <p:cNvPr id="1026" name="Picture 2" descr="experience map example">
            <a:extLst>
              <a:ext uri="{FF2B5EF4-FFF2-40B4-BE49-F238E27FC236}">
                <a16:creationId xmlns:a16="http://schemas.microsoft.com/office/drawing/2014/main" id="{E81A9F72-A775-AA9D-BF54-3DD1FDDAB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597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Experience</a:t>
            </a:r>
            <a:r>
              <a:rPr lang="nl-BE" dirty="0"/>
              <a:t> </a:t>
            </a:r>
            <a:r>
              <a:rPr lang="nl-BE" dirty="0" err="1"/>
              <a:t>mapping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80512" cy="50853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Goal: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generalize customer-journey maps across user types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understand general human behavior</a:t>
            </a:r>
            <a:br>
              <a:rPr lang="en-US" dirty="0"/>
            </a:br>
            <a:endParaRPr lang="en-US" dirty="0"/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general perspective</a:t>
            </a:r>
          </a:p>
          <a:p>
            <a:pPr lvl="1"/>
            <a:r>
              <a:rPr lang="en-US" dirty="0"/>
              <a:t>chronological</a:t>
            </a:r>
          </a:p>
          <a:p>
            <a:pPr lvl="1"/>
            <a:r>
              <a:rPr lang="en-US" dirty="0"/>
              <a:t>4 elements:</a:t>
            </a:r>
          </a:p>
          <a:p>
            <a:pPr lvl="2"/>
            <a:r>
              <a:rPr lang="en-US" dirty="0"/>
              <a:t>phases</a:t>
            </a:r>
          </a:p>
          <a:p>
            <a:pPr lvl="2"/>
            <a:r>
              <a:rPr lang="en-US" dirty="0"/>
              <a:t>actions</a:t>
            </a:r>
          </a:p>
          <a:p>
            <a:pPr lvl="2"/>
            <a:r>
              <a:rPr lang="en-US" dirty="0"/>
              <a:t>thoughts</a:t>
            </a:r>
          </a:p>
          <a:p>
            <a:pPr lvl="2"/>
            <a:r>
              <a:rPr lang="en-US" dirty="0"/>
              <a:t>mindsets/emotion</a:t>
            </a:r>
            <a:r>
              <a:rPr lang="nl-BE" dirty="0"/>
              <a:t>s</a:t>
            </a:r>
          </a:p>
          <a:p>
            <a:pPr lvl="2"/>
            <a:endParaRPr lang="nl-BE" dirty="0"/>
          </a:p>
          <a:p>
            <a:r>
              <a:rPr lang="nl-BE" dirty="0" err="1"/>
              <a:t>When</a:t>
            </a:r>
            <a:r>
              <a:rPr lang="nl-BE" dirty="0"/>
              <a:t>:</a:t>
            </a:r>
          </a:p>
          <a:p>
            <a:pPr lvl="1"/>
            <a:r>
              <a:rPr lang="nl-BE" dirty="0" err="1"/>
              <a:t>before</a:t>
            </a:r>
            <a:r>
              <a:rPr lang="nl-BE" dirty="0"/>
              <a:t> customer </a:t>
            </a:r>
            <a:r>
              <a:rPr lang="nl-BE" dirty="0" err="1"/>
              <a:t>journey</a:t>
            </a:r>
            <a:r>
              <a:rPr lang="nl-BE" dirty="0"/>
              <a:t> map</a:t>
            </a:r>
          </a:p>
          <a:p>
            <a:pPr lvl="1"/>
            <a:r>
              <a:rPr lang="nl-BE" dirty="0" err="1"/>
              <a:t>Converging</a:t>
            </a:r>
            <a:r>
              <a:rPr lang="nl-BE" dirty="0"/>
              <a:t> multiple </a:t>
            </a:r>
            <a:r>
              <a:rPr lang="nl-BE" dirty="0" err="1"/>
              <a:t>experiences</a:t>
            </a:r>
            <a:r>
              <a:rPr lang="nl-BE" dirty="0"/>
              <a:t> </a:t>
            </a:r>
            <a:r>
              <a:rPr lang="nl-BE" dirty="0" err="1"/>
              <a:t>into</a:t>
            </a:r>
            <a:r>
              <a:rPr lang="nl-BE" dirty="0"/>
              <a:t> 1 </a:t>
            </a:r>
            <a:r>
              <a:rPr lang="nl-BE" dirty="0" err="1"/>
              <a:t>visualization</a:t>
            </a:r>
            <a:endParaRPr lang="nl-B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66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 </a:t>
            </a:r>
            <a:r>
              <a:rPr lang="nl-BE" dirty="0" err="1"/>
              <a:t>Blueprinting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432C1D-4D11-7B1C-41C6-F2DCD9F0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602"/>
            <a:ext cx="9144000" cy="47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 </a:t>
            </a:r>
            <a:r>
              <a:rPr lang="nl-BE" dirty="0" err="1"/>
              <a:t>Blueprinting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80512" cy="5229328"/>
          </a:xfrm>
        </p:spPr>
        <p:txBody>
          <a:bodyPr>
            <a:normAutofit fontScale="55000" lnSpcReduction="20000"/>
          </a:bodyPr>
          <a:lstStyle/>
          <a:p>
            <a:r>
              <a:rPr lang="en-US" sz="3200" dirty="0"/>
              <a:t>Goal:</a:t>
            </a:r>
          </a:p>
          <a:p>
            <a:pPr lvl="1">
              <a:lnSpc>
                <a:spcPct val="120000"/>
              </a:lnSpc>
            </a:pPr>
            <a:r>
              <a:rPr lang="en-US" sz="2900" dirty="0"/>
              <a:t>visualize relation between service and tasks/processes followed by users</a:t>
            </a:r>
          </a:p>
          <a:p>
            <a:pPr lvl="1">
              <a:lnSpc>
                <a:spcPct val="120000"/>
              </a:lnSpc>
            </a:pPr>
            <a:r>
              <a:rPr lang="en-US" sz="2900" dirty="0"/>
              <a:t>discover weaknesses in organization, identify optimization opportunities</a:t>
            </a:r>
          </a:p>
          <a:p>
            <a:pPr lvl="1">
              <a:lnSpc>
                <a:spcPct val="120000"/>
              </a:lnSpc>
            </a:pPr>
            <a:r>
              <a:rPr lang="en-US" sz="2900" dirty="0"/>
              <a:t>create one shared, organization-wide understanding of how the service is provided</a:t>
            </a:r>
            <a:br>
              <a:rPr lang="en-US" sz="2900" dirty="0"/>
            </a:br>
            <a:endParaRPr lang="en-US" sz="2900" dirty="0"/>
          </a:p>
          <a:p>
            <a:r>
              <a:rPr lang="en-US" sz="3200" dirty="0"/>
              <a:t>Characteristics:				</a:t>
            </a:r>
          </a:p>
          <a:p>
            <a:pPr lvl="1"/>
            <a:r>
              <a:rPr lang="en-US" sz="2900" dirty="0"/>
              <a:t>Chronological and hierarchical</a:t>
            </a:r>
          </a:p>
          <a:p>
            <a:pPr lvl="1"/>
            <a:r>
              <a:rPr lang="en-US" sz="2900" dirty="0"/>
              <a:t>tied to specific task / process</a:t>
            </a:r>
          </a:p>
          <a:p>
            <a:pPr lvl="1"/>
            <a:r>
              <a:rPr lang="nl-BE" sz="2900" dirty="0" err="1"/>
              <a:t>from</a:t>
            </a:r>
            <a:r>
              <a:rPr lang="nl-BE" sz="2900" dirty="0"/>
              <a:t> </a:t>
            </a:r>
            <a:r>
              <a:rPr lang="nl-BE" sz="2900" dirty="0" err="1"/>
              <a:t>organization</a:t>
            </a:r>
            <a:r>
              <a:rPr lang="nl-BE" sz="2900" dirty="0"/>
              <a:t> </a:t>
            </a:r>
            <a:r>
              <a:rPr lang="nl-BE" sz="2900" dirty="0" err="1"/>
              <a:t>perspective</a:t>
            </a:r>
            <a:r>
              <a:rPr lang="nl-BE" sz="2900" dirty="0"/>
              <a:t>:</a:t>
            </a:r>
          </a:p>
          <a:p>
            <a:pPr lvl="2"/>
            <a:r>
              <a:rPr lang="nl-BE" sz="2600" dirty="0"/>
              <a:t>focus on service provider and employees</a:t>
            </a:r>
          </a:p>
          <a:p>
            <a:pPr lvl="2"/>
            <a:r>
              <a:rPr lang="nl-BE" sz="2600" dirty="0" err="1"/>
              <a:t>leave</a:t>
            </a:r>
            <a:r>
              <a:rPr lang="nl-BE" sz="2600" dirty="0"/>
              <a:t> out most customer details</a:t>
            </a:r>
            <a:endParaRPr lang="en-US" sz="2600" dirty="0"/>
          </a:p>
          <a:p>
            <a:pPr lvl="1"/>
            <a:r>
              <a:rPr lang="en-US" sz="2900" dirty="0"/>
              <a:t>4 elements:</a:t>
            </a:r>
          </a:p>
          <a:p>
            <a:pPr lvl="2"/>
            <a:r>
              <a:rPr lang="en-US" sz="2600" dirty="0"/>
              <a:t>customer actions</a:t>
            </a:r>
          </a:p>
          <a:p>
            <a:pPr lvl="2"/>
            <a:r>
              <a:rPr lang="en-US" sz="2600" dirty="0"/>
              <a:t>frontstage actions</a:t>
            </a:r>
          </a:p>
          <a:p>
            <a:pPr lvl="2"/>
            <a:r>
              <a:rPr lang="en-US" sz="2600" dirty="0"/>
              <a:t>backstage actions</a:t>
            </a:r>
          </a:p>
          <a:p>
            <a:pPr lvl="2"/>
            <a:r>
              <a:rPr lang="nl-BE" sz="2600" dirty="0"/>
              <a:t>support and </a:t>
            </a:r>
            <a:r>
              <a:rPr lang="nl-BE" sz="2600" dirty="0" err="1"/>
              <a:t>processes</a:t>
            </a:r>
            <a:endParaRPr lang="nl-BE" sz="2600" dirty="0"/>
          </a:p>
          <a:p>
            <a:pPr lvl="2"/>
            <a:endParaRPr lang="nl-BE" sz="2600" dirty="0"/>
          </a:p>
          <a:p>
            <a:pPr lvl="1"/>
            <a:endParaRPr lang="en-US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34CCA8A2-A0AE-103A-7780-A1F0396B7963}"/>
              </a:ext>
            </a:extLst>
          </p:cNvPr>
          <p:cNvSpPr txBox="1"/>
          <p:nvPr/>
        </p:nvSpPr>
        <p:spPr>
          <a:xfrm>
            <a:off x="4932040" y="2924944"/>
            <a:ext cx="3960440" cy="145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50" indent="-323850">
              <a:lnSpc>
                <a:spcPct val="70000"/>
              </a:lnSpc>
              <a:spcBef>
                <a:spcPts val="400"/>
              </a:spcBef>
              <a:spcAft>
                <a:spcPts val="400"/>
              </a:spcAft>
              <a:buSzPct val="90000"/>
              <a:buFont typeface="Verdana" pitchFamily="34" charset="0"/>
              <a:buChar char="•"/>
            </a:pPr>
            <a:r>
              <a:rPr lang="nl-BE" dirty="0" err="1">
                <a:solidFill>
                  <a:srgbClr val="000000"/>
                </a:solidFill>
                <a:latin typeface="Trebuchet MS" pitchFamily="34" charset="0"/>
              </a:rPr>
              <a:t>When</a:t>
            </a:r>
            <a:r>
              <a:rPr lang="nl-BE" dirty="0">
                <a:solidFill>
                  <a:srgbClr val="000000"/>
                </a:solidFill>
                <a:latin typeface="Trebuchet MS" pitchFamily="34" charset="0"/>
              </a:rPr>
              <a:t>:</a:t>
            </a:r>
          </a:p>
          <a:p>
            <a:pPr marL="723900" lvl="1" indent="-368300">
              <a:lnSpc>
                <a:spcPct val="70000"/>
              </a:lnSpc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−"/>
            </a:pP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After</a:t>
            </a: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 customer </a:t>
            </a: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journey</a:t>
            </a: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mapping</a:t>
            </a:r>
            <a:endParaRPr lang="nl-BE" sz="1600" dirty="0">
              <a:solidFill>
                <a:srgbClr val="000000"/>
              </a:solidFill>
              <a:latin typeface="Trebuchet MS" pitchFamily="34" charset="0"/>
            </a:endParaRPr>
          </a:p>
          <a:p>
            <a:pPr marL="723900" lvl="1" indent="-368300">
              <a:lnSpc>
                <a:spcPct val="70000"/>
              </a:lnSpc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−"/>
            </a:pP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For </a:t>
            </a: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organizational</a:t>
            </a: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 changes or </a:t>
            </a: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process</a:t>
            </a: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 changes</a:t>
            </a:r>
          </a:p>
          <a:p>
            <a:pPr marL="723900" lvl="1" indent="-368300">
              <a:lnSpc>
                <a:spcPct val="70000"/>
              </a:lnSpc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−"/>
            </a:pP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Investigating</a:t>
            </a: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internal</a:t>
            </a:r>
            <a:r>
              <a:rPr lang="nl-BE" sz="16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latin typeface="Trebuchet MS" pitchFamily="34" charset="0"/>
              </a:rPr>
              <a:t>weaknesses</a:t>
            </a:r>
            <a:endParaRPr lang="nl-BE" sz="1600" dirty="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459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62500" lnSpcReduction="20000"/>
          </a:bodyPr>
          <a:lstStyle/>
          <a:p>
            <a:r>
              <a:rPr lang="en-US" noProof="0" dirty="0"/>
              <a:t>Determine task flows:</a:t>
            </a:r>
          </a:p>
          <a:p>
            <a:pPr lvl="1"/>
            <a:r>
              <a:rPr lang="en-US" dirty="0"/>
              <a:t>How is a task performed?</a:t>
            </a:r>
            <a:endParaRPr lang="en-US" noProof="0" dirty="0"/>
          </a:p>
          <a:p>
            <a:pPr lvl="1"/>
            <a:r>
              <a:rPr lang="en-US" dirty="0"/>
              <a:t>How do you translate this into the application?</a:t>
            </a:r>
            <a:endParaRPr lang="en-US" noProof="0" dirty="0"/>
          </a:p>
          <a:p>
            <a:pPr marL="355600" lvl="1" indent="0">
              <a:buNone/>
            </a:pPr>
            <a:endParaRPr lang="en-US" noProof="0" dirty="0"/>
          </a:p>
          <a:p>
            <a:r>
              <a:rPr lang="en-US" dirty="0"/>
              <a:t>Define overall site or app structure and navigation flow:</a:t>
            </a:r>
            <a:endParaRPr lang="en-US" noProof="0" dirty="0"/>
          </a:p>
          <a:p>
            <a:pPr lvl="1"/>
            <a:r>
              <a:rPr lang="en-US" dirty="0"/>
              <a:t>Which tasks/messages are important?</a:t>
            </a:r>
          </a:p>
          <a:p>
            <a:pPr lvl="1"/>
            <a:r>
              <a:rPr lang="en-US" dirty="0"/>
              <a:t>Is there an order in which the tasks should be performed</a:t>
            </a:r>
            <a:r>
              <a:rPr lang="en-US" noProof="0" dirty="0"/>
              <a:t>?</a:t>
            </a:r>
          </a:p>
          <a:p>
            <a:pPr lvl="1"/>
            <a:r>
              <a:rPr lang="en-US" dirty="0"/>
              <a:t>Is there a difference for different user profiles? </a:t>
            </a:r>
            <a:endParaRPr lang="en-US" noProof="0" dirty="0"/>
          </a:p>
          <a:p>
            <a:pPr lvl="1"/>
            <a:r>
              <a:rPr lang="en-US" dirty="0"/>
              <a:t>What should be on which level?</a:t>
            </a:r>
            <a:endParaRPr lang="en-US" noProof="0" dirty="0"/>
          </a:p>
          <a:p>
            <a:pPr marL="355600" lvl="1" indent="0">
              <a:buNone/>
            </a:pPr>
            <a:endParaRPr lang="en-US" noProof="0" dirty="0"/>
          </a:p>
          <a:p>
            <a:r>
              <a:rPr lang="en-US" noProof="0" dirty="0"/>
              <a:t>Test task and site/app flow:</a:t>
            </a:r>
          </a:p>
          <a:p>
            <a:pPr lvl="1"/>
            <a:r>
              <a:rPr lang="en-US" noProof="0" dirty="0"/>
              <a:t>logical?</a:t>
            </a:r>
          </a:p>
          <a:p>
            <a:pPr lvl="1"/>
            <a:r>
              <a:rPr lang="en-US" dirty="0"/>
              <a:t>Easy to understand/learn?</a:t>
            </a:r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/>
              <a:t>Tools: flow charts</a:t>
            </a:r>
            <a:r>
              <a:rPr lang="en-US" dirty="0"/>
              <a:t>, tree structure, </a:t>
            </a:r>
            <a:r>
              <a:rPr lang="en-US" noProof="0" dirty="0"/>
              <a:t>UX mapping</a:t>
            </a: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 and flow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971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Sitemap: structure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12" name="Tijdelijke aanduiding voor inhoud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10519"/>
            <a:ext cx="4744746" cy="2467268"/>
          </a:xfrm>
        </p:spPr>
      </p:pic>
      <p:pic>
        <p:nvPicPr>
          <p:cNvPr id="13" name="Afbeelding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56" y="3738841"/>
            <a:ext cx="6148345" cy="293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50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Flowchart: task or app/site flow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9" name="Tijdelijke aanduiding voor inhoud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3" y="1327767"/>
            <a:ext cx="5347211" cy="4616426"/>
          </a:xfr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270" y="1282791"/>
            <a:ext cx="6706672" cy="461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2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Visual design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9" name="Tijdelijke aanduiding voor inhoud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4" y="1556792"/>
            <a:ext cx="7119892" cy="3960440"/>
          </a:xfrm>
        </p:spPr>
      </p:pic>
    </p:spTree>
    <p:extLst>
      <p:ext uri="{BB962C8B-B14F-4D97-AF65-F5344CB8AC3E}">
        <p14:creationId xmlns:p14="http://schemas.microsoft.com/office/powerpoint/2010/main" val="1586142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4355976" cy="44280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noProof="0" dirty="0"/>
              <a:t>Sketch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noProof="0" dirty="0"/>
              <a:t>Test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noProof="0" dirty="0"/>
              <a:t>Wireframe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noProof="0" dirty="0"/>
              <a:t>Test</a:t>
            </a:r>
          </a:p>
          <a:p>
            <a:pPr marL="0" indent="0">
              <a:buNone/>
            </a:pPr>
            <a:endParaRPr lang="en-US" sz="3200" noProof="0" dirty="0"/>
          </a:p>
          <a:p>
            <a:pPr marL="0" indent="0">
              <a:buNone/>
            </a:pPr>
            <a:r>
              <a:rPr lang="en-US" sz="3200" noProof="0" dirty="0"/>
              <a:t>+ cheap</a:t>
            </a:r>
          </a:p>
          <a:p>
            <a:pPr marL="0" indent="0">
              <a:buNone/>
            </a:pPr>
            <a:r>
              <a:rPr lang="en-US" sz="3200" noProof="0" dirty="0"/>
              <a:t>+ fast</a:t>
            </a:r>
          </a:p>
          <a:p>
            <a:pPr marL="0" indent="0">
              <a:buNone/>
            </a:pPr>
            <a:r>
              <a:rPr lang="en-US" sz="3200" dirty="0"/>
              <a:t>+ easy to adjust</a:t>
            </a:r>
            <a:endParaRPr lang="en-US" sz="3200" noProof="0" dirty="0"/>
          </a:p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Initial concept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65"/>
          <a:stretch/>
        </p:blipFill>
        <p:spPr>
          <a:xfrm>
            <a:off x="4211960" y="1257647"/>
            <a:ext cx="4176464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7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/>
          </a:bodyPr>
          <a:lstStyle/>
          <a:p>
            <a:r>
              <a:rPr lang="en-US" dirty="0"/>
              <a:t>Iterative: draw, test, adapt</a:t>
            </a:r>
          </a:p>
          <a:p>
            <a:r>
              <a:rPr lang="en-US" dirty="0"/>
              <a:t>Ideation</a:t>
            </a:r>
            <a:r>
              <a:rPr lang="en-US" noProof="0" dirty="0"/>
              <a:t>:</a:t>
            </a:r>
          </a:p>
          <a:p>
            <a:pPr marL="355600" lvl="1" indent="0">
              <a:buNone/>
            </a:pPr>
            <a:r>
              <a:rPr lang="en-US" dirty="0"/>
              <a:t>Make several sketches with totally different concepts and combine the best elements</a:t>
            </a:r>
          </a:p>
          <a:p>
            <a:pPr marL="412750" indent="-457200"/>
            <a:r>
              <a:rPr lang="en-US" dirty="0"/>
              <a:t>How</a:t>
            </a:r>
            <a:r>
              <a:rPr lang="en-US" noProof="0" dirty="0"/>
              <a:t>?</a:t>
            </a:r>
          </a:p>
          <a:p>
            <a:pPr lvl="1"/>
            <a:r>
              <a:rPr lang="en-US" dirty="0"/>
              <a:t>Best in team by several people</a:t>
            </a:r>
          </a:p>
          <a:p>
            <a:pPr lvl="1"/>
            <a:r>
              <a:rPr lang="en-US" dirty="0"/>
              <a:t>Let everyone sketch</a:t>
            </a:r>
          </a:p>
          <a:p>
            <a:pPr lvl="1"/>
            <a:r>
              <a:rPr lang="en-US" dirty="0"/>
              <a:t>Discuss advantages and disadvantages of the different sketches</a:t>
            </a:r>
          </a:p>
          <a:p>
            <a:pPr lvl="1"/>
            <a:r>
              <a:rPr lang="en-US" dirty="0"/>
              <a:t>Consolidate into 1 sketch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sketch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93083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low fidelity wireframe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7" name="Tijdelijke aanduiding voor inhoud 6"/>
          <p:cNvSpPr>
            <a:spLocks noGrp="1"/>
          </p:cNvSpPr>
          <p:nvPr>
            <p:ph idx="1"/>
          </p:nvPr>
        </p:nvSpPr>
        <p:spPr>
          <a:xfrm>
            <a:off x="0" y="1152000"/>
            <a:ext cx="3635896" cy="4428000"/>
          </a:xfrm>
        </p:spPr>
        <p:txBody>
          <a:bodyPr>
            <a:normAutofit lnSpcReduction="10000"/>
          </a:bodyPr>
          <a:lstStyle/>
          <a:p>
            <a:r>
              <a:rPr lang="en-US" sz="2800" noProof="0" dirty="0"/>
              <a:t>black &amp; white</a:t>
            </a:r>
          </a:p>
          <a:p>
            <a:r>
              <a:rPr lang="en-US" sz="2800" dirty="0"/>
              <a:t>space and positioning</a:t>
            </a:r>
          </a:p>
          <a:p>
            <a:r>
              <a:rPr lang="en-US" sz="2800" dirty="0"/>
              <a:t>focus positioning content</a:t>
            </a:r>
          </a:p>
          <a:p>
            <a:r>
              <a:rPr lang="en-US" sz="2800" dirty="0"/>
              <a:t>no </a:t>
            </a:r>
            <a:r>
              <a:rPr lang="en-US" sz="2800" dirty="0" err="1"/>
              <a:t>colours</a:t>
            </a:r>
            <a:endParaRPr lang="en-US" sz="2800" dirty="0"/>
          </a:p>
          <a:p>
            <a:r>
              <a:rPr lang="en-US" sz="2800" dirty="0"/>
              <a:t>no formatting</a:t>
            </a:r>
          </a:p>
          <a:p>
            <a:r>
              <a:rPr lang="en-US" sz="2800" dirty="0"/>
              <a:t>lorem ipsum text</a:t>
            </a:r>
            <a:endParaRPr lang="en-US" sz="2800" noProof="0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283388"/>
            <a:ext cx="5859016" cy="429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22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2" b="7575"/>
          <a:stretch/>
        </p:blipFill>
        <p:spPr>
          <a:xfrm>
            <a:off x="686285" y="1196752"/>
            <a:ext cx="7771430" cy="4680520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Flow chart with wireframes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2503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High fidelity wireframe (optional)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7" name="Tijdelijke aanduiding voor inhoud 6"/>
          <p:cNvSpPr>
            <a:spLocks noGrp="1"/>
          </p:cNvSpPr>
          <p:nvPr>
            <p:ph idx="1"/>
          </p:nvPr>
        </p:nvSpPr>
        <p:spPr>
          <a:xfrm>
            <a:off x="0" y="1152000"/>
            <a:ext cx="4067944" cy="4797280"/>
          </a:xfrm>
        </p:spPr>
        <p:txBody>
          <a:bodyPr>
            <a:normAutofit/>
          </a:bodyPr>
          <a:lstStyle/>
          <a:p>
            <a:r>
              <a:rPr lang="en-US" sz="2800" dirty="0" err="1"/>
              <a:t>greyscaledimensions</a:t>
            </a:r>
            <a:r>
              <a:rPr lang="en-US" sz="2800" dirty="0"/>
              <a:t> figs</a:t>
            </a:r>
          </a:p>
          <a:p>
            <a:r>
              <a:rPr lang="en-US" sz="2800" dirty="0"/>
              <a:t>style buttons</a:t>
            </a:r>
          </a:p>
          <a:p>
            <a:r>
              <a:rPr lang="en-US" sz="2800" dirty="0"/>
              <a:t>fonts</a:t>
            </a:r>
          </a:p>
          <a:p>
            <a:r>
              <a:rPr lang="en-US" sz="2800" dirty="0"/>
              <a:t>more realistic content</a:t>
            </a:r>
            <a:endParaRPr lang="en-US" sz="2800" noProof="0" dirty="0"/>
          </a:p>
          <a:p>
            <a:pPr marL="0" indent="0">
              <a:buNone/>
            </a:pPr>
            <a:r>
              <a:rPr lang="en-US" sz="2800" dirty="0"/>
              <a:t> harder to adapt  </a:t>
            </a:r>
            <a:br>
              <a:rPr lang="en-US" sz="2800" dirty="0"/>
            </a:br>
            <a:r>
              <a:rPr lang="en-US" sz="2800" dirty="0"/>
              <a:t> than </a:t>
            </a:r>
            <a:r>
              <a:rPr lang="en-US" sz="2800" dirty="0" err="1"/>
              <a:t>LoFi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 wireframes</a:t>
            </a:r>
            <a:endParaRPr lang="en-US" sz="2800" noProof="0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52"/>
          <a:stretch/>
        </p:blipFill>
        <p:spPr>
          <a:xfrm>
            <a:off x="4067944" y="1277704"/>
            <a:ext cx="4853340" cy="4585692"/>
          </a:xfrm>
          <a:prstGeom prst="rect">
            <a:avLst/>
          </a:prstGeom>
        </p:spPr>
      </p:pic>
      <p:sp>
        <p:nvSpPr>
          <p:cNvPr id="10" name="Bliksemflits 9"/>
          <p:cNvSpPr/>
          <p:nvPr/>
        </p:nvSpPr>
        <p:spPr>
          <a:xfrm>
            <a:off x="122271" y="4509120"/>
            <a:ext cx="252496" cy="360040"/>
          </a:xfrm>
          <a:prstGeom prst="lightningBolt">
            <a:avLst/>
          </a:prstGeom>
          <a:solidFill>
            <a:srgbClr val="EC4B2F"/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434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Tools:</a:t>
            </a:r>
          </a:p>
          <a:p>
            <a:pPr lvl="1"/>
            <a:r>
              <a:rPr lang="en-US" noProof="0" dirty="0"/>
              <a:t>Sketch</a:t>
            </a:r>
          </a:p>
          <a:p>
            <a:pPr lvl="1"/>
            <a:r>
              <a:rPr lang="en-US" noProof="0" dirty="0"/>
              <a:t>Adobe XD</a:t>
            </a:r>
          </a:p>
          <a:p>
            <a:pPr lvl="1"/>
            <a:r>
              <a:rPr lang="en-US" noProof="0" dirty="0"/>
              <a:t>Adobe Photoshop</a:t>
            </a:r>
          </a:p>
          <a:p>
            <a:pPr lvl="1"/>
            <a:r>
              <a:rPr lang="en-US" noProof="0" dirty="0" err="1"/>
              <a:t>Axure</a:t>
            </a:r>
            <a:endParaRPr lang="en-US" noProof="0" dirty="0"/>
          </a:p>
          <a:p>
            <a:pPr lvl="1"/>
            <a:r>
              <a:rPr lang="en-US" noProof="0" dirty="0" err="1"/>
              <a:t>Balsamiq</a:t>
            </a:r>
            <a:endParaRPr lang="en-US" noProof="0" dirty="0"/>
          </a:p>
          <a:p>
            <a:pPr lvl="1"/>
            <a:r>
              <a:rPr lang="en-US" noProof="0" dirty="0"/>
              <a:t>…</a:t>
            </a:r>
          </a:p>
          <a:p>
            <a:r>
              <a:rPr lang="en-US" noProof="0" dirty="0"/>
              <a:t>This course: </a:t>
            </a:r>
            <a:r>
              <a:rPr lang="en-US" noProof="0" dirty="0" err="1"/>
              <a:t>Axure</a:t>
            </a:r>
            <a:r>
              <a:rPr lang="en-US" noProof="0" dirty="0"/>
              <a:t> students </a:t>
            </a:r>
            <a:r>
              <a:rPr lang="en-US" noProof="0" dirty="0" err="1"/>
              <a:t>licence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wireframes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87380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Installation </a:t>
            </a:r>
            <a:r>
              <a:rPr lang="en-US" noProof="0" dirty="0" err="1"/>
              <a:t>Axure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107504" y="1268760"/>
            <a:ext cx="3486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/>
              <a:t>https://www.axure.com/buy</a:t>
            </a:r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71212"/>
            <a:ext cx="8780392" cy="41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68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mockup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graphic design</a:t>
            </a:r>
          </a:p>
          <a:p>
            <a:r>
              <a:rPr lang="en-US" sz="3200" dirty="0"/>
              <a:t>static presentation</a:t>
            </a:r>
          </a:p>
          <a:p>
            <a:r>
              <a:rPr lang="en-US" sz="3200" dirty="0"/>
              <a:t>determination of style guidelines</a:t>
            </a:r>
            <a:endParaRPr lang="nl-BE" sz="3200" dirty="0"/>
          </a:p>
          <a:p>
            <a:r>
              <a:rPr lang="nl-BE" sz="3200" dirty="0"/>
              <a:t>Tools:</a:t>
            </a:r>
          </a:p>
          <a:p>
            <a:pPr lvl="1"/>
            <a:r>
              <a:rPr lang="nl-BE" sz="2700" dirty="0"/>
              <a:t>See </a:t>
            </a:r>
            <a:r>
              <a:rPr lang="nl-BE" sz="2700" dirty="0" err="1"/>
              <a:t>wireframes</a:t>
            </a:r>
            <a:endParaRPr lang="nl-BE" sz="2700" dirty="0"/>
          </a:p>
          <a:p>
            <a:pPr lvl="1"/>
            <a:r>
              <a:rPr lang="nl-BE" sz="2700" dirty="0">
                <a:hlinkClick r:id="rId2"/>
              </a:rPr>
              <a:t>Pa11y </a:t>
            </a:r>
            <a:r>
              <a:rPr lang="nl-BE" sz="2700" dirty="0"/>
              <a:t>for </a:t>
            </a:r>
            <a:r>
              <a:rPr lang="nl-BE" sz="2700" dirty="0" err="1"/>
              <a:t>accessibility</a:t>
            </a:r>
            <a:r>
              <a:rPr lang="nl-BE" sz="2700" dirty="0"/>
              <a:t> checks</a:t>
            </a:r>
          </a:p>
          <a:p>
            <a:pPr lvl="1"/>
            <a:endParaRPr lang="nl-BE" sz="2700" dirty="0"/>
          </a:p>
        </p:txBody>
      </p:sp>
      <p:pic>
        <p:nvPicPr>
          <p:cNvPr id="9" name="Tijdelijke aanduiding voor inhoud 8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93"/>
          <a:stretch/>
        </p:blipFill>
        <p:spPr>
          <a:xfrm>
            <a:off x="6808190" y="1385780"/>
            <a:ext cx="2335810" cy="3960440"/>
          </a:xfrm>
        </p:spPr>
      </p:pic>
    </p:spTree>
    <p:extLst>
      <p:ext uri="{BB962C8B-B14F-4D97-AF65-F5344CB8AC3E}">
        <p14:creationId xmlns:p14="http://schemas.microsoft.com/office/powerpoint/2010/main" val="1931284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interactivity to test out task flow, site/app flow</a:t>
            </a:r>
          </a:p>
          <a:p>
            <a:r>
              <a:rPr lang="en-US" dirty="0"/>
              <a:t>Can be done with wireframes or mockups</a:t>
            </a:r>
            <a:endParaRPr lang="en-US" noProof="0" dirty="0"/>
          </a:p>
          <a:p>
            <a:endParaRPr lang="en-US" noProof="0"/>
          </a:p>
          <a:p>
            <a:r>
              <a:rPr lang="en-US" noProof="0"/>
              <a:t>Tools</a:t>
            </a:r>
            <a:r>
              <a:rPr lang="en-US" noProof="0" dirty="0"/>
              <a:t>:</a:t>
            </a:r>
          </a:p>
          <a:p>
            <a:pPr lvl="1"/>
            <a:r>
              <a:rPr lang="en-US" noProof="0" dirty="0"/>
              <a:t>Sketch</a:t>
            </a:r>
          </a:p>
          <a:p>
            <a:pPr lvl="1"/>
            <a:r>
              <a:rPr lang="en-US" noProof="0" dirty="0"/>
              <a:t>Azure</a:t>
            </a:r>
          </a:p>
          <a:p>
            <a:pPr lvl="1"/>
            <a:r>
              <a:rPr lang="en-US" noProof="0" dirty="0"/>
              <a:t>Adobe XD</a:t>
            </a:r>
          </a:p>
          <a:p>
            <a:pPr lvl="1"/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6408668"/>
      </p:ext>
    </p:extLst>
  </p:cSld>
  <p:clrMapOvr>
    <a:masterClrMapping/>
  </p:clrMapOvr>
</p:sld>
</file>

<file path=ppt/theme/theme1.xml><?xml version="1.0" encoding="utf-8"?>
<a:theme xmlns:a="http://schemas.openxmlformats.org/drawingml/2006/main" name="TM_presentatie_eng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_presentatie" id="{D2EAC29B-01B7-40FD-8A4F-4E7A64B06768}" vid="{EECA68F5-A7C3-4820-B6D5-696F87D1BD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C_aanvullingen</Template>
  <TotalTime>18339</TotalTime>
  <Words>776</Words>
  <Application>Microsoft Office PowerPoint</Application>
  <PresentationFormat>Diavoorstelling (4:3)</PresentationFormat>
  <Paragraphs>223</Paragraphs>
  <Slides>26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26</vt:i4>
      </vt:variant>
    </vt:vector>
  </HeadingPairs>
  <TitlesOfParts>
    <vt:vector size="31" baseType="lpstr">
      <vt:lpstr>Arial</vt:lpstr>
      <vt:lpstr>Calibri</vt:lpstr>
      <vt:lpstr>Trebuchet MS</vt:lpstr>
      <vt:lpstr>Verdana</vt:lpstr>
      <vt:lpstr>TM_presentatie_eng</vt:lpstr>
      <vt:lpstr>Project flow</vt:lpstr>
      <vt:lpstr>Elements of user experience</vt:lpstr>
      <vt:lpstr>User needs &amp; specs/requirements</vt:lpstr>
      <vt:lpstr>The big picture</vt:lpstr>
      <vt:lpstr>Ux mapping</vt:lpstr>
      <vt:lpstr>Ux mapping</vt:lpstr>
      <vt:lpstr>Empathy mapping</vt:lpstr>
      <vt:lpstr>Customer journey mapping</vt:lpstr>
      <vt:lpstr>Experience mapping</vt:lpstr>
      <vt:lpstr>Experience mapping</vt:lpstr>
      <vt:lpstr>Experience mapping</vt:lpstr>
      <vt:lpstr>service Blueprinting</vt:lpstr>
      <vt:lpstr>service Blueprinting</vt:lpstr>
      <vt:lpstr>Structure and flow</vt:lpstr>
      <vt:lpstr>Sitemap: structure</vt:lpstr>
      <vt:lpstr>Flowchart: task or app/site flow</vt:lpstr>
      <vt:lpstr>Visual design</vt:lpstr>
      <vt:lpstr>Initial concept</vt:lpstr>
      <vt:lpstr>sketch</vt:lpstr>
      <vt:lpstr>low fidelity wireframe</vt:lpstr>
      <vt:lpstr>Flow chart with wireframes</vt:lpstr>
      <vt:lpstr>High fidelity wireframe (optional)</vt:lpstr>
      <vt:lpstr>wireframes</vt:lpstr>
      <vt:lpstr>Installation Axure</vt:lpstr>
      <vt:lpstr>mockup</vt:lpstr>
      <vt:lpstr>prototype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Aanvullingen basis C</dc:title>
  <dc:creator>Sofie Beerens</dc:creator>
  <cp:lastModifiedBy>Sofie Beerens</cp:lastModifiedBy>
  <cp:revision>475</cp:revision>
  <dcterms:created xsi:type="dcterms:W3CDTF">2014-10-29T14:20:18Z</dcterms:created>
  <dcterms:modified xsi:type="dcterms:W3CDTF">2026-03-12T13:07:13Z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2023-03-07T13:57:40Z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a75a2fa3-9a13-412c-8957-253fb54df5a6</vt:lpwstr>
  </property>
  <property fmtid="{D5CDD505-2E9C-101B-9397-08002B2CF9AE}" pid="8" name="MSIP_Label_c337be75-dfbb-4261-9834-ac247c7dde13_ContentBits">
    <vt:lpwstr>0</vt:lpwstr>
  </property>
</Properties>
</file>